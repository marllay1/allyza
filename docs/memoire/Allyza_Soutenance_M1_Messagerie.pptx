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B1F52"/>
                </a:solidFill>
                <a:latin typeface="Calibri"/>
              </a:rPr>
              <a:t>Textes : temps de calcul (ms, médiane)</a:t>
            </a:r>
          </a:p>
        </c:rich>
      </c:tx>
      <c:layout/>
      <c:overlay val="0"/>
    </c:title>
    <c:autoTitleDeleted val="0"/>
    <c:plotArea>
      <c:barChart>
        <c:barDir val="col"/>
        <c:grouping val="clustered"/>
        <c:ser>
          <c:idx val="0"/>
          <c:order val="0"/>
          <c:tx>
            <c:strRef>
              <c:f>Sheet1!$B$1</c:f>
              <c:strCache>
                <c:ptCount val="1"/>
                <c:pt idx="0">
                  <c:v>Chiffrement</c:v>
                </c:pt>
              </c:strCache>
            </c:strRef>
          </c:tx>
          <c:spPr>
            <a:solidFill>
              <a:srgbClr val="3B1F52"/>
            </a:solidFill>
          </c:spPr>
          <c:cat>
            <c:strRef>
              <c:f>Sheet1!$A$2:$A$5</c:f>
              <c:strCache>
                <c:ptCount val="4"/>
                <c:pt idx="0">
                  <c:v>20 car.</c:v>
                </c:pt>
                <c:pt idx="1">
                  <c:v>200 car.</c:v>
                </c:pt>
                <c:pt idx="2">
                  <c:v>1 000 car.</c:v>
                </c:pt>
                <c:pt idx="3">
                  <c:v>4 000 car.</c:v>
                </c:pt>
              </c:strCache>
            </c:strRef>
          </c:cat>
          <c:val>
            <c:numRef>
              <c:f>Sheet1!$B$2:$B$5</c:f>
              <c:numCache>
                <c:formatCode>General</c:formatCode>
                <c:ptCount val="4"/>
                <c:pt idx="0">
                  <c:v>0.23</c:v>
                </c:pt>
                <c:pt idx="1">
                  <c:v>0.26</c:v>
                </c:pt>
                <c:pt idx="2">
                  <c:v>0.5</c:v>
                </c:pt>
                <c:pt idx="3">
                  <c:v>1.13</c:v>
                </c:pt>
              </c:numCache>
            </c:numRef>
          </c:val>
        </c:ser>
        <c:ser>
          <c:idx val="1"/>
          <c:order val="1"/>
          <c:tx>
            <c:strRef>
              <c:f>Sheet1!$C$1</c:f>
              <c:strCache>
                <c:ptCount val="1"/>
                <c:pt idx="0">
                  <c:v>Déchiffrement</c:v>
                </c:pt>
              </c:strCache>
            </c:strRef>
          </c:tx>
          <c:spPr>
            <a:solidFill>
              <a:srgbClr val="F4C4B2"/>
            </a:solidFill>
          </c:spPr>
          <c:cat>
            <c:strRef>
              <c:f>Sheet1!$A$2:$A$5</c:f>
              <c:strCache>
                <c:ptCount val="4"/>
                <c:pt idx="0">
                  <c:v>20 car.</c:v>
                </c:pt>
                <c:pt idx="1">
                  <c:v>200 car.</c:v>
                </c:pt>
                <c:pt idx="2">
                  <c:v>1 000 car.</c:v>
                </c:pt>
                <c:pt idx="3">
                  <c:v>4 000 car.</c:v>
                </c:pt>
              </c:strCache>
            </c:strRef>
          </c:cat>
          <c:val>
            <c:numRef>
              <c:f>Sheet1!$C$2:$C$5</c:f>
              <c:numCache>
                <c:formatCode>General</c:formatCode>
                <c:ptCount val="4"/>
                <c:pt idx="0">
                  <c:v>0.2</c:v>
                </c:pt>
                <c:pt idx="1">
                  <c:v>0.21</c:v>
                </c:pt>
                <c:pt idx="2">
                  <c:v>0.27</c:v>
                </c:pt>
                <c:pt idx="3">
                  <c:v>0.34</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9AEC6"/>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3DCEB"/>
              </a:solidFill>
            </a:ln>
          </c:spPr>
        </c:majorGridlines>
        <c:majorTickMark val="out"/>
        <c:minorTickMark val="none"/>
        <c:tickLblPos val="nextTo"/>
        <c:txPr>
          <a:bodyPr/>
          <a:lstStyle/>
          <a:p>
            <a:pPr>
              <a:defRPr sz="1200"/>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B1F52"/>
                </a:solidFill>
                <a:latin typeface="Calibri"/>
              </a:rPr>
              <a:t>Fichiers : temps de calcul (ms, médiane)</a:t>
            </a:r>
          </a:p>
        </c:rich>
      </c:tx>
      <c:layout/>
      <c:overlay val="0"/>
    </c:title>
    <c:autoTitleDeleted val="0"/>
    <c:plotArea>
      <c:barChart>
        <c:barDir val="col"/>
        <c:grouping val="clustered"/>
        <c:ser>
          <c:idx val="0"/>
          <c:order val="0"/>
          <c:tx>
            <c:strRef>
              <c:f>Sheet1!$B$1</c:f>
              <c:strCache>
                <c:ptCount val="1"/>
                <c:pt idx="0">
                  <c:v>Chiffrement</c:v>
                </c:pt>
              </c:strCache>
            </c:strRef>
          </c:tx>
          <c:spPr>
            <a:solidFill>
              <a:srgbClr val="3B1F52"/>
            </a:solidFill>
          </c:spPr>
          <c:cat>
            <c:strRef>
              <c:f>Sheet1!$A$2:$A$4</c:f>
              <c:strCache>
                <c:ptCount val="3"/>
                <c:pt idx="0">
                  <c:v>50 ko</c:v>
                </c:pt>
                <c:pt idx="1">
                  <c:v>300 ko</c:v>
                </c:pt>
                <c:pt idx="2">
                  <c:v>3 Mo</c:v>
                </c:pt>
              </c:strCache>
            </c:strRef>
          </c:cat>
          <c:val>
            <c:numRef>
              <c:f>Sheet1!$B$2:$B$4</c:f>
              <c:numCache>
                <c:formatCode>General</c:formatCode>
                <c:ptCount val="3"/>
                <c:pt idx="0">
                  <c:v>0.61</c:v>
                </c:pt>
                <c:pt idx="1">
                  <c:v>2.08</c:v>
                </c:pt>
                <c:pt idx="2">
                  <c:v>19.1</c:v>
                </c:pt>
              </c:numCache>
            </c:numRef>
          </c:val>
        </c:ser>
        <c:ser>
          <c:idx val="1"/>
          <c:order val="1"/>
          <c:tx>
            <c:strRef>
              <c:f>Sheet1!$C$1</c:f>
              <c:strCache>
                <c:ptCount val="1"/>
                <c:pt idx="0">
                  <c:v>Déchiffrement</c:v>
                </c:pt>
              </c:strCache>
            </c:strRef>
          </c:tx>
          <c:spPr>
            <a:solidFill>
              <a:srgbClr val="F4C4B2"/>
            </a:solidFill>
          </c:spPr>
          <c:cat>
            <c:strRef>
              <c:f>Sheet1!$A$2:$A$4</c:f>
              <c:strCache>
                <c:ptCount val="3"/>
                <c:pt idx="0">
                  <c:v>50 ko</c:v>
                </c:pt>
                <c:pt idx="1">
                  <c:v>300 ko</c:v>
                </c:pt>
                <c:pt idx="2">
                  <c:v>3 Mo</c:v>
                </c:pt>
              </c:strCache>
            </c:strRef>
          </c:cat>
          <c:val>
            <c:numRef>
              <c:f>Sheet1!$C$2:$C$4</c:f>
              <c:numCache>
                <c:formatCode>General</c:formatCode>
                <c:ptCount val="3"/>
                <c:pt idx="0">
                  <c:v>0.57</c:v>
                </c:pt>
                <c:pt idx="1">
                  <c:v>1.7</c:v>
                </c:pt>
                <c:pt idx="2">
                  <c:v>18.5</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9AEC6"/>
            </a:solidFill>
          </a:ln>
        </c:spPr>
        <c:txPr>
          <a:bodyPr/>
          <a:lstStyle/>
          <a:p>
            <a:pPr>
              <a:defRPr sz="1200"/>
            </a:pPr>
          </a:p>
        </c:txPr>
        <c:crossAx val="-2113994440"/>
        <c:crosses val="autoZero"/>
        <c:auto val="1"/>
        <c:lblAlgn val="ctr"/>
        <c:lblOffset val="100"/>
        <c:noMultiLvlLbl val="0"/>
      </c:catAx>
      <c:valAx>
        <c:axId val="-2113994440"/>
        <c:scaling/>
        <c:delete val="0"/>
        <c:axPos val="l"/>
        <c:majorGridlines>
          <c:spPr>
            <a:ln>
              <a:solidFill>
                <a:srgbClr val="E3DCEB"/>
              </a:solidFill>
            </a:ln>
          </c:spPr>
        </c:majorGridlines>
        <c:majorTickMark val="out"/>
        <c:minorTickMark val="none"/>
        <c:tickLblPos val="nextTo"/>
        <c:txPr>
          <a:bodyPr/>
          <a:lstStyle/>
          <a:p>
            <a:pPr>
              <a:defRPr sz="1200"/>
            </a:pPr>
          </a:p>
        </c:txPr>
        <c:crossAx val="-2068027336"/>
        <c:crosses val="autoZero"/>
      </c:valAx>
    </c:plotArea>
    <c:legend>
      <c:legendPos val="b"/>
      <c:overlay val="0"/>
      <c:txPr>
        <a:bodyPr/>
        <a:lstStyle/>
        <a:p>
          <a:pPr>
            <a:defRPr sz="12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Titre. Le sujet scientifique est l'architecture de communication temps réel ; Allyza est le prototype expérimental. Voir introduction générale du mémoire.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Contexte et justification — introduction générale, 1; chapitre 1, sections 1.1 à 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Problématique centrale. Elle reste le fil conducteur ; la conclusion y répond sans dépasser les preuves.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Objectifs — introduction générale,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d'Allyza — chapitre 2, 2.1 et 2.2. Les captures d'écran sont à insérer par l'auteur : aucune capture exportée n'était disponible dans le dépôt.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Délimitation — introduction générale, 6. Les fonctionnalités de classe D (documents, livraison, CallKit) ne sont pas présentées comme implémentées.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Besoins — chapitre 2, 2.5 et 2.6 (références BF1 à BF12, BN1 à BN8).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État de l'art et choix — chapitre 1, 1.5 ; chapitre 3, 3.15.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générale — chapitre 3, 3.2. Cloudflare n'intervient que pour le relais TURN (3.5.1) : ce n'est pas une architecture cloud-native complète.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3.3 à 3.6. Les diagrammes de séquence figurent dans le mémoire (envoi, réception, média, appel, appel entrant).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3.4 et 3.5 ; diagramme de séquence détaillé dans le mémoire (figure de la section 3.5) ; problème P5 (latence : optimisations livrées, effet non mesuré).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3.10 ; chapitre 4, 4.12. A = implémenté et vérifié dans le code ; B = dans le code, non validé de bout en bout.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3.9 et 3.11 ; chapitre 5, 5.6. Implémenté (classe A pour le code) ≠ démontré par l'expérience.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3.8 ; problème P4. Le comportement hors écran est traité comme un problème de gestion d'état, pas d'interface.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4. Insérer des captures réelles de l'application (écran Messagerie, vocal, appels audio/vidéo, palette).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4, 4.14 (P1 à P13, format symptôme/cause/diagnostic/correction/impact/limites/validation). Aucun problème n'est déclaré résolu sans preuve.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5, 5.1 à 5.4 : méthode But–Question–Métrique, au moins 30 répétitions par condition, médiane et p95. La limitation réseau des outils de développement du navigateur n'affecte pas le trafic WebRTC en UDP.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5, 5.7. Mesures de calcul sur un poste de bureau (Node.js v26.1.0, Windows x64, WebCrypto) : ce ne sont pas des temps de bout en bout ni des mesures sur téléphone. Aucune mesure de latence, perte ou reprise réseau n'existe à ce jour.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5, 5.8 : analyses 1 à 4 et constat d'absence de preuve.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6, 6.3 : tableau d'analyse des compromis avec l'état de la preuve de chaque mécanisme.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6, 6.5.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3, 3.12, et chapitre 6, 6.6. Tout ce qui figure ici est une perspective : ne pas présenter CallKit ou PushKit comme faisant partie de l'implémentation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6, 6.6 et 6.7.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Chapitre 6, 6.4.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générale : répond à la problématique sans aller au-delà des preuves.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23F"/>
        </a:solidFill>
        <a:effectLst/>
      </p:bgPr>
    </p:bg>
    <p:spTree>
      <p:nvGrpSpPr>
        <p:cNvPr id="1" name=""/>
        <p:cNvGrpSpPr/>
        <p:nvPr/>
      </p:nvGrpSpPr>
      <p:grpSpPr/>
      <p:sp>
        <p:nvSpPr>
          <p:cNvPr id="2" name="texte"/>
          <p:cNvSpPr txBox="1"/>
          <p:nvPr/>
        </p:nvSpPr>
        <p:spPr>
          <a:xfrm>
            <a:off x="548640" y="640080"/>
            <a:ext cx="7680960" cy="365760"/>
          </a:xfrm>
          <a:prstGeom prst="rect">
            <a:avLst/>
          </a:prstGeom>
          <a:noFill/>
        </p:spPr>
        <p:txBody>
          <a:bodyPr wrap="square" anchor="t">
            <a:spAutoFit/>
          </a:bodyPr>
          <a:lstStyle/>
          <a:p>
            <a:pPr algn="l">
              <a:spcAft>
                <a:spcPts val="400"/>
              </a:spcAft>
            </a:pPr>
            <a:r>
              <a:rPr sz="1400" b="1" i="0">
                <a:solidFill>
                  <a:srgbClr val="F4C4B2"/>
                </a:solidFill>
                <a:latin typeface="Calibri"/>
              </a:rPr>
              <a:t>MASTER 1 · SYSTÈMES, RÉSEAUX, TÉLÉCOMMUNICATIONS ET CYBERSÉCURITÉ</a:t>
            </a:r>
          </a:p>
        </p:txBody>
      </p:sp>
      <p:sp>
        <p:nvSpPr>
          <p:cNvPr id="3" name="titre"/>
          <p:cNvSpPr txBox="1"/>
          <p:nvPr/>
        </p:nvSpPr>
        <p:spPr>
          <a:xfrm>
            <a:off x="548640" y="1143000"/>
            <a:ext cx="8046720" cy="2834640"/>
          </a:xfrm>
          <a:prstGeom prst="rect">
            <a:avLst/>
          </a:prstGeom>
          <a:noFill/>
        </p:spPr>
        <p:txBody>
          <a:bodyPr wrap="square" anchor="t">
            <a:spAutoFit/>
          </a:bodyPr>
          <a:lstStyle/>
          <a:p>
            <a:pPr algn="l">
              <a:spcAft>
                <a:spcPts val="400"/>
              </a:spcAft>
            </a:pPr>
            <a:r>
              <a:rPr sz="3200" b="1" i="0">
                <a:solidFill>
                  <a:srgbClr val="FFFFFF"/>
                </a:solidFill>
                <a:latin typeface="Cambria"/>
              </a:rPr>
              <a:t>Conception d’une architecture de communication temps réel sécurisée et résiliente pour les applications multimédias distribuées</a:t>
            </a:r>
          </a:p>
        </p:txBody>
      </p:sp>
      <p:sp>
        <p:nvSpPr>
          <p:cNvPr id="4" name="texte"/>
          <p:cNvSpPr txBox="1"/>
          <p:nvPr/>
        </p:nvSpPr>
        <p:spPr>
          <a:xfrm>
            <a:off x="548640" y="4206240"/>
            <a:ext cx="7863840" cy="548640"/>
          </a:xfrm>
          <a:prstGeom prst="rect">
            <a:avLst/>
          </a:prstGeom>
          <a:noFill/>
        </p:spPr>
        <p:txBody>
          <a:bodyPr wrap="square" anchor="t">
            <a:spAutoFit/>
          </a:bodyPr>
          <a:lstStyle/>
          <a:p>
            <a:pPr algn="l">
              <a:spcAft>
                <a:spcPts val="400"/>
              </a:spcAft>
            </a:pPr>
            <a:r>
              <a:rPr sz="2000" b="0" i="0">
                <a:solidFill>
                  <a:srgbClr val="E9E1F0"/>
                </a:solidFill>
                <a:latin typeface="Calibri"/>
              </a:rPr>
              <a:t>Cas d’étude : le module Messagerie du prototype expérimental Allyza</a:t>
            </a:r>
          </a:p>
        </p:txBody>
      </p:sp>
      <p:sp>
        <p:nvSpPr>
          <p:cNvPr id="5" name="texte"/>
          <p:cNvSpPr txBox="1"/>
          <p:nvPr/>
        </p:nvSpPr>
        <p:spPr>
          <a:xfrm>
            <a:off x="548640" y="5029200"/>
            <a:ext cx="7863840" cy="1188720"/>
          </a:xfrm>
          <a:prstGeom prst="rect">
            <a:avLst/>
          </a:prstGeom>
          <a:noFill/>
        </p:spPr>
        <p:txBody>
          <a:bodyPr wrap="square" anchor="t">
            <a:spAutoFit/>
          </a:bodyPr>
          <a:lstStyle/>
          <a:p>
            <a:pPr algn="l">
              <a:spcAft>
                <a:spcPts val="300"/>
              </a:spcAft>
            </a:pPr>
            <a:r>
              <a:rPr sz="1600" b="0" i="0">
                <a:solidFill>
                  <a:srgbClr val="CFC4DB"/>
                </a:solidFill>
                <a:latin typeface="Calibri"/>
              </a:rPr>
              <a:t>Présenté par : [Nom et prénom — à compléter]</a:t>
            </a:r>
          </a:p>
          <a:p>
            <a:pPr algn="l">
              <a:spcAft>
                <a:spcPts val="300"/>
              </a:spcAft>
            </a:pPr>
            <a:r>
              <a:rPr sz="1600" b="0" i="0">
                <a:solidFill>
                  <a:srgbClr val="CFC4DB"/>
                </a:solidFill>
                <a:latin typeface="Calibri"/>
              </a:rPr>
              <a:t>Encadreur(s) : [à compléter]</a:t>
            </a:r>
          </a:p>
          <a:p>
            <a:pPr algn="l">
              <a:spcAft>
                <a:spcPts val="300"/>
              </a:spcAft>
            </a:pPr>
            <a:r>
              <a:rPr sz="1600" b="0" i="0">
                <a:solidFill>
                  <a:srgbClr val="CFC4DB"/>
                </a:solidFill>
                <a:latin typeface="Calibri"/>
              </a:rPr>
              <a:t>[Établissement — à compléter] · Année académique [à compléter]</a:t>
            </a:r>
          </a:p>
        </p:txBody>
      </p:sp>
      <p:pic>
        <p:nvPicPr>
          <p:cNvPr id="6" name="logo Allyza" descr="lockup-dark-560.png"/>
          <p:cNvPicPr>
            <a:picLocks noChangeAspect="1"/>
          </p:cNvPicPr>
          <p:nvPr/>
        </p:nvPicPr>
        <p:blipFill>
          <a:blip r:embed="rId2"/>
          <a:stretch>
            <a:fillRect/>
          </a:stretch>
        </p:blipFill>
        <p:spPr>
          <a:xfrm>
            <a:off x="8595360" y="1554480"/>
            <a:ext cx="2935877" cy="28346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Des communications multimédias sur des réseaux peu fiables</a:t>
            </a:r>
          </a:p>
        </p:txBody>
      </p:sp>
      <p:sp>
        <p:nvSpPr>
          <p:cNvPr id="3" name="carte Utilisateurs"/>
          <p:cNvSpPr/>
          <p:nvPr/>
        </p:nvSpPr>
        <p:spPr>
          <a:xfrm>
            <a:off x="822960" y="1463040"/>
            <a:ext cx="3017520" cy="15544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960120" y="1554480"/>
            <a:ext cx="2743200" cy="548640"/>
          </a:xfrm>
          <a:prstGeom prst="rect">
            <a:avLst/>
          </a:prstGeom>
          <a:noFill/>
        </p:spPr>
        <p:txBody>
          <a:bodyPr wrap="square" anchor="t">
            <a:spAutoFit/>
          </a:bodyPr>
          <a:lstStyle/>
          <a:p>
            <a:pPr algn="l">
              <a:spcAft>
                <a:spcPts val="400"/>
              </a:spcAft>
            </a:pPr>
            <a:r>
              <a:rPr sz="2000" b="1" i="0">
                <a:solidFill>
                  <a:srgbClr val="3B1F52"/>
                </a:solidFill>
                <a:latin typeface="Calibri"/>
              </a:rPr>
              <a:t>Utilisateurs</a:t>
            </a:r>
          </a:p>
        </p:txBody>
      </p:sp>
      <p:sp>
        <p:nvSpPr>
          <p:cNvPr id="5" name="carte-texte"/>
          <p:cNvSpPr txBox="1"/>
          <p:nvPr/>
        </p:nvSpPr>
        <p:spPr>
          <a:xfrm>
            <a:off x="960120" y="2121408"/>
            <a:ext cx="2743200" cy="804672"/>
          </a:xfrm>
          <a:prstGeom prst="rect">
            <a:avLst/>
          </a:prstGeom>
          <a:noFill/>
        </p:spPr>
        <p:txBody>
          <a:bodyPr wrap="square" anchor="t">
            <a:spAutoFit/>
          </a:bodyPr>
          <a:lstStyle/>
          <a:p>
            <a:pPr algn="l">
              <a:spcAft>
                <a:spcPts val="300"/>
              </a:spcAft>
            </a:pPr>
            <a:r>
              <a:rPr sz="1700" b="0" i="0">
                <a:solidFill>
                  <a:srgbClr val="1E1A24"/>
                </a:solidFill>
                <a:latin typeface="Calibri"/>
              </a:rPr>
              <a:t>Téléphones, navigateurs, PWA</a:t>
            </a:r>
          </a:p>
        </p:txBody>
      </p:sp>
      <p:cxnSp>
        <p:nvCxnSpPr>
          <p:cNvPr id="6" name="Connector 5"/>
          <p:cNvCxnSpPr/>
          <p:nvPr/>
        </p:nvCxnSpPr>
        <p:spPr>
          <a:xfrm>
            <a:off x="3840480" y="2240280"/>
            <a:ext cx="73152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7" name="carte Réseaux hétérogènes"/>
          <p:cNvSpPr/>
          <p:nvPr/>
        </p:nvSpPr>
        <p:spPr>
          <a:xfrm>
            <a:off x="4572000" y="1463040"/>
            <a:ext cx="3017520" cy="1554480"/>
          </a:xfrm>
          <a:prstGeom prst="roundRect">
            <a:avLst>
              <a:gd name="adj" fmla="val 8000"/>
            </a:avLst>
          </a:prstGeom>
          <a:solidFill>
            <a:srgbClr val="FF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te-titre"/>
          <p:cNvSpPr txBox="1"/>
          <p:nvPr/>
        </p:nvSpPr>
        <p:spPr>
          <a:xfrm>
            <a:off x="4709160" y="1554480"/>
            <a:ext cx="2743200" cy="548640"/>
          </a:xfrm>
          <a:prstGeom prst="rect">
            <a:avLst/>
          </a:prstGeom>
          <a:noFill/>
        </p:spPr>
        <p:txBody>
          <a:bodyPr wrap="square" anchor="t">
            <a:spAutoFit/>
          </a:bodyPr>
          <a:lstStyle/>
          <a:p>
            <a:pPr algn="l">
              <a:spcAft>
                <a:spcPts val="400"/>
              </a:spcAft>
            </a:pPr>
            <a:r>
              <a:rPr sz="2000" b="1" i="0">
                <a:solidFill>
                  <a:srgbClr val="3B1F52"/>
                </a:solidFill>
                <a:latin typeface="Calibri"/>
              </a:rPr>
              <a:t>Réseaux hétérogènes</a:t>
            </a:r>
          </a:p>
        </p:txBody>
      </p:sp>
      <p:sp>
        <p:nvSpPr>
          <p:cNvPr id="9" name="carte-texte"/>
          <p:cNvSpPr txBox="1"/>
          <p:nvPr/>
        </p:nvSpPr>
        <p:spPr>
          <a:xfrm>
            <a:off x="4709160" y="2121408"/>
            <a:ext cx="2743200" cy="804672"/>
          </a:xfrm>
          <a:prstGeom prst="rect">
            <a:avLst/>
          </a:prstGeom>
          <a:noFill/>
        </p:spPr>
        <p:txBody>
          <a:bodyPr wrap="square" anchor="t">
            <a:spAutoFit/>
          </a:bodyPr>
          <a:lstStyle/>
          <a:p>
            <a:pPr algn="l">
              <a:spcAft>
                <a:spcPts val="300"/>
              </a:spcAft>
            </a:pPr>
            <a:r>
              <a:rPr sz="1700" b="0" i="0">
                <a:solidFill>
                  <a:srgbClr val="1E1A24"/>
                </a:solidFill>
                <a:latin typeface="Calibri"/>
              </a:rPr>
              <a:t>Wi-Fi, 4G, 5G, NAT, coupures</a:t>
            </a:r>
          </a:p>
        </p:txBody>
      </p:sp>
      <p:cxnSp>
        <p:nvCxnSpPr>
          <p:cNvPr id="10" name="Connector 9"/>
          <p:cNvCxnSpPr/>
          <p:nvPr/>
        </p:nvCxnSpPr>
        <p:spPr>
          <a:xfrm>
            <a:off x="7589520" y="2240280"/>
            <a:ext cx="73152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1" name="carte Services temps réel"/>
          <p:cNvSpPr/>
          <p:nvPr/>
        </p:nvSpPr>
        <p:spPr>
          <a:xfrm>
            <a:off x="8321040" y="1463040"/>
            <a:ext cx="3017520" cy="15544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te-titre"/>
          <p:cNvSpPr txBox="1"/>
          <p:nvPr/>
        </p:nvSpPr>
        <p:spPr>
          <a:xfrm>
            <a:off x="8458200" y="1554480"/>
            <a:ext cx="2743200" cy="548640"/>
          </a:xfrm>
          <a:prstGeom prst="rect">
            <a:avLst/>
          </a:prstGeom>
          <a:noFill/>
        </p:spPr>
        <p:txBody>
          <a:bodyPr wrap="square" anchor="t">
            <a:spAutoFit/>
          </a:bodyPr>
          <a:lstStyle/>
          <a:p>
            <a:pPr algn="l">
              <a:spcAft>
                <a:spcPts val="400"/>
              </a:spcAft>
            </a:pPr>
            <a:r>
              <a:rPr sz="2000" b="1" i="0">
                <a:solidFill>
                  <a:srgbClr val="3B1F52"/>
                </a:solidFill>
                <a:latin typeface="Calibri"/>
              </a:rPr>
              <a:t>Services temps réel</a:t>
            </a:r>
          </a:p>
        </p:txBody>
      </p:sp>
      <p:sp>
        <p:nvSpPr>
          <p:cNvPr id="13" name="carte-texte"/>
          <p:cNvSpPr txBox="1"/>
          <p:nvPr/>
        </p:nvSpPr>
        <p:spPr>
          <a:xfrm>
            <a:off x="8458200" y="2121408"/>
            <a:ext cx="2743200" cy="804672"/>
          </a:xfrm>
          <a:prstGeom prst="rect">
            <a:avLst/>
          </a:prstGeom>
          <a:noFill/>
        </p:spPr>
        <p:txBody>
          <a:bodyPr wrap="square" anchor="t">
            <a:spAutoFit/>
          </a:bodyPr>
          <a:lstStyle/>
          <a:p>
            <a:pPr algn="l">
              <a:spcAft>
                <a:spcPts val="300"/>
              </a:spcAft>
            </a:pPr>
            <a:r>
              <a:rPr sz="1700" b="0" i="0">
                <a:solidFill>
                  <a:srgbClr val="1E1A24"/>
                </a:solidFill>
                <a:latin typeface="Calibri"/>
              </a:rPr>
              <a:t>Signalisation, relais, stockage</a:t>
            </a:r>
          </a:p>
        </p:txBody>
      </p:sp>
      <p:sp>
        <p:nvSpPr>
          <p:cNvPr id="14" name="texte"/>
          <p:cNvSpPr txBox="1"/>
          <p:nvPr/>
        </p:nvSpPr>
        <p:spPr>
          <a:xfrm>
            <a:off x="548640" y="3337560"/>
            <a:ext cx="5486400" cy="3017520"/>
          </a:xfrm>
          <a:prstGeom prst="rect">
            <a:avLst/>
          </a:prstGeom>
          <a:noFill/>
        </p:spPr>
        <p:txBody>
          <a:bodyPr wrap="square" anchor="t">
            <a:spAutoFit/>
          </a:bodyPr>
          <a:lstStyle/>
          <a:p>
            <a:pPr algn="l">
              <a:spcAft>
                <a:spcPts val="900"/>
              </a:spcAft>
            </a:pPr>
            <a:r>
              <a:rPr sz="2200" b="1" i="0">
                <a:solidFill>
                  <a:srgbClr val="3B1F52"/>
                </a:solidFill>
                <a:latin typeface="Calibri"/>
              </a:rPr>
              <a:t>Pourquoi c’est difficile</a:t>
            </a:r>
          </a:p>
          <a:p>
            <a:pPr algn="l">
              <a:spcAft>
                <a:spcPts val="900"/>
              </a:spcAft>
            </a:pPr>
            <a:r>
              <a:rPr sz="1800" b="0" i="0">
                <a:solidFill>
                  <a:srgbClr val="1E1A24"/>
                </a:solidFill>
                <a:latin typeface="Calibri"/>
              </a:rPr>
              <a:t>La voix et la vidéo tolèrent peu de retard : environ 150 ms unidirectionnel (ITU-T G.114).</a:t>
            </a:r>
          </a:p>
          <a:p>
            <a:pPr algn="l">
              <a:spcAft>
                <a:spcPts val="900"/>
              </a:spcAft>
            </a:pPr>
            <a:r>
              <a:rPr sz="1800" b="0" i="0">
                <a:solidFill>
                  <a:srgbClr val="1E1A24"/>
                </a:solidFill>
                <a:latin typeface="Calibri"/>
              </a:rPr>
              <a:t>La connectivité dépend de NAT, de changements de réseau et de coupures non annoncées.</a:t>
            </a:r>
          </a:p>
          <a:p>
            <a:pPr algn="l">
              <a:spcAft>
                <a:spcPts val="900"/>
              </a:spcAft>
            </a:pPr>
            <a:r>
              <a:rPr sz="1800" b="0" i="0">
                <a:solidFill>
                  <a:srgbClr val="1E1A24"/>
                </a:solidFill>
                <a:latin typeface="Calibri"/>
              </a:rPr>
              <a:t>Le contenu est privé : sa compromission est irréversible.</a:t>
            </a:r>
          </a:p>
        </p:txBody>
      </p:sp>
      <p:sp>
        <p:nvSpPr>
          <p:cNvPr id="15" name="texte"/>
          <p:cNvSpPr txBox="1"/>
          <p:nvPr/>
        </p:nvSpPr>
        <p:spPr>
          <a:xfrm>
            <a:off x="6309360" y="3337560"/>
            <a:ext cx="5303520" cy="3017520"/>
          </a:xfrm>
          <a:prstGeom prst="rect">
            <a:avLst/>
          </a:prstGeom>
          <a:noFill/>
        </p:spPr>
        <p:txBody>
          <a:bodyPr wrap="square" anchor="t">
            <a:spAutoFit/>
          </a:bodyPr>
          <a:lstStyle/>
          <a:p>
            <a:pPr algn="l">
              <a:spcAft>
                <a:spcPts val="900"/>
              </a:spcAft>
            </a:pPr>
            <a:r>
              <a:rPr sz="2200" b="1" i="0">
                <a:solidFill>
                  <a:srgbClr val="3B1F52"/>
                </a:solidFill>
                <a:latin typeface="Calibri"/>
              </a:rPr>
              <a:t>Ce que le mémoire étudie</a:t>
            </a:r>
          </a:p>
          <a:p>
            <a:pPr algn="l">
              <a:spcAft>
                <a:spcPts val="900"/>
              </a:spcAft>
            </a:pPr>
            <a:r>
              <a:rPr sz="1800" b="0" i="0">
                <a:solidFill>
                  <a:srgbClr val="1E1A24"/>
                </a:solidFill>
                <a:latin typeface="Calibri"/>
              </a:rPr>
              <a:t>Les compromis entre sécurité, performance et disponibilité.</a:t>
            </a:r>
          </a:p>
          <a:p>
            <a:pPr algn="l">
              <a:spcAft>
                <a:spcPts val="900"/>
              </a:spcAft>
            </a:pPr>
            <a:r>
              <a:rPr sz="1800" b="0" i="0">
                <a:solidFill>
                  <a:srgbClr val="1E1A24"/>
                </a:solidFill>
                <a:latin typeface="Calibri"/>
              </a:rPr>
              <a:t>Une architecture réellement implémentée, distinguée d’une architecture cible.</a:t>
            </a:r>
          </a:p>
          <a:p>
            <a:pPr algn="l">
              <a:spcAft>
                <a:spcPts val="900"/>
              </a:spcAft>
            </a:pPr>
            <a:r>
              <a:rPr sz="1800" b="0" i="0">
                <a:solidFill>
                  <a:srgbClr val="1E1A24"/>
                </a:solidFill>
                <a:latin typeface="Calibri"/>
              </a:rPr>
              <a:t>Ce qui est mesuré, et ce qui reste à mesurer.</a:t>
            </a:r>
          </a:p>
        </p:txBody>
      </p:sp>
      <p:sp>
        <p:nvSpPr>
          <p:cNvPr id="16"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a:t>
            </a:r>
          </a:p>
        </p:txBody>
      </p:sp>
      <p:sp>
        <p:nvSpPr>
          <p:cNvPr id="17"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4123F"/>
        </a:solidFill>
        <a:effectLst/>
      </p:bgPr>
    </p:bg>
    <p:spTree>
      <p:nvGrpSpPr>
        <p:cNvPr id="1" name=""/>
        <p:cNvGrpSpPr/>
        <p:nvPr/>
      </p:nvGrpSpPr>
      <p:grpSpPr/>
      <p:sp>
        <p:nvSpPr>
          <p:cNvPr id="2" name="texte"/>
          <p:cNvSpPr txBox="1"/>
          <p:nvPr/>
        </p:nvSpPr>
        <p:spPr>
          <a:xfrm>
            <a:off x="548640" y="457200"/>
            <a:ext cx="5486400" cy="365760"/>
          </a:xfrm>
          <a:prstGeom prst="rect">
            <a:avLst/>
          </a:prstGeom>
          <a:noFill/>
        </p:spPr>
        <p:txBody>
          <a:bodyPr wrap="square" anchor="t">
            <a:spAutoFit/>
          </a:bodyPr>
          <a:lstStyle/>
          <a:p>
            <a:pPr algn="l">
              <a:spcAft>
                <a:spcPts val="400"/>
              </a:spcAft>
            </a:pPr>
            <a:r>
              <a:rPr sz="1400" b="1" i="0">
                <a:solidFill>
                  <a:srgbClr val="F4C4B2"/>
                </a:solidFill>
                <a:latin typeface="Calibri"/>
              </a:rPr>
              <a:t>PROBLÉMATIQUE</a:t>
            </a:r>
          </a:p>
        </p:txBody>
      </p:sp>
      <p:sp>
        <p:nvSpPr>
          <p:cNvPr id="3" name="problématique"/>
          <p:cNvSpPr txBox="1"/>
          <p:nvPr/>
        </p:nvSpPr>
        <p:spPr>
          <a:xfrm>
            <a:off x="548640" y="1005840"/>
            <a:ext cx="11094415" cy="2286000"/>
          </a:xfrm>
          <a:prstGeom prst="rect">
            <a:avLst/>
          </a:prstGeom>
          <a:noFill/>
        </p:spPr>
        <p:txBody>
          <a:bodyPr wrap="square" anchor="t">
            <a:spAutoFit/>
          </a:bodyPr>
          <a:lstStyle/>
          <a:p>
            <a:pPr algn="l">
              <a:spcAft>
                <a:spcPts val="400"/>
              </a:spcAft>
            </a:pPr>
            <a:r>
              <a:rPr sz="3000" b="1" i="0">
                <a:solidFill>
                  <a:srgbClr val="FFFFFF"/>
                </a:solidFill>
                <a:latin typeface="Cambria"/>
              </a:rPr>
              <a:t>Comment concevoir une architecture permettant de garantir simultanément confidentialité, intégrité, disponibilité et faible latence dans une plateforme de communication multimédia temps réel fonctionnant sur des réseaux hétérogènes ?</a:t>
            </a:r>
          </a:p>
        </p:txBody>
      </p:sp>
      <p:sp>
        <p:nvSpPr>
          <p:cNvPr id="4" name="Rounded Rectangle 3"/>
          <p:cNvSpPr/>
          <p:nvPr/>
        </p:nvSpPr>
        <p:spPr>
          <a:xfrm>
            <a:off x="548640" y="4114800"/>
            <a:ext cx="2606040" cy="155448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e"/>
          <p:cNvSpPr txBox="1"/>
          <p:nvPr/>
        </p:nvSpPr>
        <p:spPr>
          <a:xfrm>
            <a:off x="640080" y="4224528"/>
            <a:ext cx="2423160" cy="548640"/>
          </a:xfrm>
          <a:prstGeom prst="rect">
            <a:avLst/>
          </a:prstGeom>
          <a:noFill/>
        </p:spPr>
        <p:txBody>
          <a:bodyPr wrap="square" anchor="t">
            <a:spAutoFit/>
          </a:bodyPr>
          <a:lstStyle/>
          <a:p>
            <a:pPr algn="l">
              <a:spcAft>
                <a:spcPts val="400"/>
              </a:spcAft>
            </a:pPr>
            <a:r>
              <a:rPr sz="2500" b="1" i="0">
                <a:solidFill>
                  <a:srgbClr val="F4C4B2"/>
                </a:solidFill>
                <a:latin typeface="Cambria"/>
              </a:rPr>
              <a:t>Sécurité</a:t>
            </a:r>
          </a:p>
        </p:txBody>
      </p:sp>
      <p:sp>
        <p:nvSpPr>
          <p:cNvPr id="6" name="texte"/>
          <p:cNvSpPr txBox="1"/>
          <p:nvPr/>
        </p:nvSpPr>
        <p:spPr>
          <a:xfrm>
            <a:off x="640080" y="4846320"/>
            <a:ext cx="2423160" cy="731520"/>
          </a:xfrm>
          <a:prstGeom prst="rect">
            <a:avLst/>
          </a:prstGeom>
          <a:noFill/>
        </p:spPr>
        <p:txBody>
          <a:bodyPr wrap="square" anchor="t">
            <a:spAutoFit/>
          </a:bodyPr>
          <a:lstStyle/>
          <a:p>
            <a:pPr algn="l">
              <a:spcAft>
                <a:spcPts val="400"/>
              </a:spcAft>
            </a:pPr>
            <a:r>
              <a:rPr sz="1800" b="0" i="0">
                <a:solidFill>
                  <a:srgbClr val="E9E1F0"/>
                </a:solidFill>
                <a:latin typeface="Calibri"/>
              </a:rPr>
              <a:t>confidentialité, intégrité</a:t>
            </a:r>
          </a:p>
        </p:txBody>
      </p:sp>
      <p:sp>
        <p:nvSpPr>
          <p:cNvPr id="7" name="Rounded Rectangle 6"/>
          <p:cNvSpPr/>
          <p:nvPr/>
        </p:nvSpPr>
        <p:spPr>
          <a:xfrm>
            <a:off x="3337560" y="4114800"/>
            <a:ext cx="2606040" cy="155448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e"/>
          <p:cNvSpPr txBox="1"/>
          <p:nvPr/>
        </p:nvSpPr>
        <p:spPr>
          <a:xfrm>
            <a:off x="3429000" y="4224528"/>
            <a:ext cx="2423160" cy="548640"/>
          </a:xfrm>
          <a:prstGeom prst="rect">
            <a:avLst/>
          </a:prstGeom>
          <a:noFill/>
        </p:spPr>
        <p:txBody>
          <a:bodyPr wrap="square" anchor="t">
            <a:spAutoFit/>
          </a:bodyPr>
          <a:lstStyle/>
          <a:p>
            <a:pPr algn="l">
              <a:spcAft>
                <a:spcPts val="400"/>
              </a:spcAft>
            </a:pPr>
            <a:r>
              <a:rPr sz="2500" b="1" i="0">
                <a:solidFill>
                  <a:srgbClr val="F4C4B2"/>
                </a:solidFill>
                <a:latin typeface="Cambria"/>
              </a:rPr>
              <a:t>Latence</a:t>
            </a:r>
          </a:p>
        </p:txBody>
      </p:sp>
      <p:sp>
        <p:nvSpPr>
          <p:cNvPr id="9" name="texte"/>
          <p:cNvSpPr txBox="1"/>
          <p:nvPr/>
        </p:nvSpPr>
        <p:spPr>
          <a:xfrm>
            <a:off x="3429000" y="4846320"/>
            <a:ext cx="2423160" cy="731520"/>
          </a:xfrm>
          <a:prstGeom prst="rect">
            <a:avLst/>
          </a:prstGeom>
          <a:noFill/>
        </p:spPr>
        <p:txBody>
          <a:bodyPr wrap="square" anchor="t">
            <a:spAutoFit/>
          </a:bodyPr>
          <a:lstStyle/>
          <a:p>
            <a:pPr algn="l">
              <a:spcAft>
                <a:spcPts val="400"/>
              </a:spcAft>
            </a:pPr>
            <a:r>
              <a:rPr sz="1800" b="0" i="0">
                <a:solidFill>
                  <a:srgbClr val="E9E1F0"/>
                </a:solidFill>
                <a:latin typeface="Calibri"/>
              </a:rPr>
              <a:t>établissement, transmission</a:t>
            </a:r>
          </a:p>
        </p:txBody>
      </p:sp>
      <p:sp>
        <p:nvSpPr>
          <p:cNvPr id="10" name="Rounded Rectangle 9"/>
          <p:cNvSpPr/>
          <p:nvPr/>
        </p:nvSpPr>
        <p:spPr>
          <a:xfrm>
            <a:off x="6126479" y="4114800"/>
            <a:ext cx="2606040" cy="155448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e"/>
          <p:cNvSpPr txBox="1"/>
          <p:nvPr/>
        </p:nvSpPr>
        <p:spPr>
          <a:xfrm>
            <a:off x="6217919" y="4224528"/>
            <a:ext cx="2423160" cy="548640"/>
          </a:xfrm>
          <a:prstGeom prst="rect">
            <a:avLst/>
          </a:prstGeom>
          <a:noFill/>
        </p:spPr>
        <p:txBody>
          <a:bodyPr wrap="square" anchor="t">
            <a:spAutoFit/>
          </a:bodyPr>
          <a:lstStyle/>
          <a:p>
            <a:pPr algn="l">
              <a:spcAft>
                <a:spcPts val="400"/>
              </a:spcAft>
            </a:pPr>
            <a:r>
              <a:rPr sz="2500" b="1" i="0">
                <a:solidFill>
                  <a:srgbClr val="F4C4B2"/>
                </a:solidFill>
                <a:latin typeface="Cambria"/>
              </a:rPr>
              <a:t>Disponibilité</a:t>
            </a:r>
          </a:p>
        </p:txBody>
      </p:sp>
      <p:sp>
        <p:nvSpPr>
          <p:cNvPr id="12" name="texte"/>
          <p:cNvSpPr txBox="1"/>
          <p:nvPr/>
        </p:nvSpPr>
        <p:spPr>
          <a:xfrm>
            <a:off x="6217919" y="4846320"/>
            <a:ext cx="2423160" cy="731520"/>
          </a:xfrm>
          <a:prstGeom prst="rect">
            <a:avLst/>
          </a:prstGeom>
          <a:noFill/>
        </p:spPr>
        <p:txBody>
          <a:bodyPr wrap="square" anchor="t">
            <a:spAutoFit/>
          </a:bodyPr>
          <a:lstStyle/>
          <a:p>
            <a:pPr algn="l">
              <a:spcAft>
                <a:spcPts val="400"/>
              </a:spcAft>
            </a:pPr>
            <a:r>
              <a:rPr sz="1800" b="0" i="0">
                <a:solidFill>
                  <a:srgbClr val="E9E1F0"/>
                </a:solidFill>
                <a:latin typeface="Calibri"/>
              </a:rPr>
              <a:t>continuité d’appel</a:t>
            </a:r>
          </a:p>
        </p:txBody>
      </p:sp>
      <p:sp>
        <p:nvSpPr>
          <p:cNvPr id="13" name="Rounded Rectangle 12"/>
          <p:cNvSpPr/>
          <p:nvPr/>
        </p:nvSpPr>
        <p:spPr>
          <a:xfrm>
            <a:off x="8915399" y="4114800"/>
            <a:ext cx="2606040" cy="155448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e"/>
          <p:cNvSpPr txBox="1"/>
          <p:nvPr/>
        </p:nvSpPr>
        <p:spPr>
          <a:xfrm>
            <a:off x="9006839" y="4224528"/>
            <a:ext cx="2423160" cy="548640"/>
          </a:xfrm>
          <a:prstGeom prst="rect">
            <a:avLst/>
          </a:prstGeom>
          <a:noFill/>
        </p:spPr>
        <p:txBody>
          <a:bodyPr wrap="square" anchor="t">
            <a:spAutoFit/>
          </a:bodyPr>
          <a:lstStyle/>
          <a:p>
            <a:pPr algn="l">
              <a:spcAft>
                <a:spcPts val="400"/>
              </a:spcAft>
            </a:pPr>
            <a:r>
              <a:rPr sz="2500" b="1" i="0">
                <a:solidFill>
                  <a:srgbClr val="F4C4B2"/>
                </a:solidFill>
                <a:latin typeface="Cambria"/>
              </a:rPr>
              <a:t>Résilience</a:t>
            </a:r>
          </a:p>
        </p:txBody>
      </p:sp>
      <p:sp>
        <p:nvSpPr>
          <p:cNvPr id="15" name="texte"/>
          <p:cNvSpPr txBox="1"/>
          <p:nvPr/>
        </p:nvSpPr>
        <p:spPr>
          <a:xfrm>
            <a:off x="9006839" y="4846320"/>
            <a:ext cx="2423160" cy="731520"/>
          </a:xfrm>
          <a:prstGeom prst="rect">
            <a:avLst/>
          </a:prstGeom>
          <a:noFill/>
        </p:spPr>
        <p:txBody>
          <a:bodyPr wrap="square" anchor="t">
            <a:spAutoFit/>
          </a:bodyPr>
          <a:lstStyle/>
          <a:p>
            <a:pPr algn="l">
              <a:spcAft>
                <a:spcPts val="400"/>
              </a:spcAft>
            </a:pPr>
            <a:r>
              <a:rPr sz="1800" b="0" i="0">
                <a:solidFill>
                  <a:srgbClr val="E9E1F0"/>
                </a:solidFill>
                <a:latin typeface="Calibri"/>
              </a:rPr>
              <a:t>coupures, changements</a:t>
            </a:r>
          </a:p>
        </p:txBody>
      </p:sp>
      <p:sp>
        <p:nvSpPr>
          <p:cNvPr id="16"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CFC4DB"/>
                </a:solidFill>
                <a:latin typeface="Calibri"/>
              </a:rPr>
              <a:t>3</a:t>
            </a:r>
          </a:p>
        </p:txBody>
      </p:sp>
      <p:sp>
        <p:nvSpPr>
          <p:cNvPr id="17"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CFC4DB"/>
                </a:solidFill>
                <a:latin typeface="Calibri"/>
              </a:rPr>
              <a:t>Allyza · Architecture de communication temps réel · Master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Objectif général et six objectifs spécifiques</a:t>
            </a:r>
          </a:p>
        </p:txBody>
      </p:sp>
      <p:sp>
        <p:nvSpPr>
          <p:cNvPr id="3" name="Rounded Rectangle 2"/>
          <p:cNvSpPr/>
          <p:nvPr/>
        </p:nvSpPr>
        <p:spPr>
          <a:xfrm>
            <a:off x="548640" y="1371600"/>
            <a:ext cx="11094415" cy="86868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731520" y="1371600"/>
            <a:ext cx="10728655" cy="868680"/>
          </a:xfrm>
          <a:prstGeom prst="rect">
            <a:avLst/>
          </a:prstGeom>
          <a:noFill/>
        </p:spPr>
        <p:txBody>
          <a:bodyPr wrap="square" anchor="ctr">
            <a:spAutoFit/>
          </a:bodyPr>
          <a:lstStyle/>
          <a:p>
            <a:pPr algn="l">
              <a:spcAft>
                <a:spcPts val="400"/>
              </a:spcAft>
            </a:pPr>
            <a:r>
              <a:rPr sz="1800" b="0" i="0">
                <a:solidFill>
                  <a:srgbClr val="FFFFFF"/>
                </a:solidFill>
                <a:latin typeface="Calibri"/>
              </a:rPr>
              <a:t>Concevoir et étudier une architecture de communication temps réel sécurisée et résiliente, à travers le cas d’étude Allyza.</a:t>
            </a:r>
          </a:p>
        </p:txBody>
      </p:sp>
      <p:sp>
        <p:nvSpPr>
          <p:cNvPr id="5" name="carte Concevoir"/>
          <p:cNvSpPr/>
          <p:nvPr/>
        </p:nvSpPr>
        <p:spPr>
          <a:xfrm>
            <a:off x="548640" y="256032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te-titre"/>
          <p:cNvSpPr txBox="1"/>
          <p:nvPr/>
        </p:nvSpPr>
        <p:spPr>
          <a:xfrm>
            <a:off x="685800" y="265176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Concevoir</a:t>
            </a:r>
          </a:p>
        </p:txBody>
      </p:sp>
      <p:sp>
        <p:nvSpPr>
          <p:cNvPr id="7" name="carte-texte"/>
          <p:cNvSpPr txBox="1"/>
          <p:nvPr/>
        </p:nvSpPr>
        <p:spPr>
          <a:xfrm>
            <a:off x="685800" y="3218687"/>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reconstituer l’architecture réelle, puis proposer une cible</a:t>
            </a:r>
          </a:p>
        </p:txBody>
      </p:sp>
      <p:sp>
        <p:nvSpPr>
          <p:cNvPr id="8" name="carte Sécuriser"/>
          <p:cNvSpPr/>
          <p:nvPr/>
        </p:nvSpPr>
        <p:spPr>
          <a:xfrm>
            <a:off x="4270248" y="256032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te-titre"/>
          <p:cNvSpPr txBox="1"/>
          <p:nvPr/>
        </p:nvSpPr>
        <p:spPr>
          <a:xfrm>
            <a:off x="4407408" y="265176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Sécuriser</a:t>
            </a:r>
          </a:p>
        </p:txBody>
      </p:sp>
      <p:sp>
        <p:nvSpPr>
          <p:cNvPr id="10" name="carte-texte"/>
          <p:cNvSpPr txBox="1"/>
          <p:nvPr/>
        </p:nvSpPr>
        <p:spPr>
          <a:xfrm>
            <a:off x="4407408" y="3218687"/>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authentification, RLS, stockage privé, E2EE optionnel</a:t>
            </a:r>
          </a:p>
        </p:txBody>
      </p:sp>
      <p:sp>
        <p:nvSpPr>
          <p:cNvPr id="11" name="carte Échanger en temps ré"/>
          <p:cNvSpPr/>
          <p:nvPr/>
        </p:nvSpPr>
        <p:spPr>
          <a:xfrm>
            <a:off x="7991856" y="256032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te-titre"/>
          <p:cNvSpPr txBox="1"/>
          <p:nvPr/>
        </p:nvSpPr>
        <p:spPr>
          <a:xfrm>
            <a:off x="8129016" y="265176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Échanger en temps réel</a:t>
            </a:r>
          </a:p>
        </p:txBody>
      </p:sp>
      <p:sp>
        <p:nvSpPr>
          <p:cNvPr id="13" name="carte-texte"/>
          <p:cNvSpPr txBox="1"/>
          <p:nvPr/>
        </p:nvSpPr>
        <p:spPr>
          <a:xfrm>
            <a:off x="8129016" y="3218687"/>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signalisation, WebRTC, médias</a:t>
            </a:r>
          </a:p>
        </p:txBody>
      </p:sp>
      <p:sp>
        <p:nvSpPr>
          <p:cNvPr id="14" name="carte Gérer les coupures"/>
          <p:cNvSpPr/>
          <p:nvPr/>
        </p:nvSpPr>
        <p:spPr>
          <a:xfrm>
            <a:off x="548640" y="434340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te-titre"/>
          <p:cNvSpPr txBox="1"/>
          <p:nvPr/>
        </p:nvSpPr>
        <p:spPr>
          <a:xfrm>
            <a:off x="685800" y="44348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Gérer les coupures</a:t>
            </a:r>
          </a:p>
        </p:txBody>
      </p:sp>
      <p:sp>
        <p:nvSpPr>
          <p:cNvPr id="16" name="carte-texte"/>
          <p:cNvSpPr txBox="1"/>
          <p:nvPr/>
        </p:nvSpPr>
        <p:spPr>
          <a:xfrm>
            <a:off x="685800" y="5001768"/>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reprise, rattrapage, persistance d’appel</a:t>
            </a:r>
          </a:p>
        </p:txBody>
      </p:sp>
      <p:sp>
        <p:nvSpPr>
          <p:cNvPr id="17" name="carte Évaluer"/>
          <p:cNvSpPr/>
          <p:nvPr/>
        </p:nvSpPr>
        <p:spPr>
          <a:xfrm>
            <a:off x="4270248" y="434340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te-titre"/>
          <p:cNvSpPr txBox="1"/>
          <p:nvPr/>
        </p:nvSpPr>
        <p:spPr>
          <a:xfrm>
            <a:off x="4407408" y="44348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Évaluer</a:t>
            </a:r>
          </a:p>
        </p:txBody>
      </p:sp>
      <p:sp>
        <p:nvSpPr>
          <p:cNvPr id="19" name="carte-texte"/>
          <p:cNvSpPr txBox="1"/>
          <p:nvPr/>
        </p:nvSpPr>
        <p:spPr>
          <a:xfrm>
            <a:off x="4407408" y="5001768"/>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tests automatisés, banc de calcul, protocole</a:t>
            </a:r>
          </a:p>
        </p:txBody>
      </p:sp>
      <p:sp>
        <p:nvSpPr>
          <p:cNvPr id="20" name="carte Étudier la résilienc"/>
          <p:cNvSpPr/>
          <p:nvPr/>
        </p:nvSpPr>
        <p:spPr>
          <a:xfrm>
            <a:off x="7991856" y="4343400"/>
            <a:ext cx="3566160" cy="1600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te-titre"/>
          <p:cNvSpPr txBox="1"/>
          <p:nvPr/>
        </p:nvSpPr>
        <p:spPr>
          <a:xfrm>
            <a:off x="8129016" y="44348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Étudier la résilience</a:t>
            </a:r>
          </a:p>
        </p:txBody>
      </p:sp>
      <p:sp>
        <p:nvSpPr>
          <p:cNvPr id="22" name="carte-texte"/>
          <p:cNvSpPr txBox="1"/>
          <p:nvPr/>
        </p:nvSpPr>
        <p:spPr>
          <a:xfrm>
            <a:off x="8129016" y="5001768"/>
            <a:ext cx="3291840" cy="850392"/>
          </a:xfrm>
          <a:prstGeom prst="rect">
            <a:avLst/>
          </a:prstGeom>
          <a:noFill/>
        </p:spPr>
        <p:txBody>
          <a:bodyPr wrap="square" anchor="t">
            <a:spAutoFit/>
          </a:bodyPr>
          <a:lstStyle/>
          <a:p>
            <a:pPr algn="l">
              <a:spcAft>
                <a:spcPts val="300"/>
              </a:spcAft>
            </a:pPr>
            <a:r>
              <a:rPr sz="1700" b="0" i="0">
                <a:solidFill>
                  <a:srgbClr val="1E1A24"/>
                </a:solidFill>
                <a:latin typeface="Calibri"/>
              </a:rPr>
              <a:t>mécanismes et limites de la PWA</a:t>
            </a:r>
          </a:p>
        </p:txBody>
      </p:sp>
      <p:sp>
        <p:nvSpPr>
          <p:cNvPr id="23"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4</a:t>
            </a:r>
          </a:p>
        </p:txBody>
      </p:sp>
      <p:sp>
        <p:nvSpPr>
          <p:cNvPr id="24"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Allyza : un prototype de messagerie privée (PWA)</a:t>
            </a:r>
          </a:p>
        </p:txBody>
      </p:sp>
      <p:sp>
        <p:nvSpPr>
          <p:cNvPr id="3" name="capture à insérer"/>
          <p:cNvSpPr/>
          <p:nvPr/>
        </p:nvSpPr>
        <p:spPr>
          <a:xfrm>
            <a:off x="7589520" y="1417320"/>
            <a:ext cx="4023360" cy="475488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7680960" y="3429000"/>
            <a:ext cx="3840480"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écran Messagerie (conversation)</a:t>
            </a:r>
          </a:p>
        </p:txBody>
      </p:sp>
      <p:sp>
        <p:nvSpPr>
          <p:cNvPr id="5" name="texte"/>
          <p:cNvSpPr txBox="1"/>
          <p:nvPr/>
        </p:nvSpPr>
        <p:spPr>
          <a:xfrm>
            <a:off x="548640" y="1417320"/>
            <a:ext cx="6766560" cy="4754880"/>
          </a:xfrm>
          <a:prstGeom prst="rect">
            <a:avLst/>
          </a:prstGeom>
          <a:noFill/>
        </p:spPr>
        <p:txBody>
          <a:bodyPr wrap="square" anchor="t">
            <a:spAutoFit/>
          </a:bodyPr>
          <a:lstStyle/>
          <a:p>
            <a:pPr algn="l">
              <a:spcAft>
                <a:spcPts val="900"/>
              </a:spcAft>
            </a:pPr>
            <a:r>
              <a:rPr sz="1800" b="1" i="0">
                <a:solidFill>
                  <a:srgbClr val="3B1F52"/>
                </a:solidFill>
                <a:latin typeface="Calibri"/>
              </a:rPr>
              <a:t>Fait observé dans le dépôt</a:t>
            </a:r>
          </a:p>
          <a:p>
            <a:pPr algn="l">
              <a:spcAft>
                <a:spcPts val="900"/>
              </a:spcAft>
            </a:pPr>
            <a:r>
              <a:rPr sz="1800" b="0" i="0">
                <a:solidFill>
                  <a:srgbClr val="1E1A24"/>
                </a:solidFill>
                <a:latin typeface="Calibri"/>
              </a:rPr>
              <a:t>PWA bilingue pour deux personnes : une seule conversation par couple.</a:t>
            </a:r>
          </a:p>
          <a:p>
            <a:pPr algn="l">
              <a:spcAft>
                <a:spcPts val="900"/>
              </a:spcAft>
            </a:pPr>
            <a:r>
              <a:rPr sz="1800" b="0" i="0">
                <a:solidFill>
                  <a:srgbClr val="1E1A24"/>
                </a:solidFill>
                <a:latin typeface="Calibri"/>
              </a:rPr>
              <a:t>Next.js 16, React 19, TypeScript ; Supabase (PostgreSQL, Auth, Storage, Realtime) ; Vercel.</a:t>
            </a:r>
          </a:p>
          <a:p>
            <a:pPr algn="l">
              <a:spcAft>
                <a:spcPts val="900"/>
              </a:spcAft>
            </a:pPr>
            <a:r>
              <a:rPr sz="1800" b="0" i="0">
                <a:solidFill>
                  <a:srgbClr val="1E1A24"/>
                </a:solidFill>
                <a:latin typeface="Calibri"/>
              </a:rPr>
              <a:t>34 commits entre le 21 et le 25 septembre 2026.</a:t>
            </a:r>
          </a:p>
          <a:p>
            <a:pPr algn="l">
              <a:spcAft>
                <a:spcPts val="900"/>
              </a:spcAft>
            </a:pPr>
            <a:r>
              <a:rPr sz="1800" b="1" i="0">
                <a:solidFill>
                  <a:srgbClr val="3B1F52"/>
                </a:solidFill>
                <a:latin typeface="Calibri"/>
              </a:rPr>
              <a:t>Pourquoi un bon cas d’étude</a:t>
            </a:r>
          </a:p>
          <a:p>
            <a:pPr algn="l">
              <a:spcAft>
                <a:spcPts val="900"/>
              </a:spcAft>
            </a:pPr>
            <a:r>
              <a:rPr sz="1800" b="0" i="0">
                <a:solidFill>
                  <a:srgbClr val="1E1A24"/>
                </a:solidFill>
                <a:latin typeface="Calibri"/>
              </a:rPr>
              <a:t>Trois familles de trafic dans un même module : transactionnel, médias différés, temps réel.</a:t>
            </a:r>
          </a:p>
          <a:p>
            <a:pPr algn="l">
              <a:spcAft>
                <a:spcPts val="900"/>
              </a:spcAft>
            </a:pPr>
            <a:r>
              <a:rPr sz="1800" b="0" i="0">
                <a:solidFill>
                  <a:srgbClr val="1E1A24"/>
                </a:solidFill>
                <a:latin typeface="Calibri"/>
              </a:rPr>
              <a:t>Contraintes réelles d’une PWA mobile : arrière-plan, notifications, audio verrouillé.</a:t>
            </a:r>
          </a:p>
        </p:txBody>
      </p:sp>
      <p:sp>
        <p:nvSpPr>
          <p:cNvPr id="6"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5</a:t>
            </a:r>
          </a:p>
        </p:txBody>
      </p:sp>
      <p:sp>
        <p:nvSpPr>
          <p:cNvPr id="7"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Périmètre : le module Messagerie uniquement</a:t>
            </a:r>
          </a:p>
        </p:txBody>
      </p:sp>
      <p:sp>
        <p:nvSpPr>
          <p:cNvPr id="3" name="Oval 2"/>
          <p:cNvSpPr/>
          <p:nvPr/>
        </p:nvSpPr>
        <p:spPr>
          <a:xfrm>
            <a:off x="4480560" y="2651760"/>
            <a:ext cx="3200400" cy="1463040"/>
          </a:xfrm>
          <a:prstGeom prst="ellipse">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4480560" y="2651760"/>
            <a:ext cx="3200400" cy="1463040"/>
          </a:xfrm>
          <a:prstGeom prst="rect">
            <a:avLst/>
          </a:prstGeom>
          <a:noFill/>
        </p:spPr>
        <p:txBody>
          <a:bodyPr wrap="square" anchor="ctr">
            <a:spAutoFit/>
          </a:bodyPr>
          <a:lstStyle/>
          <a:p>
            <a:pPr algn="ctr">
              <a:spcAft>
                <a:spcPts val="0"/>
              </a:spcAft>
            </a:pPr>
            <a:r>
              <a:rPr sz="2200" b="1" i="0">
                <a:solidFill>
                  <a:srgbClr val="FFFFFF"/>
                </a:solidFill>
                <a:latin typeface="Cambria"/>
              </a:rPr>
              <a:t>Module</a:t>
            </a:r>
          </a:p>
          <a:p>
            <a:pPr algn="ctr">
              <a:spcAft>
                <a:spcPts val="0"/>
              </a:spcAft>
            </a:pPr>
            <a:r>
              <a:rPr sz="2200" b="1" i="0">
                <a:solidFill>
                  <a:srgbClr val="FFFFFF"/>
                </a:solidFill>
                <a:latin typeface="Cambria"/>
              </a:rPr>
              <a:t>Messagerie</a:t>
            </a:r>
          </a:p>
        </p:txBody>
      </p:sp>
      <p:sp>
        <p:nvSpPr>
          <p:cNvPr id="5" name="carte Messages"/>
          <p:cNvSpPr/>
          <p:nvPr/>
        </p:nvSpPr>
        <p:spPr>
          <a:xfrm>
            <a:off x="640080" y="141732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te-titre"/>
          <p:cNvSpPr txBox="1"/>
          <p:nvPr/>
        </p:nvSpPr>
        <p:spPr>
          <a:xfrm>
            <a:off x="777240" y="150876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Messages</a:t>
            </a:r>
          </a:p>
        </p:txBody>
      </p:sp>
      <p:sp>
        <p:nvSpPr>
          <p:cNvPr id="7" name="carte-texte"/>
          <p:cNvSpPr txBox="1"/>
          <p:nvPr/>
        </p:nvSpPr>
        <p:spPr>
          <a:xfrm>
            <a:off x="777240" y="207568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texte, stickers, réactions</a:t>
            </a:r>
          </a:p>
        </p:txBody>
      </p:sp>
      <p:sp>
        <p:nvSpPr>
          <p:cNvPr id="8" name="carte Médias"/>
          <p:cNvSpPr/>
          <p:nvPr/>
        </p:nvSpPr>
        <p:spPr>
          <a:xfrm>
            <a:off x="640080" y="306324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te-titre"/>
          <p:cNvSpPr txBox="1"/>
          <p:nvPr/>
        </p:nvSpPr>
        <p:spPr>
          <a:xfrm>
            <a:off x="777240" y="315468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Médias</a:t>
            </a:r>
          </a:p>
        </p:txBody>
      </p:sp>
      <p:sp>
        <p:nvSpPr>
          <p:cNvPr id="10" name="carte-texte"/>
          <p:cNvSpPr txBox="1"/>
          <p:nvPr/>
        </p:nvSpPr>
        <p:spPr>
          <a:xfrm>
            <a:off x="777240" y="372160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photos, documents (D)</a:t>
            </a:r>
          </a:p>
        </p:txBody>
      </p:sp>
      <p:sp>
        <p:nvSpPr>
          <p:cNvPr id="11" name="carte Messages vocaux"/>
          <p:cNvSpPr/>
          <p:nvPr/>
        </p:nvSpPr>
        <p:spPr>
          <a:xfrm>
            <a:off x="640080" y="470916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te-titre"/>
          <p:cNvSpPr txBox="1"/>
          <p:nvPr/>
        </p:nvSpPr>
        <p:spPr>
          <a:xfrm>
            <a:off x="777240" y="480060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Messages vocaux</a:t>
            </a:r>
          </a:p>
        </p:txBody>
      </p:sp>
      <p:sp>
        <p:nvSpPr>
          <p:cNvPr id="13" name="carte-texte"/>
          <p:cNvSpPr txBox="1"/>
          <p:nvPr/>
        </p:nvSpPr>
        <p:spPr>
          <a:xfrm>
            <a:off x="777240" y="536752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enregistrement, lecture</a:t>
            </a:r>
          </a:p>
        </p:txBody>
      </p:sp>
      <p:sp>
        <p:nvSpPr>
          <p:cNvPr id="14" name="carte Appels audio"/>
          <p:cNvSpPr/>
          <p:nvPr/>
        </p:nvSpPr>
        <p:spPr>
          <a:xfrm>
            <a:off x="4434840" y="132588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rte-titre"/>
          <p:cNvSpPr txBox="1"/>
          <p:nvPr/>
        </p:nvSpPr>
        <p:spPr>
          <a:xfrm>
            <a:off x="4572000" y="141732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Appels audio</a:t>
            </a:r>
          </a:p>
        </p:txBody>
      </p:sp>
      <p:sp>
        <p:nvSpPr>
          <p:cNvPr id="16" name="carte-texte"/>
          <p:cNvSpPr txBox="1"/>
          <p:nvPr/>
        </p:nvSpPr>
        <p:spPr>
          <a:xfrm>
            <a:off x="4572000" y="198424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WebRTC, sonnerie</a:t>
            </a:r>
          </a:p>
        </p:txBody>
      </p:sp>
      <p:sp>
        <p:nvSpPr>
          <p:cNvPr id="17" name="carte Appels vidéo"/>
          <p:cNvSpPr/>
          <p:nvPr/>
        </p:nvSpPr>
        <p:spPr>
          <a:xfrm>
            <a:off x="8138160" y="141732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te-titre"/>
          <p:cNvSpPr txBox="1"/>
          <p:nvPr/>
        </p:nvSpPr>
        <p:spPr>
          <a:xfrm>
            <a:off x="8275320" y="150876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Appels vidéo</a:t>
            </a:r>
          </a:p>
        </p:txBody>
      </p:sp>
      <p:sp>
        <p:nvSpPr>
          <p:cNvPr id="19" name="carte-texte"/>
          <p:cNvSpPr txBox="1"/>
          <p:nvPr/>
        </p:nvSpPr>
        <p:spPr>
          <a:xfrm>
            <a:off x="8275320" y="207568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caméra, palette réduite</a:t>
            </a:r>
          </a:p>
        </p:txBody>
      </p:sp>
      <p:sp>
        <p:nvSpPr>
          <p:cNvPr id="20" name="carte Reconnexion"/>
          <p:cNvSpPr/>
          <p:nvPr/>
        </p:nvSpPr>
        <p:spPr>
          <a:xfrm>
            <a:off x="8138160" y="306324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te-titre"/>
          <p:cNvSpPr txBox="1"/>
          <p:nvPr/>
        </p:nvSpPr>
        <p:spPr>
          <a:xfrm>
            <a:off x="8275320" y="315468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Reconnexion</a:t>
            </a:r>
          </a:p>
        </p:txBody>
      </p:sp>
      <p:sp>
        <p:nvSpPr>
          <p:cNvPr id="22" name="carte-texte"/>
          <p:cNvSpPr txBox="1"/>
          <p:nvPr/>
        </p:nvSpPr>
        <p:spPr>
          <a:xfrm>
            <a:off x="8275320" y="372160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ICE restart, rattrapage</a:t>
            </a:r>
          </a:p>
        </p:txBody>
      </p:sp>
      <p:sp>
        <p:nvSpPr>
          <p:cNvPr id="23" name="carte Sécurité"/>
          <p:cNvSpPr/>
          <p:nvPr/>
        </p:nvSpPr>
        <p:spPr>
          <a:xfrm>
            <a:off x="8138160" y="470916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te-titre"/>
          <p:cNvSpPr txBox="1"/>
          <p:nvPr/>
        </p:nvSpPr>
        <p:spPr>
          <a:xfrm>
            <a:off x="8275320" y="4800600"/>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Sécurité</a:t>
            </a:r>
          </a:p>
        </p:txBody>
      </p:sp>
      <p:sp>
        <p:nvSpPr>
          <p:cNvPr id="25" name="carte-texte"/>
          <p:cNvSpPr txBox="1"/>
          <p:nvPr/>
        </p:nvSpPr>
        <p:spPr>
          <a:xfrm>
            <a:off x="8275320" y="536752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RLS, E2EE (B), verrou</a:t>
            </a:r>
          </a:p>
        </p:txBody>
      </p:sp>
      <p:sp>
        <p:nvSpPr>
          <p:cNvPr id="26" name="carte Notifications"/>
          <p:cNvSpPr/>
          <p:nvPr/>
        </p:nvSpPr>
        <p:spPr>
          <a:xfrm>
            <a:off x="4434840" y="4846320"/>
            <a:ext cx="3429000" cy="12344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rte-titre"/>
          <p:cNvSpPr txBox="1"/>
          <p:nvPr/>
        </p:nvSpPr>
        <p:spPr>
          <a:xfrm>
            <a:off x="4572000" y="4937759"/>
            <a:ext cx="3154680" cy="548640"/>
          </a:xfrm>
          <a:prstGeom prst="rect">
            <a:avLst/>
          </a:prstGeom>
          <a:noFill/>
        </p:spPr>
        <p:txBody>
          <a:bodyPr wrap="square" anchor="t">
            <a:spAutoFit/>
          </a:bodyPr>
          <a:lstStyle/>
          <a:p>
            <a:pPr algn="l">
              <a:spcAft>
                <a:spcPts val="400"/>
              </a:spcAft>
            </a:pPr>
            <a:r>
              <a:rPr sz="1800" b="1" i="0">
                <a:solidFill>
                  <a:srgbClr val="3B1F52"/>
                </a:solidFill>
                <a:latin typeface="Calibri"/>
              </a:rPr>
              <a:t>Notifications</a:t>
            </a:r>
          </a:p>
        </p:txBody>
      </p:sp>
      <p:sp>
        <p:nvSpPr>
          <p:cNvPr id="28" name="carte-texte"/>
          <p:cNvSpPr txBox="1"/>
          <p:nvPr/>
        </p:nvSpPr>
        <p:spPr>
          <a:xfrm>
            <a:off x="4572000" y="5504688"/>
            <a:ext cx="3154680" cy="484632"/>
          </a:xfrm>
          <a:prstGeom prst="rect">
            <a:avLst/>
          </a:prstGeom>
          <a:noFill/>
        </p:spPr>
        <p:txBody>
          <a:bodyPr wrap="square" anchor="t">
            <a:spAutoFit/>
          </a:bodyPr>
          <a:lstStyle/>
          <a:p>
            <a:pPr algn="l">
              <a:spcAft>
                <a:spcPts val="300"/>
              </a:spcAft>
            </a:pPr>
            <a:r>
              <a:rPr sz="1600" b="0" i="0">
                <a:solidFill>
                  <a:srgbClr val="1E1A24"/>
                </a:solidFill>
                <a:latin typeface="Calibri"/>
              </a:rPr>
              <a:t>Web Push, pastilles</a:t>
            </a:r>
          </a:p>
        </p:txBody>
      </p:sp>
      <p:sp>
        <p:nvSpPr>
          <p:cNvPr id="2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6</a:t>
            </a:r>
          </a:p>
        </p:txBody>
      </p:sp>
      <p:sp>
        <p:nvSpPr>
          <p:cNvPr id="3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Besoins fonctionnels et non fonctionnels</a:t>
            </a:r>
          </a:p>
        </p:txBody>
      </p:sp>
      <p:sp>
        <p:nvSpPr>
          <p:cNvPr id="3" name="carte Besoins fonctionnels"/>
          <p:cNvSpPr/>
          <p:nvPr/>
        </p:nvSpPr>
        <p:spPr>
          <a:xfrm>
            <a:off x="548640" y="1371600"/>
            <a:ext cx="544068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463040"/>
            <a:ext cx="5166360" cy="548640"/>
          </a:xfrm>
          <a:prstGeom prst="rect">
            <a:avLst/>
          </a:prstGeom>
          <a:noFill/>
        </p:spPr>
        <p:txBody>
          <a:bodyPr wrap="square" anchor="t">
            <a:spAutoFit/>
          </a:bodyPr>
          <a:lstStyle/>
          <a:p>
            <a:pPr algn="l">
              <a:spcAft>
                <a:spcPts val="400"/>
              </a:spcAft>
            </a:pPr>
            <a:r>
              <a:rPr sz="2000" b="1" i="0">
                <a:solidFill>
                  <a:srgbClr val="3B1F52"/>
                </a:solidFill>
                <a:latin typeface="Calibri"/>
              </a:rPr>
              <a:t>Besoins fonctionnels</a:t>
            </a:r>
          </a:p>
        </p:txBody>
      </p:sp>
      <p:sp>
        <p:nvSpPr>
          <p:cNvPr id="5" name="carte-texte"/>
          <p:cNvSpPr txBox="1"/>
          <p:nvPr/>
        </p:nvSpPr>
        <p:spPr>
          <a:xfrm>
            <a:off x="685800" y="2029967"/>
            <a:ext cx="5166360" cy="4096511"/>
          </a:xfrm>
          <a:prstGeom prst="rect">
            <a:avLst/>
          </a:prstGeom>
          <a:noFill/>
        </p:spPr>
        <p:txBody>
          <a:bodyPr wrap="square" anchor="t">
            <a:spAutoFit/>
          </a:bodyPr>
          <a:lstStyle/>
          <a:p>
            <a:pPr algn="l">
              <a:spcAft>
                <a:spcPts val="300"/>
              </a:spcAft>
            </a:pPr>
            <a:r>
              <a:rPr sz="1900" b="0" i="0">
                <a:solidFill>
                  <a:srgbClr val="1E1A24"/>
                </a:solidFill>
                <a:latin typeface="Calibri"/>
              </a:rPr>
              <a:t>Messages texte, réponses, édition, suppression</a:t>
            </a:r>
          </a:p>
          <a:p>
            <a:pPr algn="l">
              <a:spcAft>
                <a:spcPts val="300"/>
              </a:spcAft>
            </a:pPr>
            <a:r>
              <a:rPr sz="1900" b="0" i="0">
                <a:solidFill>
                  <a:srgbClr val="1E1A24"/>
                </a:solidFill>
                <a:latin typeface="Calibri"/>
              </a:rPr>
              <a:t>Stickers, émojis, réactions</a:t>
            </a:r>
          </a:p>
          <a:p>
            <a:pPr algn="l">
              <a:spcAft>
                <a:spcPts val="300"/>
              </a:spcAft>
            </a:pPr>
            <a:r>
              <a:rPr sz="1900" b="0" i="0">
                <a:solidFill>
                  <a:srgbClr val="1E1A24"/>
                </a:solidFill>
                <a:latin typeface="Calibri"/>
              </a:rPr>
              <a:t>Photos et messages vocaux</a:t>
            </a:r>
          </a:p>
          <a:p>
            <a:pPr algn="l">
              <a:spcAft>
                <a:spcPts val="300"/>
              </a:spcAft>
            </a:pPr>
            <a:r>
              <a:rPr sz="1900" b="0" i="0">
                <a:solidFill>
                  <a:srgbClr val="1E1A24"/>
                </a:solidFill>
                <a:latin typeface="Calibri"/>
              </a:rPr>
              <a:t>Appels audio et vidéo, sonnerie, historique</a:t>
            </a:r>
          </a:p>
          <a:p>
            <a:pPr algn="l">
              <a:spcAft>
                <a:spcPts val="300"/>
              </a:spcAft>
            </a:pPr>
            <a:r>
              <a:rPr sz="1900" b="0" i="0">
                <a:solidFill>
                  <a:srgbClr val="1E1A24"/>
                </a:solidFill>
                <a:latin typeface="Calibri"/>
              </a:rPr>
              <a:t>Poursuivre l’appel hors de l’écran d’appel</a:t>
            </a:r>
          </a:p>
          <a:p>
            <a:pPr algn="l">
              <a:spcAft>
                <a:spcPts val="300"/>
              </a:spcAft>
            </a:pPr>
            <a:r>
              <a:rPr sz="1900" b="0" i="0">
                <a:solidFill>
                  <a:srgbClr val="1E1A24"/>
                </a:solidFill>
                <a:latin typeface="Calibri"/>
              </a:rPr>
              <a:t>Notifications hors application</a:t>
            </a:r>
          </a:p>
          <a:p>
            <a:pPr algn="l">
              <a:spcAft>
                <a:spcPts val="300"/>
              </a:spcAft>
            </a:pPr>
            <a:r>
              <a:rPr sz="1900" b="0" i="0">
                <a:solidFill>
                  <a:srgbClr val="1E1A24"/>
                </a:solidFill>
                <a:latin typeface="Calibri"/>
              </a:rPr>
              <a:t>Persistance et rattrapage</a:t>
            </a:r>
          </a:p>
        </p:txBody>
      </p:sp>
      <p:sp>
        <p:nvSpPr>
          <p:cNvPr id="6" name="carte Besoins non fonction"/>
          <p:cNvSpPr/>
          <p:nvPr/>
        </p:nvSpPr>
        <p:spPr>
          <a:xfrm>
            <a:off x="6199632" y="1371600"/>
            <a:ext cx="5440680" cy="484632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te-titre"/>
          <p:cNvSpPr txBox="1"/>
          <p:nvPr/>
        </p:nvSpPr>
        <p:spPr>
          <a:xfrm>
            <a:off x="6336792" y="1463040"/>
            <a:ext cx="5166360" cy="548640"/>
          </a:xfrm>
          <a:prstGeom prst="rect">
            <a:avLst/>
          </a:prstGeom>
          <a:noFill/>
        </p:spPr>
        <p:txBody>
          <a:bodyPr wrap="square" anchor="t">
            <a:spAutoFit/>
          </a:bodyPr>
          <a:lstStyle/>
          <a:p>
            <a:pPr algn="l">
              <a:spcAft>
                <a:spcPts val="400"/>
              </a:spcAft>
            </a:pPr>
            <a:r>
              <a:rPr sz="2000" b="1" i="0">
                <a:solidFill>
                  <a:srgbClr val="2F7F7A"/>
                </a:solidFill>
                <a:latin typeface="Calibri"/>
              </a:rPr>
              <a:t>Besoins non fonctionnels</a:t>
            </a:r>
          </a:p>
        </p:txBody>
      </p:sp>
      <p:sp>
        <p:nvSpPr>
          <p:cNvPr id="8" name="carte-texte"/>
          <p:cNvSpPr txBox="1"/>
          <p:nvPr/>
        </p:nvSpPr>
        <p:spPr>
          <a:xfrm>
            <a:off x="6336792" y="2029967"/>
            <a:ext cx="5166360" cy="4096511"/>
          </a:xfrm>
          <a:prstGeom prst="rect">
            <a:avLst/>
          </a:prstGeom>
          <a:noFill/>
        </p:spPr>
        <p:txBody>
          <a:bodyPr wrap="square" anchor="t">
            <a:spAutoFit/>
          </a:bodyPr>
          <a:lstStyle/>
          <a:p>
            <a:pPr algn="l">
              <a:spcAft>
                <a:spcPts val="300"/>
              </a:spcAft>
            </a:pPr>
            <a:r>
              <a:rPr sz="1900" b="0" i="0">
                <a:solidFill>
                  <a:srgbClr val="1E1A24"/>
                </a:solidFill>
                <a:latin typeface="Calibri"/>
              </a:rPr>
              <a:t>Confidentialité et intégrité</a:t>
            </a:r>
          </a:p>
          <a:p>
            <a:pPr algn="l">
              <a:spcAft>
                <a:spcPts val="300"/>
              </a:spcAft>
            </a:pPr>
            <a:r>
              <a:rPr sz="1900" b="0" i="0">
                <a:solidFill>
                  <a:srgbClr val="1E1A24"/>
                </a:solidFill>
                <a:latin typeface="Calibri"/>
              </a:rPr>
              <a:t>Disponibilité de l’appel et résilience</a:t>
            </a:r>
          </a:p>
          <a:p>
            <a:pPr algn="l">
              <a:spcAft>
                <a:spcPts val="300"/>
              </a:spcAft>
            </a:pPr>
            <a:r>
              <a:rPr sz="1900" b="0" i="0">
                <a:solidFill>
                  <a:srgbClr val="1E1A24"/>
                </a:solidFill>
                <a:latin typeface="Calibri"/>
              </a:rPr>
              <a:t>Faible latence d’établissement</a:t>
            </a:r>
          </a:p>
          <a:p>
            <a:pPr algn="l">
              <a:spcAft>
                <a:spcPts val="300"/>
              </a:spcAft>
            </a:pPr>
            <a:r>
              <a:rPr sz="1900" b="0" i="0">
                <a:solidFill>
                  <a:srgbClr val="1E1A24"/>
                </a:solidFill>
                <a:latin typeface="Calibri"/>
              </a:rPr>
              <a:t>Persistance des échanges</a:t>
            </a:r>
          </a:p>
          <a:p>
            <a:pPr algn="l">
              <a:spcAft>
                <a:spcPts val="300"/>
              </a:spcAft>
            </a:pPr>
            <a:r>
              <a:rPr sz="1900" b="0" i="0">
                <a:solidFill>
                  <a:srgbClr val="1E1A24"/>
                </a:solidFill>
                <a:latin typeface="Calibri"/>
              </a:rPr>
              <a:t>Ergonomie mobile</a:t>
            </a:r>
          </a:p>
          <a:p>
            <a:pPr algn="l">
              <a:spcAft>
                <a:spcPts val="300"/>
              </a:spcAft>
            </a:pPr>
            <a:r>
              <a:rPr sz="1900" b="0" i="0">
                <a:solidFill>
                  <a:srgbClr val="1E1A24"/>
                </a:solidFill>
                <a:latin typeface="Calibri"/>
              </a:rPr>
              <a:t>Notifications sans contenu</a:t>
            </a:r>
          </a:p>
        </p:txBody>
      </p:sp>
      <p:sp>
        <p:nvSpPr>
          <p:cNvPr id="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7</a:t>
            </a:r>
          </a:p>
        </p:txBody>
      </p:sp>
      <p:sp>
        <p:nvSpPr>
          <p:cNvPr id="1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Technologies étudiées et choix retenus</a:t>
            </a:r>
          </a:p>
        </p:txBody>
      </p:sp>
      <p:graphicFrame>
        <p:nvGraphicFramePr>
          <p:cNvPr id="3" name="Table 2"/>
          <p:cNvGraphicFramePr>
            <a:graphicFrameLocks noGrp="1"/>
          </p:cNvGraphicFramePr>
          <p:nvPr/>
        </p:nvGraphicFramePr>
        <p:xfrm>
          <a:off x="548640" y="1371600"/>
          <a:ext cx="11091672" cy="4535424"/>
        </p:xfrm>
        <a:graphic>
          <a:graphicData uri="http://schemas.openxmlformats.org/drawingml/2006/table">
            <a:tbl>
              <a:tblPr firstRow="1" bandRow="1">
                <a:tableStyleId>{5C22544A-7EE6-4342-B048-85BDC9FD1C3A}</a:tableStyleId>
              </a:tblPr>
              <a:tblGrid>
                <a:gridCol w="3291840"/>
                <a:gridCol w="3931920"/>
                <a:gridCol w="3867912"/>
              </a:tblGrid>
              <a:tr h="566928">
                <a:tc>
                  <a:txBody>
                    <a:bodyPr/>
                    <a:lstStyle/>
                    <a:p>
                      <a:r>
                        <a:rPr sz="1500" b="1">
                          <a:solidFill>
                            <a:srgbClr val="FFFFFF"/>
                          </a:solidFill>
                          <a:latin typeface="Calibri"/>
                        </a:rPr>
                        <a:t>Technologie / concept</a:t>
                      </a:r>
                    </a:p>
                  </a:txBody>
                  <a:tcPr>
                    <a:solidFill>
                      <a:srgbClr val="3B1F52"/>
                    </a:solidFill>
                  </a:tcPr>
                </a:tc>
                <a:tc>
                  <a:txBody>
                    <a:bodyPr/>
                    <a:lstStyle/>
                    <a:p>
                      <a:r>
                        <a:rPr sz="1500" b="1">
                          <a:solidFill>
                            <a:srgbClr val="FFFFFF"/>
                          </a:solidFill>
                          <a:latin typeface="Calibri"/>
                        </a:rPr>
                        <a:t>Rôle</a:t>
                      </a:r>
                    </a:p>
                  </a:txBody>
                  <a:tcPr>
                    <a:solidFill>
                      <a:srgbClr val="3B1F52"/>
                    </a:solidFill>
                  </a:tcPr>
                </a:tc>
                <a:tc>
                  <a:txBody>
                    <a:bodyPr/>
                    <a:lstStyle/>
                    <a:p>
                      <a:r>
                        <a:rPr sz="1500" b="1">
                          <a:solidFill>
                            <a:srgbClr val="FFFFFF"/>
                          </a:solidFill>
                          <a:latin typeface="Calibri"/>
                        </a:rPr>
                        <a:t>Choix dans Allyza</a:t>
                      </a:r>
                    </a:p>
                  </a:txBody>
                  <a:tcPr>
                    <a:solidFill>
                      <a:srgbClr val="3B1F52"/>
                    </a:solidFill>
                  </a:tcPr>
                </a:tc>
              </a:tr>
              <a:tr h="566928">
                <a:tc>
                  <a:txBody>
                    <a:bodyPr/>
                    <a:lstStyle/>
                    <a:p>
                      <a:r>
                        <a:rPr sz="1400" b="1">
                          <a:solidFill>
                            <a:srgbClr val="1E1A24"/>
                          </a:solidFill>
                          <a:latin typeface="Calibri"/>
                        </a:rPr>
                        <a:t>WebSocket / Realtime</a:t>
                      </a:r>
                    </a:p>
                  </a:txBody>
                  <a:tcPr anchor="ctr">
                    <a:solidFill>
                      <a:srgbClr val="F3EDF8"/>
                    </a:solidFill>
                  </a:tcPr>
                </a:tc>
                <a:tc>
                  <a:txBody>
                    <a:bodyPr/>
                    <a:lstStyle/>
                    <a:p>
                      <a:r>
                        <a:rPr sz="1400" b="0">
                          <a:solidFill>
                            <a:srgbClr val="1E1A24"/>
                          </a:solidFill>
                          <a:latin typeface="Calibri"/>
                        </a:rPr>
                        <a:t>Événements poussés</a:t>
                      </a:r>
                    </a:p>
                  </a:txBody>
                  <a:tcPr anchor="ctr">
                    <a:solidFill>
                      <a:srgbClr val="F3EDF8"/>
                    </a:solidFill>
                  </a:tcPr>
                </a:tc>
                <a:tc>
                  <a:txBody>
                    <a:bodyPr/>
                    <a:lstStyle/>
                    <a:p>
                      <a:r>
                        <a:rPr sz="1400" b="0">
                          <a:solidFill>
                            <a:srgbClr val="1E1A24"/>
                          </a:solidFill>
                          <a:latin typeface="Calibri"/>
                        </a:rPr>
                        <a:t>postgres_changes + diffusion privée</a:t>
                      </a:r>
                    </a:p>
                  </a:txBody>
                  <a:tcPr anchor="ctr">
                    <a:solidFill>
                      <a:srgbClr val="F3EDF8"/>
                    </a:solidFill>
                  </a:tcPr>
                </a:tc>
              </a:tr>
              <a:tr h="566928">
                <a:tc>
                  <a:txBody>
                    <a:bodyPr/>
                    <a:lstStyle/>
                    <a:p>
                      <a:r>
                        <a:rPr sz="1400" b="1">
                          <a:solidFill>
                            <a:srgbClr val="1E1A24"/>
                          </a:solidFill>
                          <a:latin typeface="Calibri"/>
                        </a:rPr>
                        <a:t>WebRTC</a:t>
                      </a:r>
                    </a:p>
                  </a:txBody>
                  <a:tcPr anchor="ctr">
                    <a:solidFill>
                      <a:srgbClr val="FFFFFF"/>
                    </a:solidFill>
                  </a:tcPr>
                </a:tc>
                <a:tc>
                  <a:txBody>
                    <a:bodyPr/>
                    <a:lstStyle/>
                    <a:p>
                      <a:r>
                        <a:rPr sz="1400" b="0">
                          <a:solidFill>
                            <a:srgbClr val="1E1A24"/>
                          </a:solidFill>
                          <a:latin typeface="Calibri"/>
                        </a:rPr>
                        <a:t>Média pair-à-pair chiffré (DTLS-SRTP)</a:t>
                      </a:r>
                    </a:p>
                  </a:txBody>
                  <a:tcPr anchor="ctr">
                    <a:solidFill>
                      <a:srgbClr val="FFFFFF"/>
                    </a:solidFill>
                  </a:tcPr>
                </a:tc>
                <a:tc>
                  <a:txBody>
                    <a:bodyPr/>
                    <a:lstStyle/>
                    <a:p>
                      <a:r>
                        <a:rPr sz="1400" b="0">
                          <a:solidFill>
                            <a:srgbClr val="1E1A24"/>
                          </a:solidFill>
                          <a:latin typeface="Calibri"/>
                        </a:rPr>
                        <a:t>RTCPeerConnection, offre/réponse</a:t>
                      </a:r>
                    </a:p>
                  </a:txBody>
                  <a:tcPr anchor="ctr">
                    <a:solidFill>
                      <a:srgbClr val="FFFFFF"/>
                    </a:solidFill>
                  </a:tcPr>
                </a:tc>
              </a:tr>
              <a:tr h="566928">
                <a:tc>
                  <a:txBody>
                    <a:bodyPr/>
                    <a:lstStyle/>
                    <a:p>
                      <a:r>
                        <a:rPr sz="1400" b="1">
                          <a:solidFill>
                            <a:srgbClr val="1E1A24"/>
                          </a:solidFill>
                          <a:latin typeface="Calibri"/>
                        </a:rPr>
                        <a:t>Signalisation</a:t>
                      </a:r>
                    </a:p>
                  </a:txBody>
                  <a:tcPr anchor="ctr">
                    <a:solidFill>
                      <a:srgbClr val="F3EDF8"/>
                    </a:solidFill>
                  </a:tcPr>
                </a:tc>
                <a:tc>
                  <a:txBody>
                    <a:bodyPr/>
                    <a:lstStyle/>
                    <a:p>
                      <a:r>
                        <a:rPr sz="1400" b="0">
                          <a:solidFill>
                            <a:srgbClr val="1E1A24"/>
                          </a:solidFill>
                          <a:latin typeface="Calibri"/>
                        </a:rPr>
                        <a:t>Hors norme : à fournir</a:t>
                      </a:r>
                    </a:p>
                  </a:txBody>
                  <a:tcPr anchor="ctr">
                    <a:solidFill>
                      <a:srgbClr val="F3EDF8"/>
                    </a:solidFill>
                  </a:tcPr>
                </a:tc>
                <a:tc>
                  <a:txBody>
                    <a:bodyPr/>
                    <a:lstStyle/>
                    <a:p>
                      <a:r>
                        <a:rPr sz="1400" b="0">
                          <a:solidFill>
                            <a:srgbClr val="1E1A24"/>
                          </a:solidFill>
                          <a:latin typeface="Calibri"/>
                        </a:rPr>
                        <a:t>Canal de diffusion + table calls</a:t>
                      </a:r>
                    </a:p>
                  </a:txBody>
                  <a:tcPr anchor="ctr">
                    <a:solidFill>
                      <a:srgbClr val="F3EDF8"/>
                    </a:solidFill>
                  </a:tcPr>
                </a:tc>
              </a:tr>
              <a:tr h="566928">
                <a:tc>
                  <a:txBody>
                    <a:bodyPr/>
                    <a:lstStyle/>
                    <a:p>
                      <a:r>
                        <a:rPr sz="1400" b="1">
                          <a:solidFill>
                            <a:srgbClr val="1E1A24"/>
                          </a:solidFill>
                          <a:latin typeface="Calibri"/>
                        </a:rPr>
                        <a:t>STUN / TURN / ICE</a:t>
                      </a:r>
                    </a:p>
                  </a:txBody>
                  <a:tcPr anchor="ctr">
                    <a:solidFill>
                      <a:srgbClr val="FFFFFF"/>
                    </a:solidFill>
                  </a:tcPr>
                </a:tc>
                <a:tc>
                  <a:txBody>
                    <a:bodyPr/>
                    <a:lstStyle/>
                    <a:p>
                      <a:r>
                        <a:rPr sz="1400" b="0">
                          <a:solidFill>
                            <a:srgbClr val="1E1A24"/>
                          </a:solidFill>
                          <a:latin typeface="Calibri"/>
                        </a:rPr>
                        <a:t>Traversée de NAT, relais</a:t>
                      </a:r>
                    </a:p>
                  </a:txBody>
                  <a:tcPr anchor="ctr">
                    <a:solidFill>
                      <a:srgbClr val="FFFFFF"/>
                    </a:solidFill>
                  </a:tcPr>
                </a:tc>
                <a:tc>
                  <a:txBody>
                    <a:bodyPr/>
                    <a:lstStyle/>
                    <a:p>
                      <a:r>
                        <a:rPr sz="1400" b="0">
                          <a:solidFill>
                            <a:srgbClr val="1E1A24"/>
                          </a:solidFill>
                          <a:latin typeface="Calibri"/>
                        </a:rPr>
                        <a:t>TURN Cloudflare (identifiants éphémères)</a:t>
                      </a:r>
                    </a:p>
                  </a:txBody>
                  <a:tcPr anchor="ctr">
                    <a:solidFill>
                      <a:srgbClr val="FFFFFF"/>
                    </a:solidFill>
                  </a:tcPr>
                </a:tc>
              </a:tr>
              <a:tr h="566928">
                <a:tc>
                  <a:txBody>
                    <a:bodyPr/>
                    <a:lstStyle/>
                    <a:p>
                      <a:r>
                        <a:rPr sz="1400" b="1">
                          <a:solidFill>
                            <a:srgbClr val="1E1A24"/>
                          </a:solidFill>
                          <a:latin typeface="Calibri"/>
                        </a:rPr>
                        <a:t>HTTPS / TLS</a:t>
                      </a:r>
                    </a:p>
                  </a:txBody>
                  <a:tcPr anchor="ctr">
                    <a:solidFill>
                      <a:srgbClr val="F3EDF8"/>
                    </a:solidFill>
                  </a:tcPr>
                </a:tc>
                <a:tc>
                  <a:txBody>
                    <a:bodyPr/>
                    <a:lstStyle/>
                    <a:p>
                      <a:r>
                        <a:rPr sz="1400" b="0">
                          <a:solidFill>
                            <a:srgbClr val="1E1A24"/>
                          </a:solidFill>
                          <a:latin typeface="Calibri"/>
                        </a:rPr>
                        <a:t>Transit seulement</a:t>
                      </a:r>
                    </a:p>
                  </a:txBody>
                  <a:tcPr anchor="ctr">
                    <a:solidFill>
                      <a:srgbClr val="F3EDF8"/>
                    </a:solidFill>
                  </a:tcPr>
                </a:tc>
                <a:tc>
                  <a:txBody>
                    <a:bodyPr/>
                    <a:lstStyle/>
                    <a:p>
                      <a:r>
                        <a:rPr sz="1400" b="0">
                          <a:solidFill>
                            <a:srgbClr val="1E1A24"/>
                          </a:solidFill>
                          <a:latin typeface="Calibri"/>
                        </a:rPr>
                        <a:t>Assuré par Vercel et Supabase</a:t>
                      </a:r>
                    </a:p>
                  </a:txBody>
                  <a:tcPr anchor="ctr">
                    <a:solidFill>
                      <a:srgbClr val="F3EDF8"/>
                    </a:solidFill>
                  </a:tcPr>
                </a:tc>
              </a:tr>
              <a:tr h="566928">
                <a:tc>
                  <a:txBody>
                    <a:bodyPr/>
                    <a:lstStyle/>
                    <a:p>
                      <a:r>
                        <a:rPr sz="1400" b="1">
                          <a:solidFill>
                            <a:srgbClr val="1E1A24"/>
                          </a:solidFill>
                          <a:latin typeface="Calibri"/>
                        </a:rPr>
                        <a:t>Web Push</a:t>
                      </a:r>
                    </a:p>
                  </a:txBody>
                  <a:tcPr anchor="ctr">
                    <a:solidFill>
                      <a:srgbClr val="FFFFFF"/>
                    </a:solidFill>
                  </a:tcPr>
                </a:tc>
                <a:tc>
                  <a:txBody>
                    <a:bodyPr/>
                    <a:lstStyle/>
                    <a:p>
                      <a:r>
                        <a:rPr sz="1400" b="0">
                          <a:solidFill>
                            <a:srgbClr val="1E1A24"/>
                          </a:solidFill>
                          <a:latin typeface="Calibri"/>
                        </a:rPr>
                        <a:t>Notifier hors application</a:t>
                      </a:r>
                    </a:p>
                  </a:txBody>
                  <a:tcPr anchor="ctr">
                    <a:solidFill>
                      <a:srgbClr val="FFFFFF"/>
                    </a:solidFill>
                  </a:tcPr>
                </a:tc>
                <a:tc>
                  <a:txBody>
                    <a:bodyPr/>
                    <a:lstStyle/>
                    <a:p>
                      <a:r>
                        <a:rPr sz="1400" b="0">
                          <a:solidFill>
                            <a:srgbClr val="1E1A24"/>
                          </a:solidFill>
                          <a:latin typeface="Calibri"/>
                        </a:rPr>
                        <a:t>VAPID, Service Worker, after()</a:t>
                      </a:r>
                    </a:p>
                  </a:txBody>
                  <a:tcPr anchor="ctr">
                    <a:solidFill>
                      <a:srgbClr val="FFFFFF"/>
                    </a:solidFill>
                  </a:tcPr>
                </a:tc>
              </a:tr>
              <a:tr h="566928">
                <a:tc>
                  <a:txBody>
                    <a:bodyPr/>
                    <a:lstStyle/>
                    <a:p>
                      <a:r>
                        <a:rPr sz="1400" b="1">
                          <a:solidFill>
                            <a:srgbClr val="1E1A24"/>
                          </a:solidFill>
                          <a:latin typeface="Calibri"/>
                        </a:rPr>
                        <a:t>Services cloud</a:t>
                      </a:r>
                    </a:p>
                  </a:txBody>
                  <a:tcPr anchor="ctr">
                    <a:solidFill>
                      <a:srgbClr val="F3EDF8"/>
                    </a:solidFill>
                  </a:tcPr>
                </a:tc>
                <a:tc>
                  <a:txBody>
                    <a:bodyPr/>
                    <a:lstStyle/>
                    <a:p>
                      <a:r>
                        <a:rPr sz="1400" b="0">
                          <a:solidFill>
                            <a:srgbClr val="1E1A24"/>
                          </a:solidFill>
                          <a:latin typeface="Calibri"/>
                        </a:rPr>
                        <a:t>Backend géré</a:t>
                      </a:r>
                    </a:p>
                  </a:txBody>
                  <a:tcPr anchor="ctr">
                    <a:solidFill>
                      <a:srgbClr val="F3EDF8"/>
                    </a:solidFill>
                  </a:tcPr>
                </a:tc>
                <a:tc>
                  <a:txBody>
                    <a:bodyPr/>
                    <a:lstStyle/>
                    <a:p>
                      <a:r>
                        <a:rPr sz="1400" b="0">
                          <a:solidFill>
                            <a:srgbClr val="1E1A24"/>
                          </a:solidFill>
                          <a:latin typeface="Calibri"/>
                        </a:rPr>
                        <a:t>Supabase + Vercel + TURN</a:t>
                      </a:r>
                    </a:p>
                  </a:txBody>
                  <a:tcPr anchor="ctr">
                    <a:solidFill>
                      <a:srgbClr val="F3EDF8"/>
                    </a:solidFill>
                  </a:tcPr>
                </a:tc>
              </a:tr>
            </a:tbl>
          </a:graphicData>
        </a:graphic>
      </p:graphicFrame>
      <p:sp>
        <p:nvSpPr>
          <p:cNvPr id="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8</a:t>
            </a:r>
          </a:p>
        </p:txBody>
      </p:sp>
      <p:sp>
        <p:nvSpPr>
          <p:cNvPr id="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Architecture actuelle : composants présents dans le dépôt</a:t>
            </a:r>
          </a:p>
        </p:txBody>
      </p:sp>
      <p:pic>
        <p:nvPicPr>
          <p:cNvPr id="3" name="Picture 2" descr="architecture-actuelle.png"/>
          <p:cNvPicPr>
            <a:picLocks noChangeAspect="1"/>
          </p:cNvPicPr>
          <p:nvPr/>
        </p:nvPicPr>
        <p:blipFill>
          <a:blip r:embed="rId2"/>
          <a:stretch>
            <a:fillRect/>
          </a:stretch>
        </p:blipFill>
        <p:spPr>
          <a:xfrm>
            <a:off x="729041" y="1280160"/>
            <a:ext cx="7137277" cy="5029200"/>
          </a:xfrm>
          <a:prstGeom prst="rect">
            <a:avLst/>
          </a:prstGeom>
        </p:spPr>
      </p:pic>
      <p:sp>
        <p:nvSpPr>
          <p:cNvPr id="4" name="texte"/>
          <p:cNvSpPr txBox="1"/>
          <p:nvPr/>
        </p:nvSpPr>
        <p:spPr>
          <a:xfrm>
            <a:off x="8321040" y="1371600"/>
            <a:ext cx="3383280" cy="4754880"/>
          </a:xfrm>
          <a:prstGeom prst="rect">
            <a:avLst/>
          </a:prstGeom>
          <a:noFill/>
        </p:spPr>
        <p:txBody>
          <a:bodyPr wrap="square" anchor="t">
            <a:spAutoFit/>
          </a:bodyPr>
          <a:lstStyle/>
          <a:p>
            <a:pPr algn="l">
              <a:spcAft>
                <a:spcPts val="900"/>
              </a:spcAft>
            </a:pPr>
            <a:r>
              <a:rPr sz="1800" b="1" i="0">
                <a:solidFill>
                  <a:srgbClr val="3B1F52"/>
                </a:solidFill>
                <a:latin typeface="Calibri"/>
              </a:rPr>
              <a:t>Quatre types de flux</a:t>
            </a:r>
          </a:p>
          <a:p>
            <a:pPr algn="l">
              <a:spcAft>
                <a:spcPts val="900"/>
              </a:spcAft>
            </a:pPr>
            <a:r>
              <a:rPr sz="1700" b="0" i="0">
                <a:solidFill>
                  <a:srgbClr val="1E1A24"/>
                </a:solidFill>
                <a:latin typeface="Calibri"/>
              </a:rPr>
              <a:t>Données : HTTPS vers l’application serveur, SQL sous RLS.</a:t>
            </a:r>
          </a:p>
          <a:p>
            <a:pPr algn="l">
              <a:spcAft>
                <a:spcPts val="900"/>
              </a:spcAft>
            </a:pPr>
            <a:r>
              <a:rPr sz="1700" b="0" i="0">
                <a:solidFill>
                  <a:srgbClr val="1E1A24"/>
                </a:solidFill>
                <a:latin typeface="Calibri"/>
              </a:rPr>
              <a:t>Signalisation : diffusion privée Supabase.</a:t>
            </a:r>
          </a:p>
          <a:p>
            <a:pPr algn="l">
              <a:spcAft>
                <a:spcPts val="900"/>
              </a:spcAft>
            </a:pPr>
            <a:r>
              <a:rPr sz="1700" b="0" i="0">
                <a:solidFill>
                  <a:srgbClr val="1E1A24"/>
                </a:solidFill>
                <a:latin typeface="Calibri"/>
              </a:rPr>
              <a:t>Média : pair-à-pair, relais TURN si besoin.</a:t>
            </a:r>
          </a:p>
          <a:p>
            <a:pPr algn="l">
              <a:spcAft>
                <a:spcPts val="900"/>
              </a:spcAft>
            </a:pPr>
            <a:r>
              <a:rPr sz="1700" b="0" i="0">
                <a:solidFill>
                  <a:srgbClr val="1E1A24"/>
                </a:solidFill>
                <a:latin typeface="Calibri"/>
              </a:rPr>
              <a:t>Notifications : Web Push.</a:t>
            </a:r>
          </a:p>
          <a:p>
            <a:pPr algn="l">
              <a:spcAft>
                <a:spcPts val="900"/>
              </a:spcAft>
            </a:pPr>
            <a:r>
              <a:rPr sz="1700" b="0" i="1">
                <a:solidFill>
                  <a:srgbClr val="6B6575"/>
                </a:solidFill>
                <a:latin typeface="Calibri"/>
              </a:rPr>
              <a:t>Pas de serveur de signalisation ni de serveur média propre.</a:t>
            </a:r>
          </a:p>
        </p:txBody>
      </p:sp>
      <p:sp>
        <p:nvSpPr>
          <p:cNvPr id="5"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9</a:t>
            </a:r>
          </a:p>
        </p:txBody>
      </p:sp>
      <p:sp>
        <p:nvSpPr>
          <p:cNvPr id="6"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Module Messagerie : trois chemins pour trois trafics</a:t>
            </a:r>
          </a:p>
        </p:txBody>
      </p:sp>
      <p:sp>
        <p:nvSpPr>
          <p:cNvPr id="3" name="Rounded Rectangle 2"/>
          <p:cNvSpPr/>
          <p:nvPr/>
        </p:nvSpPr>
        <p:spPr>
          <a:xfrm>
            <a:off x="548640" y="1371600"/>
            <a:ext cx="356616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731520" y="1508760"/>
            <a:ext cx="3200400" cy="502920"/>
          </a:xfrm>
          <a:prstGeom prst="rect">
            <a:avLst/>
          </a:prstGeom>
          <a:noFill/>
        </p:spPr>
        <p:txBody>
          <a:bodyPr wrap="square" anchor="t">
            <a:spAutoFit/>
          </a:bodyPr>
          <a:lstStyle/>
          <a:p>
            <a:pPr algn="l">
              <a:spcAft>
                <a:spcPts val="400"/>
              </a:spcAft>
            </a:pPr>
            <a:r>
              <a:rPr sz="2200" b="1" i="0">
                <a:solidFill>
                  <a:srgbClr val="3B1F52"/>
                </a:solidFill>
                <a:latin typeface="Cambria"/>
              </a:rPr>
              <a:t>Transactionnel</a:t>
            </a:r>
          </a:p>
        </p:txBody>
      </p:sp>
      <p:sp>
        <p:nvSpPr>
          <p:cNvPr id="5" name="texte"/>
          <p:cNvSpPr txBox="1"/>
          <p:nvPr/>
        </p:nvSpPr>
        <p:spPr>
          <a:xfrm>
            <a:off x="731520" y="2057400"/>
            <a:ext cx="3200400" cy="411480"/>
          </a:xfrm>
          <a:prstGeom prst="rect">
            <a:avLst/>
          </a:prstGeom>
          <a:noFill/>
        </p:spPr>
        <p:txBody>
          <a:bodyPr wrap="square" anchor="t">
            <a:spAutoFit/>
          </a:bodyPr>
          <a:lstStyle/>
          <a:p>
            <a:pPr algn="l">
              <a:spcAft>
                <a:spcPts val="400"/>
              </a:spcAft>
            </a:pPr>
            <a:r>
              <a:rPr sz="1600" b="0" i="0">
                <a:solidFill>
                  <a:srgbClr val="6B6575"/>
                </a:solidFill>
                <a:latin typeface="Calibri"/>
              </a:rPr>
              <a:t>Texte, réactions, lecture</a:t>
            </a:r>
          </a:p>
        </p:txBody>
      </p:sp>
      <p:sp>
        <p:nvSpPr>
          <p:cNvPr id="6" name="texte"/>
          <p:cNvSpPr txBox="1"/>
          <p:nvPr/>
        </p:nvSpPr>
        <p:spPr>
          <a:xfrm>
            <a:off x="731520" y="2743200"/>
            <a:ext cx="3200400" cy="3383280"/>
          </a:xfrm>
          <a:prstGeom prst="rect">
            <a:avLst/>
          </a:prstGeom>
          <a:noFill/>
        </p:spPr>
        <p:txBody>
          <a:bodyPr wrap="square" anchor="t">
            <a:spAutoFit/>
          </a:bodyPr>
          <a:lstStyle/>
          <a:p>
            <a:pPr algn="l">
              <a:spcAft>
                <a:spcPts val="1200"/>
              </a:spcAft>
            </a:pPr>
            <a:r>
              <a:rPr sz="1900" b="0" i="0">
                <a:solidFill>
                  <a:srgbClr val="1E1A24"/>
                </a:solidFill>
                <a:latin typeface="Calibri"/>
              </a:rPr>
              <a:t>• Action serveur (zod, débit)</a:t>
            </a:r>
          </a:p>
          <a:p>
            <a:pPr algn="l">
              <a:spcAft>
                <a:spcPts val="1200"/>
              </a:spcAft>
            </a:pPr>
            <a:r>
              <a:rPr sz="1900" b="0" i="0">
                <a:solidFill>
                  <a:srgbClr val="1E1A24"/>
                </a:solidFill>
                <a:latin typeface="Calibri"/>
              </a:rPr>
              <a:t>• INSERT sous RLS</a:t>
            </a:r>
          </a:p>
          <a:p>
            <a:pPr algn="l">
              <a:spcAft>
                <a:spcPts val="1200"/>
              </a:spcAft>
            </a:pPr>
            <a:r>
              <a:rPr sz="1900" b="0" i="0">
                <a:solidFill>
                  <a:srgbClr val="1E1A24"/>
                </a:solidFill>
                <a:latin typeface="Calibri"/>
              </a:rPr>
              <a:t>• postgres_changes</a:t>
            </a:r>
          </a:p>
          <a:p>
            <a:pPr algn="l">
              <a:spcAft>
                <a:spcPts val="1200"/>
              </a:spcAft>
            </a:pPr>
            <a:r>
              <a:rPr sz="1900" b="0" i="0">
                <a:solidFill>
                  <a:srgbClr val="1E1A24"/>
                </a:solidFill>
                <a:latin typeface="Calibri"/>
              </a:rPr>
              <a:t>• Rattrapage à la reprise</a:t>
            </a:r>
          </a:p>
        </p:txBody>
      </p:sp>
      <p:sp>
        <p:nvSpPr>
          <p:cNvPr id="7" name="Rounded Rectangle 6"/>
          <p:cNvSpPr/>
          <p:nvPr/>
        </p:nvSpPr>
        <p:spPr>
          <a:xfrm>
            <a:off x="4270248" y="1371600"/>
            <a:ext cx="356616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e"/>
          <p:cNvSpPr txBox="1"/>
          <p:nvPr/>
        </p:nvSpPr>
        <p:spPr>
          <a:xfrm>
            <a:off x="4453128" y="1508760"/>
            <a:ext cx="3200400" cy="502920"/>
          </a:xfrm>
          <a:prstGeom prst="rect">
            <a:avLst/>
          </a:prstGeom>
          <a:noFill/>
        </p:spPr>
        <p:txBody>
          <a:bodyPr wrap="square" anchor="t">
            <a:spAutoFit/>
          </a:bodyPr>
          <a:lstStyle/>
          <a:p>
            <a:pPr algn="l">
              <a:spcAft>
                <a:spcPts val="400"/>
              </a:spcAft>
            </a:pPr>
            <a:r>
              <a:rPr sz="2200" b="1" i="0">
                <a:solidFill>
                  <a:srgbClr val="3B1F52"/>
                </a:solidFill>
                <a:latin typeface="Cambria"/>
              </a:rPr>
              <a:t>Médias différés</a:t>
            </a:r>
          </a:p>
        </p:txBody>
      </p:sp>
      <p:sp>
        <p:nvSpPr>
          <p:cNvPr id="9" name="texte"/>
          <p:cNvSpPr txBox="1"/>
          <p:nvPr/>
        </p:nvSpPr>
        <p:spPr>
          <a:xfrm>
            <a:off x="4453128" y="2057400"/>
            <a:ext cx="3200400" cy="411480"/>
          </a:xfrm>
          <a:prstGeom prst="rect">
            <a:avLst/>
          </a:prstGeom>
          <a:noFill/>
        </p:spPr>
        <p:txBody>
          <a:bodyPr wrap="square" anchor="t">
            <a:spAutoFit/>
          </a:bodyPr>
          <a:lstStyle/>
          <a:p>
            <a:pPr algn="l">
              <a:spcAft>
                <a:spcPts val="400"/>
              </a:spcAft>
            </a:pPr>
            <a:r>
              <a:rPr sz="1600" b="0" i="0">
                <a:solidFill>
                  <a:srgbClr val="6B6575"/>
                </a:solidFill>
                <a:latin typeface="Calibri"/>
              </a:rPr>
              <a:t>Photos, vocaux</a:t>
            </a:r>
          </a:p>
        </p:txBody>
      </p:sp>
      <p:sp>
        <p:nvSpPr>
          <p:cNvPr id="10" name="texte"/>
          <p:cNvSpPr txBox="1"/>
          <p:nvPr/>
        </p:nvSpPr>
        <p:spPr>
          <a:xfrm>
            <a:off x="4453128" y="2743200"/>
            <a:ext cx="3200400" cy="3383280"/>
          </a:xfrm>
          <a:prstGeom prst="rect">
            <a:avLst/>
          </a:prstGeom>
          <a:noFill/>
        </p:spPr>
        <p:txBody>
          <a:bodyPr wrap="square" anchor="t">
            <a:spAutoFit/>
          </a:bodyPr>
          <a:lstStyle/>
          <a:p>
            <a:pPr algn="l">
              <a:spcAft>
                <a:spcPts val="1200"/>
              </a:spcAft>
            </a:pPr>
            <a:r>
              <a:rPr sz="1900" b="0" i="0">
                <a:solidFill>
                  <a:srgbClr val="1E1A24"/>
                </a:solidFill>
                <a:latin typeface="Calibri"/>
              </a:rPr>
              <a:t>• Redimensionnement, EXIF retiré</a:t>
            </a:r>
          </a:p>
          <a:p>
            <a:pPr algn="l">
              <a:spcAft>
                <a:spcPts val="1200"/>
              </a:spcAft>
            </a:pPr>
            <a:r>
              <a:rPr sz="1900" b="0" i="0">
                <a:solidFill>
                  <a:srgbClr val="1E1A24"/>
                </a:solidFill>
                <a:latin typeface="Calibri"/>
              </a:rPr>
              <a:t>• Téléversement direct</a:t>
            </a:r>
          </a:p>
          <a:p>
            <a:pPr algn="l">
              <a:spcAft>
                <a:spcPts val="1200"/>
              </a:spcAft>
            </a:pPr>
            <a:r>
              <a:rPr sz="1900" b="0" i="0">
                <a:solidFill>
                  <a:srgbClr val="1E1A24"/>
                </a:solidFill>
                <a:latin typeface="Calibri"/>
              </a:rPr>
              <a:t>• Chemin validé côté serveur</a:t>
            </a:r>
          </a:p>
          <a:p>
            <a:pPr algn="l">
              <a:spcAft>
                <a:spcPts val="1200"/>
              </a:spcAft>
            </a:pPr>
            <a:r>
              <a:rPr sz="1900" b="0" i="0">
                <a:solidFill>
                  <a:srgbClr val="1E1A24"/>
                </a:solidFill>
                <a:latin typeface="Calibri"/>
              </a:rPr>
              <a:t>• URL signées 1 h</a:t>
            </a:r>
          </a:p>
        </p:txBody>
      </p:sp>
      <p:sp>
        <p:nvSpPr>
          <p:cNvPr id="11" name="Rounded Rectangle 10"/>
          <p:cNvSpPr/>
          <p:nvPr/>
        </p:nvSpPr>
        <p:spPr>
          <a:xfrm>
            <a:off x="7991856" y="1371600"/>
            <a:ext cx="3566160" cy="484632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e"/>
          <p:cNvSpPr txBox="1"/>
          <p:nvPr/>
        </p:nvSpPr>
        <p:spPr>
          <a:xfrm>
            <a:off x="8174736" y="1508760"/>
            <a:ext cx="3200400" cy="502920"/>
          </a:xfrm>
          <a:prstGeom prst="rect">
            <a:avLst/>
          </a:prstGeom>
          <a:noFill/>
        </p:spPr>
        <p:txBody>
          <a:bodyPr wrap="square" anchor="t">
            <a:spAutoFit/>
          </a:bodyPr>
          <a:lstStyle/>
          <a:p>
            <a:pPr algn="l">
              <a:spcAft>
                <a:spcPts val="400"/>
              </a:spcAft>
            </a:pPr>
            <a:r>
              <a:rPr sz="2200" b="1" i="0">
                <a:solidFill>
                  <a:srgbClr val="2F7F7A"/>
                </a:solidFill>
                <a:latin typeface="Cambria"/>
              </a:rPr>
              <a:t>Temps réel</a:t>
            </a:r>
          </a:p>
        </p:txBody>
      </p:sp>
      <p:sp>
        <p:nvSpPr>
          <p:cNvPr id="13" name="texte"/>
          <p:cNvSpPr txBox="1"/>
          <p:nvPr/>
        </p:nvSpPr>
        <p:spPr>
          <a:xfrm>
            <a:off x="8174736" y="2057400"/>
            <a:ext cx="3200400" cy="411480"/>
          </a:xfrm>
          <a:prstGeom prst="rect">
            <a:avLst/>
          </a:prstGeom>
          <a:noFill/>
        </p:spPr>
        <p:txBody>
          <a:bodyPr wrap="square" anchor="t">
            <a:spAutoFit/>
          </a:bodyPr>
          <a:lstStyle/>
          <a:p>
            <a:pPr algn="l">
              <a:spcAft>
                <a:spcPts val="400"/>
              </a:spcAft>
            </a:pPr>
            <a:r>
              <a:rPr sz="1600" b="0" i="0">
                <a:solidFill>
                  <a:srgbClr val="6B6575"/>
                </a:solidFill>
                <a:latin typeface="Calibri"/>
              </a:rPr>
              <a:t>Appels audio et vidéo</a:t>
            </a:r>
          </a:p>
        </p:txBody>
      </p:sp>
      <p:sp>
        <p:nvSpPr>
          <p:cNvPr id="14" name="texte"/>
          <p:cNvSpPr txBox="1"/>
          <p:nvPr/>
        </p:nvSpPr>
        <p:spPr>
          <a:xfrm>
            <a:off x="8174736" y="2743200"/>
            <a:ext cx="3200400" cy="3383280"/>
          </a:xfrm>
          <a:prstGeom prst="rect">
            <a:avLst/>
          </a:prstGeom>
          <a:noFill/>
        </p:spPr>
        <p:txBody>
          <a:bodyPr wrap="square" anchor="t">
            <a:spAutoFit/>
          </a:bodyPr>
          <a:lstStyle/>
          <a:p>
            <a:pPr algn="l">
              <a:spcAft>
                <a:spcPts val="1200"/>
              </a:spcAft>
            </a:pPr>
            <a:r>
              <a:rPr sz="1900" b="0" i="0">
                <a:solidFill>
                  <a:srgbClr val="1E1A24"/>
                </a:solidFill>
                <a:latin typeface="Calibri"/>
              </a:rPr>
              <a:t>• Offre/réponse par diffusion</a:t>
            </a:r>
          </a:p>
          <a:p>
            <a:pPr algn="l">
              <a:spcAft>
                <a:spcPts val="1200"/>
              </a:spcAft>
            </a:pPr>
            <a:r>
              <a:rPr sz="1900" b="0" i="0">
                <a:solidFill>
                  <a:srgbClr val="1E1A24"/>
                </a:solidFill>
                <a:latin typeface="Calibri"/>
              </a:rPr>
              <a:t>• ICE + TURN</a:t>
            </a:r>
          </a:p>
          <a:p>
            <a:pPr algn="l">
              <a:spcAft>
                <a:spcPts val="1200"/>
              </a:spcAft>
            </a:pPr>
            <a:r>
              <a:rPr sz="1900" b="0" i="0">
                <a:solidFill>
                  <a:srgbClr val="1E1A24"/>
                </a:solidFill>
                <a:latin typeface="Calibri"/>
              </a:rPr>
              <a:t>• SRTP pair-à-pair</a:t>
            </a:r>
          </a:p>
          <a:p>
            <a:pPr algn="l">
              <a:spcAft>
                <a:spcPts val="1200"/>
              </a:spcAft>
            </a:pPr>
            <a:r>
              <a:rPr sz="1900" b="0" i="0">
                <a:solidFill>
                  <a:srgbClr val="1E1A24"/>
                </a:solidFill>
                <a:latin typeface="Calibri"/>
              </a:rPr>
              <a:t>• ICE restart ≤ 3</a:t>
            </a:r>
          </a:p>
        </p:txBody>
      </p:sp>
      <p:sp>
        <p:nvSpPr>
          <p:cNvPr id="15"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10</a:t>
            </a:r>
          </a:p>
        </p:txBody>
      </p:sp>
      <p:sp>
        <p:nvSpPr>
          <p:cNvPr id="16"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Établissement d’un appel : de l’offre au média</a:t>
            </a:r>
          </a:p>
        </p:txBody>
      </p:sp>
      <p:sp>
        <p:nvSpPr>
          <p:cNvPr id="3" name="Rounded Rectangle 2"/>
          <p:cNvSpPr/>
          <p:nvPr/>
        </p:nvSpPr>
        <p:spPr>
          <a:xfrm>
            <a:off x="548640" y="1463040"/>
            <a:ext cx="2057400" cy="2743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1600200"/>
            <a:ext cx="457200" cy="457200"/>
          </a:xfrm>
          <a:prstGeom prst="ellipse">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e"/>
          <p:cNvSpPr txBox="1"/>
          <p:nvPr/>
        </p:nvSpPr>
        <p:spPr>
          <a:xfrm>
            <a:off x="640080" y="1600200"/>
            <a:ext cx="548640" cy="457200"/>
          </a:xfrm>
          <a:prstGeom prst="rect">
            <a:avLst/>
          </a:prstGeom>
          <a:noFill/>
        </p:spPr>
        <p:txBody>
          <a:bodyPr wrap="square" anchor="ctr">
            <a:spAutoFit/>
          </a:bodyPr>
          <a:lstStyle/>
          <a:p>
            <a:pPr algn="ctr">
              <a:spcAft>
                <a:spcPts val="400"/>
              </a:spcAft>
            </a:pPr>
            <a:r>
              <a:rPr sz="1400" b="1" i="0">
                <a:solidFill>
                  <a:srgbClr val="FFFFFF"/>
                </a:solidFill>
                <a:latin typeface="Calibri"/>
              </a:rPr>
              <a:t>1</a:t>
            </a:r>
          </a:p>
        </p:txBody>
      </p:sp>
      <p:sp>
        <p:nvSpPr>
          <p:cNvPr id="6" name="texte"/>
          <p:cNvSpPr txBox="1"/>
          <p:nvPr/>
        </p:nvSpPr>
        <p:spPr>
          <a:xfrm>
            <a:off x="640080" y="2148840"/>
            <a:ext cx="1874519" cy="457200"/>
          </a:xfrm>
          <a:prstGeom prst="rect">
            <a:avLst/>
          </a:prstGeom>
          <a:noFill/>
        </p:spPr>
        <p:txBody>
          <a:bodyPr wrap="square" anchor="t">
            <a:spAutoFit/>
          </a:bodyPr>
          <a:lstStyle/>
          <a:p>
            <a:pPr algn="l">
              <a:spcAft>
                <a:spcPts val="400"/>
              </a:spcAft>
            </a:pPr>
            <a:r>
              <a:rPr sz="1900" b="1" i="0">
                <a:solidFill>
                  <a:srgbClr val="3B1F52"/>
                </a:solidFill>
                <a:latin typeface="Calibri"/>
              </a:rPr>
              <a:t>Offre (SDP)</a:t>
            </a:r>
          </a:p>
        </p:txBody>
      </p:sp>
      <p:sp>
        <p:nvSpPr>
          <p:cNvPr id="7" name="texte"/>
          <p:cNvSpPr txBox="1"/>
          <p:nvPr/>
        </p:nvSpPr>
        <p:spPr>
          <a:xfrm>
            <a:off x="640080" y="2651760"/>
            <a:ext cx="1874519" cy="1508760"/>
          </a:xfrm>
          <a:prstGeom prst="rect">
            <a:avLst/>
          </a:prstGeom>
          <a:noFill/>
        </p:spPr>
        <p:txBody>
          <a:bodyPr wrap="square" anchor="t">
            <a:spAutoFit/>
          </a:bodyPr>
          <a:lstStyle/>
          <a:p>
            <a:pPr algn="l">
              <a:spcAft>
                <a:spcPts val="400"/>
              </a:spcAft>
            </a:pPr>
            <a:r>
              <a:rPr sz="1500" b="0" i="0">
                <a:solidFill>
                  <a:srgbClr val="1E1A24"/>
                </a:solidFill>
                <a:latin typeface="Calibri"/>
              </a:rPr>
              <a:t>Diffusée sur le canal privé ; renvoyée toutes les 3 s</a:t>
            </a:r>
          </a:p>
        </p:txBody>
      </p:sp>
      <p:cxnSp>
        <p:nvCxnSpPr>
          <p:cNvPr id="8" name="Connector 7"/>
          <p:cNvCxnSpPr/>
          <p:nvPr/>
        </p:nvCxnSpPr>
        <p:spPr>
          <a:xfrm>
            <a:off x="2606040" y="283464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788920" y="1463040"/>
            <a:ext cx="2057400" cy="2743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26080" y="1600200"/>
            <a:ext cx="457200" cy="457200"/>
          </a:xfrm>
          <a:prstGeom prst="ellipse">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e"/>
          <p:cNvSpPr txBox="1"/>
          <p:nvPr/>
        </p:nvSpPr>
        <p:spPr>
          <a:xfrm>
            <a:off x="2880360" y="1600200"/>
            <a:ext cx="548640" cy="457200"/>
          </a:xfrm>
          <a:prstGeom prst="rect">
            <a:avLst/>
          </a:prstGeom>
          <a:noFill/>
        </p:spPr>
        <p:txBody>
          <a:bodyPr wrap="square" anchor="ctr">
            <a:spAutoFit/>
          </a:bodyPr>
          <a:lstStyle/>
          <a:p>
            <a:pPr algn="ctr">
              <a:spcAft>
                <a:spcPts val="400"/>
              </a:spcAft>
            </a:pPr>
            <a:r>
              <a:rPr sz="1400" b="1" i="0">
                <a:solidFill>
                  <a:srgbClr val="FFFFFF"/>
                </a:solidFill>
                <a:latin typeface="Calibri"/>
              </a:rPr>
              <a:t>2</a:t>
            </a:r>
          </a:p>
        </p:txBody>
      </p:sp>
      <p:sp>
        <p:nvSpPr>
          <p:cNvPr id="12" name="texte"/>
          <p:cNvSpPr txBox="1"/>
          <p:nvPr/>
        </p:nvSpPr>
        <p:spPr>
          <a:xfrm>
            <a:off x="2880360" y="2148840"/>
            <a:ext cx="1874519" cy="457200"/>
          </a:xfrm>
          <a:prstGeom prst="rect">
            <a:avLst/>
          </a:prstGeom>
          <a:noFill/>
        </p:spPr>
        <p:txBody>
          <a:bodyPr wrap="square" anchor="t">
            <a:spAutoFit/>
          </a:bodyPr>
          <a:lstStyle/>
          <a:p>
            <a:pPr algn="l">
              <a:spcAft>
                <a:spcPts val="400"/>
              </a:spcAft>
            </a:pPr>
            <a:r>
              <a:rPr sz="1900" b="1" i="0">
                <a:solidFill>
                  <a:srgbClr val="3B1F52"/>
                </a:solidFill>
                <a:latin typeface="Calibri"/>
              </a:rPr>
              <a:t>Sonnerie</a:t>
            </a:r>
          </a:p>
        </p:txBody>
      </p:sp>
      <p:sp>
        <p:nvSpPr>
          <p:cNvPr id="13" name="texte"/>
          <p:cNvSpPr txBox="1"/>
          <p:nvPr/>
        </p:nvSpPr>
        <p:spPr>
          <a:xfrm>
            <a:off x="2880360" y="2651760"/>
            <a:ext cx="1874519" cy="1508760"/>
          </a:xfrm>
          <a:prstGeom prst="rect">
            <a:avLst/>
          </a:prstGeom>
          <a:noFill/>
        </p:spPr>
        <p:txBody>
          <a:bodyPr wrap="square" anchor="t">
            <a:spAutoFit/>
          </a:bodyPr>
          <a:lstStyle/>
          <a:p>
            <a:pPr algn="l">
              <a:spcAft>
                <a:spcPts val="400"/>
              </a:spcAft>
            </a:pPr>
            <a:r>
              <a:rPr sz="1500" b="0" i="0">
                <a:solidFill>
                  <a:srgbClr val="1E1A24"/>
                </a:solidFill>
                <a:latin typeface="Calibri"/>
              </a:rPr>
              <a:t>L’offre porte le type d’appel : B sonne sans attendre la base</a:t>
            </a:r>
          </a:p>
        </p:txBody>
      </p:sp>
      <p:cxnSp>
        <p:nvCxnSpPr>
          <p:cNvPr id="14" name="Connector 13"/>
          <p:cNvCxnSpPr/>
          <p:nvPr/>
        </p:nvCxnSpPr>
        <p:spPr>
          <a:xfrm>
            <a:off x="4846320" y="283464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0" y="1463040"/>
            <a:ext cx="2057400" cy="2743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166360" y="1600200"/>
            <a:ext cx="457200" cy="457200"/>
          </a:xfrm>
          <a:prstGeom prst="ellipse">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e"/>
          <p:cNvSpPr txBox="1"/>
          <p:nvPr/>
        </p:nvSpPr>
        <p:spPr>
          <a:xfrm>
            <a:off x="5120640" y="1600200"/>
            <a:ext cx="548640" cy="457200"/>
          </a:xfrm>
          <a:prstGeom prst="rect">
            <a:avLst/>
          </a:prstGeom>
          <a:noFill/>
        </p:spPr>
        <p:txBody>
          <a:bodyPr wrap="square" anchor="ctr">
            <a:spAutoFit/>
          </a:bodyPr>
          <a:lstStyle/>
          <a:p>
            <a:pPr algn="ctr">
              <a:spcAft>
                <a:spcPts val="400"/>
              </a:spcAft>
            </a:pPr>
            <a:r>
              <a:rPr sz="1400" b="1" i="0">
                <a:solidFill>
                  <a:srgbClr val="FFFFFF"/>
                </a:solidFill>
                <a:latin typeface="Calibri"/>
              </a:rPr>
              <a:t>3</a:t>
            </a:r>
          </a:p>
        </p:txBody>
      </p:sp>
      <p:sp>
        <p:nvSpPr>
          <p:cNvPr id="18" name="texte"/>
          <p:cNvSpPr txBox="1"/>
          <p:nvPr/>
        </p:nvSpPr>
        <p:spPr>
          <a:xfrm>
            <a:off x="5120640" y="2148840"/>
            <a:ext cx="1874519" cy="457200"/>
          </a:xfrm>
          <a:prstGeom prst="rect">
            <a:avLst/>
          </a:prstGeom>
          <a:noFill/>
        </p:spPr>
        <p:txBody>
          <a:bodyPr wrap="square" anchor="t">
            <a:spAutoFit/>
          </a:bodyPr>
          <a:lstStyle/>
          <a:p>
            <a:pPr algn="l">
              <a:spcAft>
                <a:spcPts val="400"/>
              </a:spcAft>
            </a:pPr>
            <a:r>
              <a:rPr sz="1900" b="1" i="0">
                <a:solidFill>
                  <a:srgbClr val="3B1F52"/>
                </a:solidFill>
                <a:latin typeface="Calibri"/>
              </a:rPr>
              <a:t>Réponse (SDP)</a:t>
            </a:r>
          </a:p>
        </p:txBody>
      </p:sp>
      <p:sp>
        <p:nvSpPr>
          <p:cNvPr id="19" name="texte"/>
          <p:cNvSpPr txBox="1"/>
          <p:nvPr/>
        </p:nvSpPr>
        <p:spPr>
          <a:xfrm>
            <a:off x="5120640" y="2651760"/>
            <a:ext cx="1874519" cy="1508760"/>
          </a:xfrm>
          <a:prstGeom prst="rect">
            <a:avLst/>
          </a:prstGeom>
          <a:noFill/>
        </p:spPr>
        <p:txBody>
          <a:bodyPr wrap="square" anchor="t">
            <a:spAutoFit/>
          </a:bodyPr>
          <a:lstStyle/>
          <a:p>
            <a:pPr algn="l">
              <a:spcAft>
                <a:spcPts val="400"/>
              </a:spcAft>
            </a:pPr>
            <a:r>
              <a:rPr sz="1500" b="0" i="0">
                <a:solidFill>
                  <a:srgbClr val="1E1A24"/>
                </a:solidFill>
                <a:latin typeface="Calibri"/>
              </a:rPr>
              <a:t>Après acceptation et capture du micro</a:t>
            </a:r>
          </a:p>
        </p:txBody>
      </p:sp>
      <p:cxnSp>
        <p:nvCxnSpPr>
          <p:cNvPr id="20" name="Connector 19"/>
          <p:cNvCxnSpPr/>
          <p:nvPr/>
        </p:nvCxnSpPr>
        <p:spPr>
          <a:xfrm>
            <a:off x="7086600" y="283464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69480" y="1463040"/>
            <a:ext cx="2057400" cy="274320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06640" y="1600200"/>
            <a:ext cx="457200" cy="457200"/>
          </a:xfrm>
          <a:prstGeom prst="ellipse">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e"/>
          <p:cNvSpPr txBox="1"/>
          <p:nvPr/>
        </p:nvSpPr>
        <p:spPr>
          <a:xfrm>
            <a:off x="7360919" y="1600200"/>
            <a:ext cx="548640" cy="457200"/>
          </a:xfrm>
          <a:prstGeom prst="rect">
            <a:avLst/>
          </a:prstGeom>
          <a:noFill/>
        </p:spPr>
        <p:txBody>
          <a:bodyPr wrap="square" anchor="ctr">
            <a:spAutoFit/>
          </a:bodyPr>
          <a:lstStyle/>
          <a:p>
            <a:pPr algn="ctr">
              <a:spcAft>
                <a:spcPts val="400"/>
              </a:spcAft>
            </a:pPr>
            <a:r>
              <a:rPr sz="1400" b="1" i="0">
                <a:solidFill>
                  <a:srgbClr val="FFFFFF"/>
                </a:solidFill>
                <a:latin typeface="Calibri"/>
              </a:rPr>
              <a:t>4</a:t>
            </a:r>
          </a:p>
        </p:txBody>
      </p:sp>
      <p:sp>
        <p:nvSpPr>
          <p:cNvPr id="24" name="texte"/>
          <p:cNvSpPr txBox="1"/>
          <p:nvPr/>
        </p:nvSpPr>
        <p:spPr>
          <a:xfrm>
            <a:off x="7360920" y="2148840"/>
            <a:ext cx="1874519" cy="457200"/>
          </a:xfrm>
          <a:prstGeom prst="rect">
            <a:avLst/>
          </a:prstGeom>
          <a:noFill/>
        </p:spPr>
        <p:txBody>
          <a:bodyPr wrap="square" anchor="t">
            <a:spAutoFit/>
          </a:bodyPr>
          <a:lstStyle/>
          <a:p>
            <a:pPr algn="l">
              <a:spcAft>
                <a:spcPts val="400"/>
              </a:spcAft>
            </a:pPr>
            <a:r>
              <a:rPr sz="1900" b="1" i="0">
                <a:solidFill>
                  <a:srgbClr val="3B1F52"/>
                </a:solidFill>
                <a:latin typeface="Calibri"/>
              </a:rPr>
              <a:t>Candidats ICE</a:t>
            </a:r>
          </a:p>
        </p:txBody>
      </p:sp>
      <p:sp>
        <p:nvSpPr>
          <p:cNvPr id="25" name="texte"/>
          <p:cNvSpPr txBox="1"/>
          <p:nvPr/>
        </p:nvSpPr>
        <p:spPr>
          <a:xfrm>
            <a:off x="7360920" y="2651760"/>
            <a:ext cx="1874519" cy="1508760"/>
          </a:xfrm>
          <a:prstGeom prst="rect">
            <a:avLst/>
          </a:prstGeom>
          <a:noFill/>
        </p:spPr>
        <p:txBody>
          <a:bodyPr wrap="square" anchor="t">
            <a:spAutoFit/>
          </a:bodyPr>
          <a:lstStyle/>
          <a:p>
            <a:pPr algn="l">
              <a:spcAft>
                <a:spcPts val="400"/>
              </a:spcAft>
            </a:pPr>
            <a:r>
              <a:rPr sz="1500" b="0" i="0">
                <a:solidFill>
                  <a:srgbClr val="1E1A24"/>
                </a:solidFill>
                <a:latin typeface="Calibri"/>
              </a:rPr>
              <a:t>Direct (host, srflx) ou relayé par TURN</a:t>
            </a:r>
          </a:p>
        </p:txBody>
      </p:sp>
      <p:cxnSp>
        <p:nvCxnSpPr>
          <p:cNvPr id="26" name="Connector 25"/>
          <p:cNvCxnSpPr/>
          <p:nvPr/>
        </p:nvCxnSpPr>
        <p:spPr>
          <a:xfrm>
            <a:off x="9326880" y="283464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509760" y="1463040"/>
            <a:ext cx="2057400" cy="274320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46920" y="1600200"/>
            <a:ext cx="457200" cy="457200"/>
          </a:xfrm>
          <a:prstGeom prst="ellipse">
            <a:avLst/>
          </a:prstGeom>
          <a:solidFill>
            <a:srgbClr val="2F7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e"/>
          <p:cNvSpPr txBox="1"/>
          <p:nvPr/>
        </p:nvSpPr>
        <p:spPr>
          <a:xfrm>
            <a:off x="9601200" y="1600200"/>
            <a:ext cx="548640" cy="457200"/>
          </a:xfrm>
          <a:prstGeom prst="rect">
            <a:avLst/>
          </a:prstGeom>
          <a:noFill/>
        </p:spPr>
        <p:txBody>
          <a:bodyPr wrap="square" anchor="ctr">
            <a:spAutoFit/>
          </a:bodyPr>
          <a:lstStyle/>
          <a:p>
            <a:pPr algn="ctr">
              <a:spcAft>
                <a:spcPts val="400"/>
              </a:spcAft>
            </a:pPr>
            <a:r>
              <a:rPr sz="1400" b="1" i="0">
                <a:solidFill>
                  <a:srgbClr val="FFFFFF"/>
                </a:solidFill>
                <a:latin typeface="Calibri"/>
              </a:rPr>
              <a:t>5</a:t>
            </a:r>
          </a:p>
        </p:txBody>
      </p:sp>
      <p:sp>
        <p:nvSpPr>
          <p:cNvPr id="30" name="texte"/>
          <p:cNvSpPr txBox="1"/>
          <p:nvPr/>
        </p:nvSpPr>
        <p:spPr>
          <a:xfrm>
            <a:off x="9601200" y="2148840"/>
            <a:ext cx="1874519" cy="457200"/>
          </a:xfrm>
          <a:prstGeom prst="rect">
            <a:avLst/>
          </a:prstGeom>
          <a:noFill/>
        </p:spPr>
        <p:txBody>
          <a:bodyPr wrap="square" anchor="t">
            <a:spAutoFit/>
          </a:bodyPr>
          <a:lstStyle/>
          <a:p>
            <a:pPr algn="l">
              <a:spcAft>
                <a:spcPts val="400"/>
              </a:spcAft>
            </a:pPr>
            <a:r>
              <a:rPr sz="1900" b="1" i="0">
                <a:solidFill>
                  <a:srgbClr val="3B1F52"/>
                </a:solidFill>
                <a:latin typeface="Calibri"/>
              </a:rPr>
              <a:t>Média</a:t>
            </a:r>
          </a:p>
        </p:txBody>
      </p:sp>
      <p:sp>
        <p:nvSpPr>
          <p:cNvPr id="31" name="texte"/>
          <p:cNvSpPr txBox="1"/>
          <p:nvPr/>
        </p:nvSpPr>
        <p:spPr>
          <a:xfrm>
            <a:off x="9601200" y="2651760"/>
            <a:ext cx="1874519" cy="1508760"/>
          </a:xfrm>
          <a:prstGeom prst="rect">
            <a:avLst/>
          </a:prstGeom>
          <a:noFill/>
        </p:spPr>
        <p:txBody>
          <a:bodyPr wrap="square" anchor="t">
            <a:spAutoFit/>
          </a:bodyPr>
          <a:lstStyle/>
          <a:p>
            <a:pPr algn="l">
              <a:spcAft>
                <a:spcPts val="400"/>
              </a:spcAft>
            </a:pPr>
            <a:r>
              <a:rPr sz="1500" b="0" i="0">
                <a:solidFill>
                  <a:srgbClr val="1E1A24"/>
                </a:solidFill>
                <a:latin typeface="Calibri"/>
              </a:rPr>
              <a:t>DTLS puis SRTP, pair-à-pair</a:t>
            </a:r>
          </a:p>
        </p:txBody>
      </p:sp>
      <p:sp>
        <p:nvSpPr>
          <p:cNvPr id="32" name="texte"/>
          <p:cNvSpPr txBox="1"/>
          <p:nvPr/>
        </p:nvSpPr>
        <p:spPr>
          <a:xfrm>
            <a:off x="548640" y="4526280"/>
            <a:ext cx="5486400" cy="1737360"/>
          </a:xfrm>
          <a:prstGeom prst="rect">
            <a:avLst/>
          </a:prstGeom>
          <a:noFill/>
        </p:spPr>
        <p:txBody>
          <a:bodyPr wrap="square" anchor="t">
            <a:spAutoFit/>
          </a:bodyPr>
          <a:lstStyle/>
          <a:p>
            <a:pPr algn="l">
              <a:spcAft>
                <a:spcPts val="600"/>
              </a:spcAft>
            </a:pPr>
            <a:r>
              <a:rPr sz="2000" b="1" i="0">
                <a:solidFill>
                  <a:srgbClr val="3B1F52"/>
                </a:solidFill>
                <a:latin typeface="Calibri"/>
              </a:rPr>
              <a:t>Ce que fait le code</a:t>
            </a:r>
          </a:p>
          <a:p>
            <a:pPr algn="l">
              <a:spcAft>
                <a:spcPts val="600"/>
              </a:spcAft>
            </a:pPr>
            <a:r>
              <a:rPr sz="1700" b="0" i="0">
                <a:solidFill>
                  <a:srgbClr val="1E1A24"/>
                </a:solidFill>
                <a:latin typeface="Calibri"/>
              </a:rPr>
              <a:t>Un seul appel actif à la fois.</a:t>
            </a:r>
          </a:p>
          <a:p>
            <a:pPr algn="l">
              <a:spcAft>
                <a:spcPts val="600"/>
              </a:spcAft>
            </a:pPr>
            <a:r>
              <a:rPr sz="1700" b="0" i="0">
                <a:solidFill>
                  <a:srgbClr val="1E1A24"/>
                </a:solidFill>
                <a:latin typeface="Calibri"/>
              </a:rPr>
              <a:t>Serveurs ICE en cache 2 h, préchargés.</a:t>
            </a:r>
          </a:p>
          <a:p>
            <a:pPr algn="l">
              <a:spcAft>
                <a:spcPts val="600"/>
              </a:spcAft>
            </a:pPr>
            <a:r>
              <a:rPr sz="1700" b="0" i="0">
                <a:solidFill>
                  <a:srgbClr val="1E1A24"/>
                </a:solidFill>
                <a:latin typeface="Calibri"/>
              </a:rPr>
              <a:t>Table calls : garantie si la diffusion est perdue.</a:t>
            </a:r>
          </a:p>
        </p:txBody>
      </p:sp>
      <p:sp>
        <p:nvSpPr>
          <p:cNvPr id="33" name="texte"/>
          <p:cNvSpPr txBox="1"/>
          <p:nvPr/>
        </p:nvSpPr>
        <p:spPr>
          <a:xfrm>
            <a:off x="6400800" y="4526280"/>
            <a:ext cx="5212080" cy="1737360"/>
          </a:xfrm>
          <a:prstGeom prst="rect">
            <a:avLst/>
          </a:prstGeom>
          <a:noFill/>
        </p:spPr>
        <p:txBody>
          <a:bodyPr wrap="square" anchor="t">
            <a:spAutoFit/>
          </a:bodyPr>
          <a:lstStyle/>
          <a:p>
            <a:pPr algn="l">
              <a:spcAft>
                <a:spcPts val="600"/>
              </a:spcAft>
            </a:pPr>
            <a:r>
              <a:rPr sz="2000" b="1" i="0">
                <a:solidFill>
                  <a:srgbClr val="C45C7E"/>
                </a:solidFill>
                <a:latin typeface="Calibri"/>
              </a:rPr>
              <a:t>Ce qui n’est pas mesuré</a:t>
            </a:r>
          </a:p>
          <a:p>
            <a:pPr algn="l">
              <a:spcAft>
                <a:spcPts val="600"/>
              </a:spcAft>
            </a:pPr>
            <a:r>
              <a:rPr sz="1700" b="0" i="0">
                <a:solidFill>
                  <a:srgbClr val="1E1A24"/>
                </a:solidFill>
                <a:latin typeface="Calibri"/>
              </a:rPr>
              <a:t>Le temps d’établissement avant/après optimisation.</a:t>
            </a:r>
          </a:p>
          <a:p>
            <a:pPr algn="l">
              <a:spcAft>
                <a:spcPts val="600"/>
              </a:spcAft>
            </a:pPr>
            <a:r>
              <a:rPr sz="1700" b="0" i="0">
                <a:solidFill>
                  <a:srgbClr val="1E1A24"/>
                </a:solidFill>
                <a:latin typeface="Calibri"/>
              </a:rPr>
              <a:t>Le taux de réussite entre réseaux différents.</a:t>
            </a:r>
          </a:p>
        </p:txBody>
      </p:sp>
      <p:sp>
        <p:nvSpPr>
          <p:cNvPr id="3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11</a:t>
            </a:r>
          </a:p>
        </p:txBody>
      </p:sp>
      <p:sp>
        <p:nvSpPr>
          <p:cNvPr id="3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Sécurité : des couches, et ce qui est réellement prouvé</a:t>
            </a:r>
          </a:p>
        </p:txBody>
      </p:sp>
      <p:sp>
        <p:nvSpPr>
          <p:cNvPr id="3" name="carte Authentification"/>
          <p:cNvSpPr/>
          <p:nvPr/>
        </p:nvSpPr>
        <p:spPr>
          <a:xfrm>
            <a:off x="548640" y="1463040"/>
            <a:ext cx="2057400" cy="24688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554480"/>
            <a:ext cx="1783080" cy="548640"/>
          </a:xfrm>
          <a:prstGeom prst="rect">
            <a:avLst/>
          </a:prstGeom>
          <a:noFill/>
        </p:spPr>
        <p:txBody>
          <a:bodyPr wrap="square" anchor="t">
            <a:spAutoFit/>
          </a:bodyPr>
          <a:lstStyle/>
          <a:p>
            <a:pPr algn="l">
              <a:spcAft>
                <a:spcPts val="400"/>
              </a:spcAft>
            </a:pPr>
            <a:r>
              <a:rPr sz="1700" b="1" i="0">
                <a:solidFill>
                  <a:srgbClr val="3B1F52"/>
                </a:solidFill>
                <a:latin typeface="Calibri"/>
              </a:rPr>
              <a:t>Authentification</a:t>
            </a:r>
          </a:p>
        </p:txBody>
      </p:sp>
      <p:sp>
        <p:nvSpPr>
          <p:cNvPr id="5" name="carte-texte"/>
          <p:cNvSpPr txBox="1"/>
          <p:nvPr/>
        </p:nvSpPr>
        <p:spPr>
          <a:xfrm>
            <a:off x="685800" y="2121408"/>
            <a:ext cx="1783080" cy="1719072"/>
          </a:xfrm>
          <a:prstGeom prst="rect">
            <a:avLst/>
          </a:prstGeom>
          <a:noFill/>
        </p:spPr>
        <p:txBody>
          <a:bodyPr wrap="square" anchor="t">
            <a:spAutoFit/>
          </a:bodyPr>
          <a:lstStyle/>
          <a:p>
            <a:pPr algn="l">
              <a:spcAft>
                <a:spcPts val="300"/>
              </a:spcAft>
            </a:pPr>
            <a:r>
              <a:rPr sz="1500" b="0" i="0">
                <a:solidFill>
                  <a:srgbClr val="1E1A24"/>
                </a:solidFill>
                <a:latin typeface="Calibri"/>
              </a:rPr>
              <a:t>Supabase Auth, JWT, limitation d’essais</a:t>
            </a:r>
          </a:p>
        </p:txBody>
      </p:sp>
      <p:sp>
        <p:nvSpPr>
          <p:cNvPr id="6" name="Rounded Rectangle 5"/>
          <p:cNvSpPr/>
          <p:nvPr/>
        </p:nvSpPr>
        <p:spPr>
          <a:xfrm>
            <a:off x="1920240" y="3474720"/>
            <a:ext cx="502920" cy="292608"/>
          </a:xfrm>
          <a:prstGeom prst="roundRect">
            <a:avLst>
              <a:gd name="adj" fmla="val 50000"/>
            </a:avLst>
          </a:prstGeom>
          <a:solidFill>
            <a:srgbClr val="2F7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1874519" y="3456432"/>
            <a:ext cx="594360" cy="329184"/>
          </a:xfrm>
          <a:prstGeom prst="rect">
            <a:avLst/>
          </a:prstGeom>
          <a:noFill/>
        </p:spPr>
        <p:txBody>
          <a:bodyPr wrap="square" anchor="ctr">
            <a:spAutoFit/>
          </a:bodyPr>
          <a:lstStyle/>
          <a:p>
            <a:pPr algn="ctr">
              <a:spcAft>
                <a:spcPts val="400"/>
              </a:spcAft>
            </a:pPr>
            <a:r>
              <a:rPr sz="1300" b="1" i="0">
                <a:solidFill>
                  <a:srgbClr val="FFFFFF"/>
                </a:solidFill>
                <a:latin typeface="Calibri"/>
              </a:rPr>
              <a:t>A</a:t>
            </a:r>
          </a:p>
        </p:txBody>
      </p:sp>
      <p:cxnSp>
        <p:nvCxnSpPr>
          <p:cNvPr id="8" name="Connector 7"/>
          <p:cNvCxnSpPr/>
          <p:nvPr/>
        </p:nvCxnSpPr>
        <p:spPr>
          <a:xfrm>
            <a:off x="2606040" y="26974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9" name="carte Contrôle d’accès"/>
          <p:cNvSpPr/>
          <p:nvPr/>
        </p:nvSpPr>
        <p:spPr>
          <a:xfrm>
            <a:off x="2788920" y="1463040"/>
            <a:ext cx="2057400" cy="24688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te-titre"/>
          <p:cNvSpPr txBox="1"/>
          <p:nvPr/>
        </p:nvSpPr>
        <p:spPr>
          <a:xfrm>
            <a:off x="2926080" y="1554480"/>
            <a:ext cx="1783080" cy="548640"/>
          </a:xfrm>
          <a:prstGeom prst="rect">
            <a:avLst/>
          </a:prstGeom>
          <a:noFill/>
        </p:spPr>
        <p:txBody>
          <a:bodyPr wrap="square" anchor="t">
            <a:spAutoFit/>
          </a:bodyPr>
          <a:lstStyle/>
          <a:p>
            <a:pPr algn="l">
              <a:spcAft>
                <a:spcPts val="400"/>
              </a:spcAft>
            </a:pPr>
            <a:r>
              <a:rPr sz="1700" b="1" i="0">
                <a:solidFill>
                  <a:srgbClr val="3B1F52"/>
                </a:solidFill>
                <a:latin typeface="Calibri"/>
              </a:rPr>
              <a:t>Contrôle d’accès</a:t>
            </a:r>
          </a:p>
        </p:txBody>
      </p:sp>
      <p:sp>
        <p:nvSpPr>
          <p:cNvPr id="11" name="carte-texte"/>
          <p:cNvSpPr txBox="1"/>
          <p:nvPr/>
        </p:nvSpPr>
        <p:spPr>
          <a:xfrm>
            <a:off x="2926080" y="2121408"/>
            <a:ext cx="1783080" cy="1719072"/>
          </a:xfrm>
          <a:prstGeom prst="rect">
            <a:avLst/>
          </a:prstGeom>
          <a:noFill/>
        </p:spPr>
        <p:txBody>
          <a:bodyPr wrap="square" anchor="t">
            <a:spAutoFit/>
          </a:bodyPr>
          <a:lstStyle/>
          <a:p>
            <a:pPr algn="l">
              <a:spcAft>
                <a:spcPts val="300"/>
              </a:spcAft>
            </a:pPr>
            <a:r>
              <a:rPr sz="1500" b="0" i="0">
                <a:solidFill>
                  <a:srgbClr val="1E1A24"/>
                </a:solidFill>
                <a:latin typeface="Calibri"/>
              </a:rPr>
              <a:t>RLS : 70 politiques SQL du projet</a:t>
            </a:r>
          </a:p>
        </p:txBody>
      </p:sp>
      <p:sp>
        <p:nvSpPr>
          <p:cNvPr id="12" name="Rounded Rectangle 11"/>
          <p:cNvSpPr/>
          <p:nvPr/>
        </p:nvSpPr>
        <p:spPr>
          <a:xfrm>
            <a:off x="4160520" y="3474720"/>
            <a:ext cx="502920" cy="292608"/>
          </a:xfrm>
          <a:prstGeom prst="roundRect">
            <a:avLst>
              <a:gd name="adj" fmla="val 50000"/>
            </a:avLst>
          </a:prstGeom>
          <a:solidFill>
            <a:srgbClr val="2F7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4114800" y="3456432"/>
            <a:ext cx="594360" cy="329184"/>
          </a:xfrm>
          <a:prstGeom prst="rect">
            <a:avLst/>
          </a:prstGeom>
          <a:noFill/>
        </p:spPr>
        <p:txBody>
          <a:bodyPr wrap="square" anchor="ctr">
            <a:spAutoFit/>
          </a:bodyPr>
          <a:lstStyle/>
          <a:p>
            <a:pPr algn="ctr">
              <a:spcAft>
                <a:spcPts val="400"/>
              </a:spcAft>
            </a:pPr>
            <a:r>
              <a:rPr sz="1300" b="1" i="0">
                <a:solidFill>
                  <a:srgbClr val="FFFFFF"/>
                </a:solidFill>
                <a:latin typeface="Calibri"/>
              </a:rPr>
              <a:t>A</a:t>
            </a:r>
          </a:p>
        </p:txBody>
      </p:sp>
      <p:cxnSp>
        <p:nvCxnSpPr>
          <p:cNvPr id="14" name="Connector 13"/>
          <p:cNvCxnSpPr/>
          <p:nvPr/>
        </p:nvCxnSpPr>
        <p:spPr>
          <a:xfrm>
            <a:off x="4846320" y="26974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5" name="carte Transit"/>
          <p:cNvSpPr/>
          <p:nvPr/>
        </p:nvSpPr>
        <p:spPr>
          <a:xfrm>
            <a:off x="5029200" y="1463040"/>
            <a:ext cx="2057400" cy="24688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te-titre"/>
          <p:cNvSpPr txBox="1"/>
          <p:nvPr/>
        </p:nvSpPr>
        <p:spPr>
          <a:xfrm>
            <a:off x="5166360" y="1554480"/>
            <a:ext cx="1783080" cy="548640"/>
          </a:xfrm>
          <a:prstGeom prst="rect">
            <a:avLst/>
          </a:prstGeom>
          <a:noFill/>
        </p:spPr>
        <p:txBody>
          <a:bodyPr wrap="square" anchor="t">
            <a:spAutoFit/>
          </a:bodyPr>
          <a:lstStyle/>
          <a:p>
            <a:pPr algn="l">
              <a:spcAft>
                <a:spcPts val="400"/>
              </a:spcAft>
            </a:pPr>
            <a:r>
              <a:rPr sz="1700" b="1" i="0">
                <a:solidFill>
                  <a:srgbClr val="3B1F52"/>
                </a:solidFill>
                <a:latin typeface="Calibri"/>
              </a:rPr>
              <a:t>Transit</a:t>
            </a:r>
          </a:p>
        </p:txBody>
      </p:sp>
      <p:sp>
        <p:nvSpPr>
          <p:cNvPr id="17" name="carte-texte"/>
          <p:cNvSpPr txBox="1"/>
          <p:nvPr/>
        </p:nvSpPr>
        <p:spPr>
          <a:xfrm>
            <a:off x="5166360" y="2121408"/>
            <a:ext cx="1783080" cy="1719072"/>
          </a:xfrm>
          <a:prstGeom prst="rect">
            <a:avLst/>
          </a:prstGeom>
          <a:noFill/>
        </p:spPr>
        <p:txBody>
          <a:bodyPr wrap="square" anchor="t">
            <a:spAutoFit/>
          </a:bodyPr>
          <a:lstStyle/>
          <a:p>
            <a:pPr algn="l">
              <a:spcAft>
                <a:spcPts val="300"/>
              </a:spcAft>
            </a:pPr>
            <a:r>
              <a:rPr sz="1500" b="0" i="0">
                <a:solidFill>
                  <a:srgbClr val="1E1A24"/>
                </a:solidFill>
                <a:latin typeface="Calibri"/>
              </a:rPr>
              <a:t>TLS/WSS (hébergeurs), DTLS-SRTP</a:t>
            </a:r>
          </a:p>
        </p:txBody>
      </p:sp>
      <p:sp>
        <p:nvSpPr>
          <p:cNvPr id="18" name="Rounded Rectangle 17"/>
          <p:cNvSpPr/>
          <p:nvPr/>
        </p:nvSpPr>
        <p:spPr>
          <a:xfrm>
            <a:off x="6400800" y="3474720"/>
            <a:ext cx="502920" cy="292608"/>
          </a:xfrm>
          <a:prstGeom prst="roundRect">
            <a:avLst>
              <a:gd name="adj" fmla="val 50000"/>
            </a:avLst>
          </a:prstGeom>
          <a:solidFill>
            <a:srgbClr val="2F7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e"/>
          <p:cNvSpPr txBox="1"/>
          <p:nvPr/>
        </p:nvSpPr>
        <p:spPr>
          <a:xfrm>
            <a:off x="6355080" y="3456432"/>
            <a:ext cx="594360" cy="329184"/>
          </a:xfrm>
          <a:prstGeom prst="rect">
            <a:avLst/>
          </a:prstGeom>
          <a:noFill/>
        </p:spPr>
        <p:txBody>
          <a:bodyPr wrap="square" anchor="ctr">
            <a:spAutoFit/>
          </a:bodyPr>
          <a:lstStyle/>
          <a:p>
            <a:pPr algn="ctr">
              <a:spcAft>
                <a:spcPts val="400"/>
              </a:spcAft>
            </a:pPr>
            <a:r>
              <a:rPr sz="1300" b="1" i="0">
                <a:solidFill>
                  <a:srgbClr val="FFFFFF"/>
                </a:solidFill>
                <a:latin typeface="Calibri"/>
              </a:rPr>
              <a:t>A</a:t>
            </a:r>
          </a:p>
        </p:txBody>
      </p:sp>
      <p:cxnSp>
        <p:nvCxnSpPr>
          <p:cNvPr id="20" name="Connector 19"/>
          <p:cNvCxnSpPr/>
          <p:nvPr/>
        </p:nvCxnSpPr>
        <p:spPr>
          <a:xfrm>
            <a:off x="7086600" y="26974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21" name="carte Stockage privé"/>
          <p:cNvSpPr/>
          <p:nvPr/>
        </p:nvSpPr>
        <p:spPr>
          <a:xfrm>
            <a:off x="7269480" y="1463040"/>
            <a:ext cx="2057400" cy="246888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arte-titre"/>
          <p:cNvSpPr txBox="1"/>
          <p:nvPr/>
        </p:nvSpPr>
        <p:spPr>
          <a:xfrm>
            <a:off x="7406640" y="1554480"/>
            <a:ext cx="1783080" cy="548640"/>
          </a:xfrm>
          <a:prstGeom prst="rect">
            <a:avLst/>
          </a:prstGeom>
          <a:noFill/>
        </p:spPr>
        <p:txBody>
          <a:bodyPr wrap="square" anchor="t">
            <a:spAutoFit/>
          </a:bodyPr>
          <a:lstStyle/>
          <a:p>
            <a:pPr algn="l">
              <a:spcAft>
                <a:spcPts val="400"/>
              </a:spcAft>
            </a:pPr>
            <a:r>
              <a:rPr sz="1700" b="1" i="0">
                <a:solidFill>
                  <a:srgbClr val="3B1F52"/>
                </a:solidFill>
                <a:latin typeface="Calibri"/>
              </a:rPr>
              <a:t>Stockage privé</a:t>
            </a:r>
          </a:p>
        </p:txBody>
      </p:sp>
      <p:sp>
        <p:nvSpPr>
          <p:cNvPr id="23" name="carte-texte"/>
          <p:cNvSpPr txBox="1"/>
          <p:nvPr/>
        </p:nvSpPr>
        <p:spPr>
          <a:xfrm>
            <a:off x="7406640" y="2121408"/>
            <a:ext cx="1783080" cy="1719072"/>
          </a:xfrm>
          <a:prstGeom prst="rect">
            <a:avLst/>
          </a:prstGeom>
          <a:noFill/>
        </p:spPr>
        <p:txBody>
          <a:bodyPr wrap="square" anchor="t">
            <a:spAutoFit/>
          </a:bodyPr>
          <a:lstStyle/>
          <a:p>
            <a:pPr algn="l">
              <a:spcAft>
                <a:spcPts val="300"/>
              </a:spcAft>
            </a:pPr>
            <a:r>
              <a:rPr sz="1500" b="0" i="0">
                <a:solidFill>
                  <a:srgbClr val="1E1A24"/>
                </a:solidFill>
                <a:latin typeface="Calibri"/>
              </a:rPr>
              <a:t>Bucket privé, URL signées 1 h</a:t>
            </a:r>
          </a:p>
        </p:txBody>
      </p:sp>
      <p:sp>
        <p:nvSpPr>
          <p:cNvPr id="24" name="Rounded Rectangle 23"/>
          <p:cNvSpPr/>
          <p:nvPr/>
        </p:nvSpPr>
        <p:spPr>
          <a:xfrm>
            <a:off x="8641080" y="3474720"/>
            <a:ext cx="502920" cy="292608"/>
          </a:xfrm>
          <a:prstGeom prst="roundRect">
            <a:avLst>
              <a:gd name="adj" fmla="val 50000"/>
            </a:avLst>
          </a:prstGeom>
          <a:solidFill>
            <a:srgbClr val="2F7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e"/>
          <p:cNvSpPr txBox="1"/>
          <p:nvPr/>
        </p:nvSpPr>
        <p:spPr>
          <a:xfrm>
            <a:off x="8595359" y="3456432"/>
            <a:ext cx="594360" cy="329184"/>
          </a:xfrm>
          <a:prstGeom prst="rect">
            <a:avLst/>
          </a:prstGeom>
          <a:noFill/>
        </p:spPr>
        <p:txBody>
          <a:bodyPr wrap="square" anchor="ctr">
            <a:spAutoFit/>
          </a:bodyPr>
          <a:lstStyle/>
          <a:p>
            <a:pPr algn="ctr">
              <a:spcAft>
                <a:spcPts val="400"/>
              </a:spcAft>
            </a:pPr>
            <a:r>
              <a:rPr sz="1300" b="1" i="0">
                <a:solidFill>
                  <a:srgbClr val="FFFFFF"/>
                </a:solidFill>
                <a:latin typeface="Calibri"/>
              </a:rPr>
              <a:t>A</a:t>
            </a:r>
          </a:p>
        </p:txBody>
      </p:sp>
      <p:cxnSp>
        <p:nvCxnSpPr>
          <p:cNvPr id="26" name="Connector 25"/>
          <p:cNvCxnSpPr/>
          <p:nvPr/>
        </p:nvCxnSpPr>
        <p:spPr>
          <a:xfrm>
            <a:off x="9326880" y="26974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27" name="carte E2EE optionnel"/>
          <p:cNvSpPr/>
          <p:nvPr/>
        </p:nvSpPr>
        <p:spPr>
          <a:xfrm>
            <a:off x="9509760" y="1463040"/>
            <a:ext cx="2057400" cy="2468880"/>
          </a:xfrm>
          <a:prstGeom prst="roundRect">
            <a:avLst>
              <a:gd name="adj" fmla="val 8000"/>
            </a:avLst>
          </a:prstGeom>
          <a:solidFill>
            <a:srgbClr val="FF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arte-titre"/>
          <p:cNvSpPr txBox="1"/>
          <p:nvPr/>
        </p:nvSpPr>
        <p:spPr>
          <a:xfrm>
            <a:off x="9646920" y="1554480"/>
            <a:ext cx="1783080" cy="548640"/>
          </a:xfrm>
          <a:prstGeom prst="rect">
            <a:avLst/>
          </a:prstGeom>
          <a:noFill/>
        </p:spPr>
        <p:txBody>
          <a:bodyPr wrap="square" anchor="t">
            <a:spAutoFit/>
          </a:bodyPr>
          <a:lstStyle/>
          <a:p>
            <a:pPr algn="l">
              <a:spcAft>
                <a:spcPts val="400"/>
              </a:spcAft>
            </a:pPr>
            <a:r>
              <a:rPr sz="1700" b="1" i="0">
                <a:solidFill>
                  <a:srgbClr val="3B1F52"/>
                </a:solidFill>
                <a:latin typeface="Calibri"/>
              </a:rPr>
              <a:t>E2EE optionnel</a:t>
            </a:r>
          </a:p>
        </p:txBody>
      </p:sp>
      <p:sp>
        <p:nvSpPr>
          <p:cNvPr id="29" name="carte-texte"/>
          <p:cNvSpPr txBox="1"/>
          <p:nvPr/>
        </p:nvSpPr>
        <p:spPr>
          <a:xfrm>
            <a:off x="9646920" y="2121408"/>
            <a:ext cx="1783080" cy="1719072"/>
          </a:xfrm>
          <a:prstGeom prst="rect">
            <a:avLst/>
          </a:prstGeom>
          <a:noFill/>
        </p:spPr>
        <p:txBody>
          <a:bodyPr wrap="square" anchor="t">
            <a:spAutoFit/>
          </a:bodyPr>
          <a:lstStyle/>
          <a:p>
            <a:pPr algn="l">
              <a:spcAft>
                <a:spcPts val="300"/>
              </a:spcAft>
            </a:pPr>
            <a:r>
              <a:rPr sz="1500" b="0" i="0">
                <a:solidFill>
                  <a:srgbClr val="1E1A24"/>
                </a:solidFill>
                <a:latin typeface="Calibri"/>
              </a:rPr>
              <a:t>ECDH + AES-GCM, MAC des empreintes</a:t>
            </a:r>
          </a:p>
        </p:txBody>
      </p:sp>
      <p:sp>
        <p:nvSpPr>
          <p:cNvPr id="30" name="Rounded Rectangle 29"/>
          <p:cNvSpPr/>
          <p:nvPr/>
        </p:nvSpPr>
        <p:spPr>
          <a:xfrm>
            <a:off x="10881360" y="3474720"/>
            <a:ext cx="502920" cy="292608"/>
          </a:xfrm>
          <a:prstGeom prst="roundRect">
            <a:avLst>
              <a:gd name="adj" fmla="val 50000"/>
            </a:avLst>
          </a:prstGeom>
          <a:solidFill>
            <a:srgbClr val="C45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e"/>
          <p:cNvSpPr txBox="1"/>
          <p:nvPr/>
        </p:nvSpPr>
        <p:spPr>
          <a:xfrm>
            <a:off x="10835640" y="3456432"/>
            <a:ext cx="594360" cy="329184"/>
          </a:xfrm>
          <a:prstGeom prst="rect">
            <a:avLst/>
          </a:prstGeom>
          <a:noFill/>
        </p:spPr>
        <p:txBody>
          <a:bodyPr wrap="square" anchor="ctr">
            <a:spAutoFit/>
          </a:bodyPr>
          <a:lstStyle/>
          <a:p>
            <a:pPr algn="ctr">
              <a:spcAft>
                <a:spcPts val="400"/>
              </a:spcAft>
            </a:pPr>
            <a:r>
              <a:rPr sz="1300" b="1" i="0">
                <a:solidFill>
                  <a:srgbClr val="FFFFFF"/>
                </a:solidFill>
                <a:latin typeface="Calibri"/>
              </a:rPr>
              <a:t>B</a:t>
            </a:r>
          </a:p>
        </p:txBody>
      </p:sp>
      <p:sp>
        <p:nvSpPr>
          <p:cNvPr id="32" name="Rounded Rectangle 31"/>
          <p:cNvSpPr/>
          <p:nvPr/>
        </p:nvSpPr>
        <p:spPr>
          <a:xfrm>
            <a:off x="548640" y="4206240"/>
            <a:ext cx="11094415" cy="2011680"/>
          </a:xfrm>
          <a:prstGeom prst="roundRect">
            <a:avLst>
              <a:gd name="adj" fmla="val 8000"/>
            </a:avLst>
          </a:prstGeom>
          <a:solidFill>
            <a:srgbClr val="FF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e"/>
          <p:cNvSpPr txBox="1"/>
          <p:nvPr/>
        </p:nvSpPr>
        <p:spPr>
          <a:xfrm>
            <a:off x="731520" y="4297680"/>
            <a:ext cx="10728655" cy="1828800"/>
          </a:xfrm>
          <a:prstGeom prst="rect">
            <a:avLst/>
          </a:prstGeom>
          <a:noFill/>
        </p:spPr>
        <p:txBody>
          <a:bodyPr wrap="square" anchor="t">
            <a:spAutoFit/>
          </a:bodyPr>
          <a:lstStyle/>
          <a:p>
            <a:pPr algn="l">
              <a:spcAft>
                <a:spcPts val="600"/>
              </a:spcAft>
            </a:pPr>
            <a:r>
              <a:rPr sz="2000" b="1" i="0">
                <a:solidFill>
                  <a:srgbClr val="3B1F52"/>
                </a:solidFill>
                <a:latin typeface="Calibri"/>
              </a:rPr>
              <a:t>TLS ≠ chiffrement de bout en bout</a:t>
            </a:r>
          </a:p>
          <a:p>
            <a:pPr algn="l">
              <a:spcAft>
                <a:spcPts val="600"/>
              </a:spcAft>
            </a:pPr>
            <a:r>
              <a:rPr sz="1600" b="0" i="0">
                <a:solidFill>
                  <a:srgbClr val="1E1A24"/>
                </a:solidFill>
                <a:latin typeface="Calibri"/>
              </a:rPr>
              <a:t>Sans E2EE actif, l’opérateur de la base peut lire le contenu. L’E2EE est implémenté et testé unitairement (classe B) mais non validé entre deux comptes réels, et sa migration n’est pas confirmée en production.</a:t>
            </a:r>
          </a:p>
          <a:p>
            <a:pPr algn="l">
              <a:spcAft>
                <a:spcPts val="600"/>
              </a:spcAft>
            </a:pPr>
            <a:r>
              <a:rPr sz="1600" b="0" i="0">
                <a:solidFill>
                  <a:srgbClr val="1E1A24"/>
                </a:solidFill>
                <a:latin typeface="Calibri"/>
              </a:rPr>
              <a:t>Pas de secret de transmission aval ; métadonnées visibles.</a:t>
            </a:r>
          </a:p>
        </p:txBody>
      </p:sp>
      <p:sp>
        <p:nvSpPr>
          <p:cNvPr id="3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12</a:t>
            </a:r>
          </a:p>
        </p:txBody>
      </p:sp>
      <p:sp>
        <p:nvSpPr>
          <p:cNvPr id="3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Résilience : des mécanismes, une efficacité à prouver</a:t>
            </a:r>
          </a:p>
        </p:txBody>
      </p:sp>
      <p:sp>
        <p:nvSpPr>
          <p:cNvPr id="3" name="Rounded Rectangle 2"/>
          <p:cNvSpPr/>
          <p:nvPr/>
        </p:nvSpPr>
        <p:spPr>
          <a:xfrm>
            <a:off x="548640" y="1417320"/>
            <a:ext cx="2057400" cy="1188720"/>
          </a:xfrm>
          <a:prstGeom prst="roundRect">
            <a:avLst>
              <a:gd name="adj" fmla="val 8000"/>
            </a:avLst>
          </a:prstGeom>
          <a:solidFill>
            <a:srgbClr val="F4C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594360" y="1417320"/>
            <a:ext cx="1965960" cy="1188720"/>
          </a:xfrm>
          <a:prstGeom prst="rect">
            <a:avLst/>
          </a:prstGeom>
          <a:noFill/>
        </p:spPr>
        <p:txBody>
          <a:bodyPr wrap="square" anchor="ctr">
            <a:spAutoFit/>
          </a:bodyPr>
          <a:lstStyle/>
          <a:p>
            <a:pPr algn="ctr">
              <a:spcAft>
                <a:spcPts val="400"/>
              </a:spcAft>
            </a:pPr>
            <a:r>
              <a:rPr sz="1600" b="1" i="0">
                <a:solidFill>
                  <a:srgbClr val="3B1F52"/>
                </a:solidFill>
                <a:latin typeface="Calibri"/>
              </a:rPr>
              <a:t>Communication normale</a:t>
            </a:r>
          </a:p>
        </p:txBody>
      </p:sp>
      <p:cxnSp>
        <p:nvCxnSpPr>
          <p:cNvPr id="5" name="Connector 4"/>
          <p:cNvCxnSpPr/>
          <p:nvPr/>
        </p:nvCxnSpPr>
        <p:spPr>
          <a:xfrm>
            <a:off x="2606040" y="20116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788920" y="1417320"/>
            <a:ext cx="2057400" cy="11887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2834640" y="1417320"/>
            <a:ext cx="1965960" cy="1188720"/>
          </a:xfrm>
          <a:prstGeom prst="rect">
            <a:avLst/>
          </a:prstGeom>
          <a:noFill/>
        </p:spPr>
        <p:txBody>
          <a:bodyPr wrap="square" anchor="ctr">
            <a:spAutoFit/>
          </a:bodyPr>
          <a:lstStyle/>
          <a:p>
            <a:pPr algn="ctr">
              <a:spcAft>
                <a:spcPts val="400"/>
              </a:spcAft>
            </a:pPr>
            <a:r>
              <a:rPr sz="1600" b="1" i="0">
                <a:solidFill>
                  <a:srgbClr val="3B1F52"/>
                </a:solidFill>
                <a:latin typeface="Calibri"/>
              </a:rPr>
              <a:t>Coupure ou changement de réseau</a:t>
            </a:r>
          </a:p>
        </p:txBody>
      </p:sp>
      <p:cxnSp>
        <p:nvCxnSpPr>
          <p:cNvPr id="8" name="Connector 7"/>
          <p:cNvCxnSpPr/>
          <p:nvPr/>
        </p:nvCxnSpPr>
        <p:spPr>
          <a:xfrm>
            <a:off x="4846320" y="20116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0" y="1417320"/>
            <a:ext cx="2057400" cy="11887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5074920" y="1417320"/>
            <a:ext cx="1965960" cy="1188720"/>
          </a:xfrm>
          <a:prstGeom prst="rect">
            <a:avLst/>
          </a:prstGeom>
          <a:noFill/>
        </p:spPr>
        <p:txBody>
          <a:bodyPr wrap="square" anchor="ctr">
            <a:spAutoFit/>
          </a:bodyPr>
          <a:lstStyle/>
          <a:p>
            <a:pPr algn="ctr">
              <a:spcAft>
                <a:spcPts val="400"/>
              </a:spcAft>
            </a:pPr>
            <a:r>
              <a:rPr sz="1600" b="1" i="0">
                <a:solidFill>
                  <a:srgbClr val="3B1F52"/>
                </a:solidFill>
                <a:latin typeface="Calibri"/>
              </a:rPr>
              <a:t>Détection (connectionState)</a:t>
            </a:r>
          </a:p>
        </p:txBody>
      </p:sp>
      <p:cxnSp>
        <p:nvCxnSpPr>
          <p:cNvPr id="11" name="Connector 10"/>
          <p:cNvCxnSpPr/>
          <p:nvPr/>
        </p:nvCxnSpPr>
        <p:spPr>
          <a:xfrm>
            <a:off x="7086600" y="20116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269480" y="1417320"/>
            <a:ext cx="2057400" cy="11887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7315200" y="1417320"/>
            <a:ext cx="1965960" cy="1188720"/>
          </a:xfrm>
          <a:prstGeom prst="rect">
            <a:avLst/>
          </a:prstGeom>
          <a:noFill/>
        </p:spPr>
        <p:txBody>
          <a:bodyPr wrap="square" anchor="ctr">
            <a:spAutoFit/>
          </a:bodyPr>
          <a:lstStyle/>
          <a:p>
            <a:pPr algn="ctr">
              <a:spcAft>
                <a:spcPts val="400"/>
              </a:spcAft>
            </a:pPr>
            <a:r>
              <a:rPr sz="1600" b="1" i="0">
                <a:solidFill>
                  <a:srgbClr val="3B1F52"/>
                </a:solidFill>
                <a:latin typeface="Calibri"/>
              </a:rPr>
              <a:t>Reprise ICE (≤ 3 essais)</a:t>
            </a:r>
          </a:p>
        </p:txBody>
      </p:sp>
      <p:cxnSp>
        <p:nvCxnSpPr>
          <p:cNvPr id="14" name="Connector 13"/>
          <p:cNvCxnSpPr/>
          <p:nvPr/>
        </p:nvCxnSpPr>
        <p:spPr>
          <a:xfrm>
            <a:off x="9326880" y="201168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09760" y="1417320"/>
            <a:ext cx="2057400" cy="1188720"/>
          </a:xfrm>
          <a:prstGeom prst="roundRect">
            <a:avLst>
              <a:gd name="adj" fmla="val 8000"/>
            </a:avLst>
          </a:prstGeom>
          <a:solidFill>
            <a:srgbClr val="F4C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
          <p:cNvSpPr txBox="1"/>
          <p:nvPr/>
        </p:nvSpPr>
        <p:spPr>
          <a:xfrm>
            <a:off x="9555480" y="1417320"/>
            <a:ext cx="1965960" cy="1188720"/>
          </a:xfrm>
          <a:prstGeom prst="rect">
            <a:avLst/>
          </a:prstGeom>
          <a:noFill/>
        </p:spPr>
        <p:txBody>
          <a:bodyPr wrap="square" anchor="ctr">
            <a:spAutoFit/>
          </a:bodyPr>
          <a:lstStyle/>
          <a:p>
            <a:pPr algn="ctr">
              <a:spcAft>
                <a:spcPts val="400"/>
              </a:spcAft>
            </a:pPr>
            <a:r>
              <a:rPr sz="1600" b="1" i="0">
                <a:solidFill>
                  <a:srgbClr val="3B1F52"/>
                </a:solidFill>
                <a:latin typeface="Calibri"/>
              </a:rPr>
              <a:t>Reprise ou abandon (20 s)</a:t>
            </a:r>
          </a:p>
        </p:txBody>
      </p:sp>
      <p:sp>
        <p:nvSpPr>
          <p:cNvPr id="17" name="carte Signalisation double"/>
          <p:cNvSpPr/>
          <p:nvPr/>
        </p:nvSpPr>
        <p:spPr>
          <a:xfrm>
            <a:off x="548640" y="2926080"/>
            <a:ext cx="2606040" cy="19202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arte-titre"/>
          <p:cNvSpPr txBox="1"/>
          <p:nvPr/>
        </p:nvSpPr>
        <p:spPr>
          <a:xfrm>
            <a:off x="685800" y="3017520"/>
            <a:ext cx="2331720" cy="548640"/>
          </a:xfrm>
          <a:prstGeom prst="rect">
            <a:avLst/>
          </a:prstGeom>
          <a:noFill/>
        </p:spPr>
        <p:txBody>
          <a:bodyPr wrap="square" anchor="t">
            <a:spAutoFit/>
          </a:bodyPr>
          <a:lstStyle/>
          <a:p>
            <a:pPr algn="l">
              <a:spcAft>
                <a:spcPts val="400"/>
              </a:spcAft>
            </a:pPr>
            <a:r>
              <a:rPr sz="1800" b="1" i="0">
                <a:solidFill>
                  <a:srgbClr val="3B1F52"/>
                </a:solidFill>
                <a:latin typeface="Calibri"/>
              </a:rPr>
              <a:t>Signalisation double</a:t>
            </a:r>
          </a:p>
        </p:txBody>
      </p:sp>
      <p:sp>
        <p:nvSpPr>
          <p:cNvPr id="19" name="carte-texte"/>
          <p:cNvSpPr txBox="1"/>
          <p:nvPr/>
        </p:nvSpPr>
        <p:spPr>
          <a:xfrm>
            <a:off x="685800" y="3584448"/>
            <a:ext cx="2331720" cy="1170432"/>
          </a:xfrm>
          <a:prstGeom prst="rect">
            <a:avLst/>
          </a:prstGeom>
          <a:noFill/>
        </p:spPr>
        <p:txBody>
          <a:bodyPr wrap="square" anchor="t">
            <a:spAutoFit/>
          </a:bodyPr>
          <a:lstStyle/>
          <a:p>
            <a:pPr algn="l">
              <a:spcAft>
                <a:spcPts val="300"/>
              </a:spcAft>
            </a:pPr>
            <a:r>
              <a:rPr sz="1600" b="0" i="0">
                <a:solidFill>
                  <a:srgbClr val="1E1A24"/>
                </a:solidFill>
                <a:latin typeface="Calibri"/>
              </a:rPr>
              <a:t>diffusion rapide + table durable</a:t>
            </a:r>
          </a:p>
        </p:txBody>
      </p:sp>
      <p:sp>
        <p:nvSpPr>
          <p:cNvPr id="20" name="carte Rattrapage"/>
          <p:cNvSpPr/>
          <p:nvPr/>
        </p:nvSpPr>
        <p:spPr>
          <a:xfrm>
            <a:off x="3337560" y="2926080"/>
            <a:ext cx="2606040" cy="19202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arte-titre"/>
          <p:cNvSpPr txBox="1"/>
          <p:nvPr/>
        </p:nvSpPr>
        <p:spPr>
          <a:xfrm>
            <a:off x="3474720" y="3017520"/>
            <a:ext cx="2331720" cy="548640"/>
          </a:xfrm>
          <a:prstGeom prst="rect">
            <a:avLst/>
          </a:prstGeom>
          <a:noFill/>
        </p:spPr>
        <p:txBody>
          <a:bodyPr wrap="square" anchor="t">
            <a:spAutoFit/>
          </a:bodyPr>
          <a:lstStyle/>
          <a:p>
            <a:pPr algn="l">
              <a:spcAft>
                <a:spcPts val="400"/>
              </a:spcAft>
            </a:pPr>
            <a:r>
              <a:rPr sz="1800" b="1" i="0">
                <a:solidFill>
                  <a:srgbClr val="3B1F52"/>
                </a:solidFill>
                <a:latin typeface="Calibri"/>
              </a:rPr>
              <a:t>Rattrapage</a:t>
            </a:r>
          </a:p>
        </p:txBody>
      </p:sp>
      <p:sp>
        <p:nvSpPr>
          <p:cNvPr id="22" name="carte-texte"/>
          <p:cNvSpPr txBox="1"/>
          <p:nvPr/>
        </p:nvSpPr>
        <p:spPr>
          <a:xfrm>
            <a:off x="3474720" y="3584448"/>
            <a:ext cx="2331720" cy="1170432"/>
          </a:xfrm>
          <a:prstGeom prst="rect">
            <a:avLst/>
          </a:prstGeom>
          <a:noFill/>
        </p:spPr>
        <p:txBody>
          <a:bodyPr wrap="square" anchor="t">
            <a:spAutoFit/>
          </a:bodyPr>
          <a:lstStyle/>
          <a:p>
            <a:pPr algn="l">
              <a:spcAft>
                <a:spcPts val="300"/>
              </a:spcAft>
            </a:pPr>
            <a:r>
              <a:rPr sz="1600" b="0" i="0">
                <a:solidFill>
                  <a:srgbClr val="1E1A24"/>
                </a:solidFill>
                <a:latin typeface="Calibri"/>
              </a:rPr>
              <a:t>relecture des messages à la reprise</a:t>
            </a:r>
          </a:p>
        </p:txBody>
      </p:sp>
      <p:sp>
        <p:nvSpPr>
          <p:cNvPr id="23" name="carte Redémarrage ICE"/>
          <p:cNvSpPr/>
          <p:nvPr/>
        </p:nvSpPr>
        <p:spPr>
          <a:xfrm>
            <a:off x="6126479" y="2926080"/>
            <a:ext cx="2606040" cy="19202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arte-titre"/>
          <p:cNvSpPr txBox="1"/>
          <p:nvPr/>
        </p:nvSpPr>
        <p:spPr>
          <a:xfrm>
            <a:off x="6263640" y="3017520"/>
            <a:ext cx="2331720" cy="548640"/>
          </a:xfrm>
          <a:prstGeom prst="rect">
            <a:avLst/>
          </a:prstGeom>
          <a:noFill/>
        </p:spPr>
        <p:txBody>
          <a:bodyPr wrap="square" anchor="t">
            <a:spAutoFit/>
          </a:bodyPr>
          <a:lstStyle/>
          <a:p>
            <a:pPr algn="l">
              <a:spcAft>
                <a:spcPts val="400"/>
              </a:spcAft>
            </a:pPr>
            <a:r>
              <a:rPr sz="1800" b="1" i="0">
                <a:solidFill>
                  <a:srgbClr val="3B1F52"/>
                </a:solidFill>
                <a:latin typeface="Calibri"/>
              </a:rPr>
              <a:t>Redémarrage ICE</a:t>
            </a:r>
          </a:p>
        </p:txBody>
      </p:sp>
      <p:sp>
        <p:nvSpPr>
          <p:cNvPr id="25" name="carte-texte"/>
          <p:cNvSpPr txBox="1"/>
          <p:nvPr/>
        </p:nvSpPr>
        <p:spPr>
          <a:xfrm>
            <a:off x="6263640" y="3584448"/>
            <a:ext cx="2331720" cy="1170432"/>
          </a:xfrm>
          <a:prstGeom prst="rect">
            <a:avLst/>
          </a:prstGeom>
          <a:noFill/>
        </p:spPr>
        <p:txBody>
          <a:bodyPr wrap="square" anchor="t">
            <a:spAutoFit/>
          </a:bodyPr>
          <a:lstStyle/>
          <a:p>
            <a:pPr algn="l">
              <a:spcAft>
                <a:spcPts val="300"/>
              </a:spcAft>
            </a:pPr>
            <a:r>
              <a:rPr sz="1600" b="0" i="0">
                <a:solidFill>
                  <a:srgbClr val="1E1A24"/>
                </a:solidFill>
                <a:latin typeface="Calibri"/>
              </a:rPr>
              <a:t>par l’appelant, abandon après 20 s</a:t>
            </a:r>
          </a:p>
        </p:txBody>
      </p:sp>
      <p:sp>
        <p:nvSpPr>
          <p:cNvPr id="26" name="carte Reprise du micro"/>
          <p:cNvSpPr/>
          <p:nvPr/>
        </p:nvSpPr>
        <p:spPr>
          <a:xfrm>
            <a:off x="8915399" y="2926080"/>
            <a:ext cx="2606040" cy="192024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arte-titre"/>
          <p:cNvSpPr txBox="1"/>
          <p:nvPr/>
        </p:nvSpPr>
        <p:spPr>
          <a:xfrm>
            <a:off x="9052559" y="3017520"/>
            <a:ext cx="2331720" cy="548640"/>
          </a:xfrm>
          <a:prstGeom prst="rect">
            <a:avLst/>
          </a:prstGeom>
          <a:noFill/>
        </p:spPr>
        <p:txBody>
          <a:bodyPr wrap="square" anchor="t">
            <a:spAutoFit/>
          </a:bodyPr>
          <a:lstStyle/>
          <a:p>
            <a:pPr algn="l">
              <a:spcAft>
                <a:spcPts val="400"/>
              </a:spcAft>
            </a:pPr>
            <a:r>
              <a:rPr sz="1800" b="1" i="0">
                <a:solidFill>
                  <a:srgbClr val="3B1F52"/>
                </a:solidFill>
                <a:latin typeface="Calibri"/>
              </a:rPr>
              <a:t>Reprise du micro</a:t>
            </a:r>
          </a:p>
        </p:txBody>
      </p:sp>
      <p:sp>
        <p:nvSpPr>
          <p:cNvPr id="28" name="carte-texte"/>
          <p:cNvSpPr txBox="1"/>
          <p:nvPr/>
        </p:nvSpPr>
        <p:spPr>
          <a:xfrm>
            <a:off x="9052559" y="3584448"/>
            <a:ext cx="2331720" cy="1170432"/>
          </a:xfrm>
          <a:prstGeom prst="rect">
            <a:avLst/>
          </a:prstGeom>
          <a:noFill/>
        </p:spPr>
        <p:txBody>
          <a:bodyPr wrap="square" anchor="t">
            <a:spAutoFit/>
          </a:bodyPr>
          <a:lstStyle/>
          <a:p>
            <a:pPr algn="l">
              <a:spcAft>
                <a:spcPts val="300"/>
              </a:spcAft>
            </a:pPr>
            <a:r>
              <a:rPr sz="1600" b="0" i="0">
                <a:solidFill>
                  <a:srgbClr val="1E1A24"/>
                </a:solidFill>
                <a:latin typeface="Calibri"/>
              </a:rPr>
              <a:t>nouvelle capture, même connexion</a:t>
            </a:r>
          </a:p>
        </p:txBody>
      </p:sp>
      <p:sp>
        <p:nvSpPr>
          <p:cNvPr id="29" name="texte"/>
          <p:cNvSpPr txBox="1"/>
          <p:nvPr/>
        </p:nvSpPr>
        <p:spPr>
          <a:xfrm>
            <a:off x="548640" y="5166360"/>
            <a:ext cx="11094415" cy="1097280"/>
          </a:xfrm>
          <a:prstGeom prst="rect">
            <a:avLst/>
          </a:prstGeom>
          <a:noFill/>
        </p:spPr>
        <p:txBody>
          <a:bodyPr wrap="square" anchor="t">
            <a:spAutoFit/>
          </a:bodyPr>
          <a:lstStyle/>
          <a:p>
            <a:pPr algn="l">
              <a:spcAft>
                <a:spcPts val="400"/>
              </a:spcAft>
            </a:pPr>
            <a:r>
              <a:rPr sz="2000" b="1" i="0">
                <a:solidFill>
                  <a:srgbClr val="C45C7E"/>
                </a:solidFill>
                <a:latin typeface="Calibri"/>
              </a:rPr>
              <a:t>Aucun temps de reprise n’a été mesuré : les scénarios S-5 et S-6 sont protocolés, pas exécutés.</a:t>
            </a:r>
          </a:p>
        </p:txBody>
      </p:sp>
      <p:sp>
        <p:nvSpPr>
          <p:cNvPr id="30"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13</a:t>
            </a:r>
          </a:p>
        </p:txBody>
      </p:sp>
      <p:sp>
        <p:nvSpPr>
          <p:cNvPr id="31"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Un appel est un état, pas un écran</a:t>
            </a:r>
          </a:p>
        </p:txBody>
      </p:sp>
      <p:sp>
        <p:nvSpPr>
          <p:cNvPr id="3" name="Rounded Rectangle 2"/>
          <p:cNvSpPr/>
          <p:nvPr/>
        </p:nvSpPr>
        <p:spPr>
          <a:xfrm>
            <a:off x="548640" y="1463040"/>
            <a:ext cx="1371600" cy="7315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548640" y="1463040"/>
            <a:ext cx="1371600" cy="731520"/>
          </a:xfrm>
          <a:prstGeom prst="rect">
            <a:avLst/>
          </a:prstGeom>
          <a:noFill/>
        </p:spPr>
        <p:txBody>
          <a:bodyPr wrap="square" anchor="ctr">
            <a:spAutoFit/>
          </a:bodyPr>
          <a:lstStyle/>
          <a:p>
            <a:pPr algn="ctr">
              <a:spcAft>
                <a:spcPts val="400"/>
              </a:spcAft>
            </a:pPr>
            <a:r>
              <a:rPr sz="1400" b="1" i="0">
                <a:solidFill>
                  <a:srgbClr val="3B1F52"/>
                </a:solidFill>
                <a:latin typeface="Calibri"/>
              </a:rPr>
              <a:t>idle</a:t>
            </a:r>
          </a:p>
        </p:txBody>
      </p:sp>
      <p:cxnSp>
        <p:nvCxnSpPr>
          <p:cNvPr id="5" name="Connector 4"/>
          <p:cNvCxnSpPr/>
          <p:nvPr/>
        </p:nvCxnSpPr>
        <p:spPr>
          <a:xfrm>
            <a:off x="1920240" y="182880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103120" y="1463040"/>
            <a:ext cx="1371600" cy="7315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2103120" y="1463040"/>
            <a:ext cx="1371600" cy="731520"/>
          </a:xfrm>
          <a:prstGeom prst="rect">
            <a:avLst/>
          </a:prstGeom>
          <a:noFill/>
        </p:spPr>
        <p:txBody>
          <a:bodyPr wrap="square" anchor="ctr">
            <a:spAutoFit/>
          </a:bodyPr>
          <a:lstStyle/>
          <a:p>
            <a:pPr algn="ctr">
              <a:spcAft>
                <a:spcPts val="400"/>
              </a:spcAft>
            </a:pPr>
            <a:r>
              <a:rPr sz="1400" b="1" i="0">
                <a:solidFill>
                  <a:srgbClr val="3B1F52"/>
                </a:solidFill>
                <a:latin typeface="Calibri"/>
              </a:rPr>
              <a:t>sortant / entrant</a:t>
            </a:r>
          </a:p>
        </p:txBody>
      </p:sp>
      <p:cxnSp>
        <p:nvCxnSpPr>
          <p:cNvPr id="8" name="Connector 7"/>
          <p:cNvCxnSpPr/>
          <p:nvPr/>
        </p:nvCxnSpPr>
        <p:spPr>
          <a:xfrm>
            <a:off x="3474720" y="182880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0" y="1463040"/>
            <a:ext cx="1371600" cy="7315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3657600" y="1463040"/>
            <a:ext cx="1371600" cy="731520"/>
          </a:xfrm>
          <a:prstGeom prst="rect">
            <a:avLst/>
          </a:prstGeom>
          <a:noFill/>
        </p:spPr>
        <p:txBody>
          <a:bodyPr wrap="square" anchor="ctr">
            <a:spAutoFit/>
          </a:bodyPr>
          <a:lstStyle/>
          <a:p>
            <a:pPr algn="ctr">
              <a:spcAft>
                <a:spcPts val="400"/>
              </a:spcAft>
            </a:pPr>
            <a:r>
              <a:rPr sz="1400" b="1" i="0">
                <a:solidFill>
                  <a:srgbClr val="3B1F52"/>
                </a:solidFill>
                <a:latin typeface="Calibri"/>
              </a:rPr>
              <a:t>connecting</a:t>
            </a:r>
          </a:p>
        </p:txBody>
      </p:sp>
      <p:cxnSp>
        <p:nvCxnSpPr>
          <p:cNvPr id="11" name="Connector 10"/>
          <p:cNvCxnSpPr/>
          <p:nvPr/>
        </p:nvCxnSpPr>
        <p:spPr>
          <a:xfrm>
            <a:off x="5029200" y="182880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212079" y="1463040"/>
            <a:ext cx="1371600" cy="731520"/>
          </a:xfrm>
          <a:prstGeom prst="roundRect">
            <a:avLst>
              <a:gd name="adj" fmla="val 8000"/>
            </a:avLst>
          </a:prstGeom>
          <a:solidFill>
            <a:srgbClr val="F4C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5212079" y="1463040"/>
            <a:ext cx="1371600" cy="731520"/>
          </a:xfrm>
          <a:prstGeom prst="rect">
            <a:avLst/>
          </a:prstGeom>
          <a:noFill/>
        </p:spPr>
        <p:txBody>
          <a:bodyPr wrap="square" anchor="ctr">
            <a:spAutoFit/>
          </a:bodyPr>
          <a:lstStyle/>
          <a:p>
            <a:pPr algn="ctr">
              <a:spcAft>
                <a:spcPts val="400"/>
              </a:spcAft>
            </a:pPr>
            <a:r>
              <a:rPr sz="1400" b="1" i="0">
                <a:solidFill>
                  <a:srgbClr val="3B1F52"/>
                </a:solidFill>
                <a:latin typeface="Calibri"/>
              </a:rPr>
              <a:t>connected</a:t>
            </a:r>
          </a:p>
        </p:txBody>
      </p:sp>
      <p:cxnSp>
        <p:nvCxnSpPr>
          <p:cNvPr id="14" name="Connector 13"/>
          <p:cNvCxnSpPr/>
          <p:nvPr/>
        </p:nvCxnSpPr>
        <p:spPr>
          <a:xfrm>
            <a:off x="6583679" y="1828800"/>
            <a:ext cx="18288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66559" y="1463040"/>
            <a:ext cx="1371600" cy="7315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
          <p:cNvSpPr txBox="1"/>
          <p:nvPr/>
        </p:nvSpPr>
        <p:spPr>
          <a:xfrm>
            <a:off x="6766559" y="1463040"/>
            <a:ext cx="1371600" cy="731520"/>
          </a:xfrm>
          <a:prstGeom prst="rect">
            <a:avLst/>
          </a:prstGeom>
          <a:noFill/>
        </p:spPr>
        <p:txBody>
          <a:bodyPr wrap="square" anchor="ctr">
            <a:spAutoFit/>
          </a:bodyPr>
          <a:lstStyle/>
          <a:p>
            <a:pPr algn="ctr">
              <a:spcAft>
                <a:spcPts val="400"/>
              </a:spcAft>
            </a:pPr>
            <a:r>
              <a:rPr sz="1400" b="1" i="0">
                <a:solidFill>
                  <a:srgbClr val="3B1F52"/>
                </a:solidFill>
                <a:latin typeface="Calibri"/>
              </a:rPr>
              <a:t>ended</a:t>
            </a:r>
          </a:p>
        </p:txBody>
      </p:sp>
      <p:sp>
        <p:nvSpPr>
          <p:cNvPr id="17" name="Rounded Rectangle 16"/>
          <p:cNvSpPr/>
          <p:nvPr/>
        </p:nvSpPr>
        <p:spPr>
          <a:xfrm>
            <a:off x="548640" y="2651760"/>
            <a:ext cx="3566160" cy="21031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e"/>
          <p:cNvSpPr txBox="1"/>
          <p:nvPr/>
        </p:nvSpPr>
        <p:spPr>
          <a:xfrm>
            <a:off x="685800" y="2743200"/>
            <a:ext cx="3291840" cy="1920240"/>
          </a:xfrm>
          <a:prstGeom prst="rect">
            <a:avLst/>
          </a:prstGeom>
          <a:noFill/>
        </p:spPr>
        <p:txBody>
          <a:bodyPr wrap="square" anchor="t">
            <a:spAutoFit/>
          </a:bodyPr>
          <a:lstStyle/>
          <a:p>
            <a:pPr algn="l">
              <a:spcAft>
                <a:spcPts val="500"/>
              </a:spcAft>
            </a:pPr>
            <a:r>
              <a:rPr sz="2000" b="1" i="0">
                <a:solidFill>
                  <a:srgbClr val="F4C4B2"/>
                </a:solidFill>
                <a:latin typeface="Calibri"/>
              </a:rPr>
              <a:t>CallProvider</a:t>
            </a:r>
          </a:p>
          <a:p>
            <a:pPr algn="l">
              <a:spcAft>
                <a:spcPts val="500"/>
              </a:spcAft>
            </a:pPr>
            <a:r>
              <a:rPr sz="1600" b="0" i="0">
                <a:solidFill>
                  <a:srgbClr val="FFFFFF"/>
                </a:solidFill>
                <a:latin typeface="Calibri"/>
              </a:rPr>
              <a:t>Monté dans le layout. Porte la connexion, les flux, la signalisation, les minuteries.</a:t>
            </a:r>
          </a:p>
        </p:txBody>
      </p:sp>
      <p:sp>
        <p:nvSpPr>
          <p:cNvPr id="19" name="Rounded Rectangle 18"/>
          <p:cNvSpPr/>
          <p:nvPr/>
        </p:nvSpPr>
        <p:spPr>
          <a:xfrm>
            <a:off x="4663440" y="2651760"/>
            <a:ext cx="3566160" cy="210312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e"/>
          <p:cNvSpPr txBox="1"/>
          <p:nvPr/>
        </p:nvSpPr>
        <p:spPr>
          <a:xfrm>
            <a:off x="4800600" y="2743200"/>
            <a:ext cx="3291840" cy="1920240"/>
          </a:xfrm>
          <a:prstGeom prst="rect">
            <a:avLst/>
          </a:prstGeom>
          <a:noFill/>
        </p:spPr>
        <p:txBody>
          <a:bodyPr wrap="square" anchor="t">
            <a:spAutoFit/>
          </a:bodyPr>
          <a:lstStyle/>
          <a:p>
            <a:pPr algn="l">
              <a:spcAft>
                <a:spcPts val="500"/>
              </a:spcAft>
            </a:pPr>
            <a:r>
              <a:rPr sz="2000" b="1" i="0">
                <a:solidFill>
                  <a:srgbClr val="2F7F7A"/>
                </a:solidFill>
                <a:latin typeface="Calibri"/>
              </a:rPr>
              <a:t>CallOverlay</a:t>
            </a:r>
          </a:p>
          <a:p>
            <a:pPr algn="l">
              <a:spcAft>
                <a:spcPts val="500"/>
              </a:spcAft>
            </a:pPr>
            <a:r>
              <a:rPr sz="1600" b="0" i="0">
                <a:solidFill>
                  <a:srgbClr val="1E1A24"/>
                </a:solidFill>
                <a:latin typeface="Calibri"/>
              </a:rPr>
              <a:t>Simple vue : plein écran ou palette. Peut disparaître sans toucher à l’appel.</a:t>
            </a:r>
          </a:p>
        </p:txBody>
      </p:sp>
      <p:cxnSp>
        <p:nvCxnSpPr>
          <p:cNvPr id="21" name="Connector 20"/>
          <p:cNvCxnSpPr/>
          <p:nvPr/>
        </p:nvCxnSpPr>
        <p:spPr>
          <a:xfrm>
            <a:off x="4114800" y="3703320"/>
            <a:ext cx="548640" cy="0"/>
          </a:xfrm>
          <a:prstGeom prst="line">
            <a:avLst/>
          </a:prstGeom>
          <a:ln w="22225">
            <a:solidFill>
              <a:srgbClr val="2F7F7A"/>
            </a:solidFill>
            <a:tailEnd type="triangle"/>
          </a:ln>
        </p:spPr>
        <p:style>
          <a:lnRef idx="2">
            <a:schemeClr val="accent1"/>
          </a:lnRef>
          <a:fillRef idx="0">
            <a:schemeClr val="accent1"/>
          </a:fillRef>
          <a:effectRef idx="1">
            <a:schemeClr val="accent1"/>
          </a:effectRef>
          <a:fontRef idx="minor">
            <a:schemeClr val="tx1"/>
          </a:fontRef>
        </p:style>
      </p:cxnSp>
      <p:sp>
        <p:nvSpPr>
          <p:cNvPr id="22" name="texte"/>
          <p:cNvSpPr txBox="1"/>
          <p:nvPr/>
        </p:nvSpPr>
        <p:spPr>
          <a:xfrm>
            <a:off x="548640" y="5029200"/>
            <a:ext cx="7680960" cy="1188720"/>
          </a:xfrm>
          <a:prstGeom prst="rect">
            <a:avLst/>
          </a:prstGeom>
          <a:noFill/>
        </p:spPr>
        <p:txBody>
          <a:bodyPr wrap="square" anchor="t">
            <a:spAutoFit/>
          </a:bodyPr>
          <a:lstStyle/>
          <a:p>
            <a:pPr algn="l">
              <a:spcAft>
                <a:spcPts val="400"/>
              </a:spcAft>
            </a:pPr>
            <a:r>
              <a:rPr sz="1600" b="0" i="0">
                <a:solidFill>
                  <a:srgbClr val="1E1A24"/>
                </a:solidFill>
                <a:latin typeface="Calibri"/>
              </a:rPr>
              <a:t>Retiré : le raccrochage sur pagehide (iOS le déclenche en arrière-plan). Ajouté : Wake Lock d’écran, reprise du micro.</a:t>
            </a:r>
          </a:p>
        </p:txBody>
      </p:sp>
      <p:sp>
        <p:nvSpPr>
          <p:cNvPr id="23" name="texte"/>
          <p:cNvSpPr txBox="1"/>
          <p:nvPr/>
        </p:nvSpPr>
        <p:spPr>
          <a:xfrm>
            <a:off x="8595360" y="1417320"/>
            <a:ext cx="3108960" cy="4846320"/>
          </a:xfrm>
          <a:prstGeom prst="rect">
            <a:avLst/>
          </a:prstGeom>
          <a:noFill/>
        </p:spPr>
        <p:txBody>
          <a:bodyPr wrap="square" anchor="t">
            <a:spAutoFit/>
          </a:bodyPr>
          <a:lstStyle/>
          <a:p>
            <a:pPr algn="l">
              <a:spcAft>
                <a:spcPts val="800"/>
              </a:spcAft>
            </a:pPr>
            <a:r>
              <a:rPr sz="2000" b="1" i="0">
                <a:solidFill>
                  <a:srgbClr val="3B1F52"/>
                </a:solidFill>
                <a:latin typeface="Calibri"/>
              </a:rPr>
              <a:t>Hypothèse H1</a:t>
            </a:r>
          </a:p>
          <a:p>
            <a:pPr algn="l">
              <a:spcAft>
                <a:spcPts val="800"/>
              </a:spcAft>
            </a:pPr>
            <a:r>
              <a:rPr sz="1600" b="0" i="0">
                <a:solidFill>
                  <a:srgbClr val="1E1A24"/>
                </a:solidFill>
                <a:latin typeface="Calibri"/>
              </a:rPr>
              <a:t>Séparer l’état de l’appel de son affichage le rend tolérant aux changements d’interface.</a:t>
            </a:r>
          </a:p>
          <a:p>
            <a:pPr algn="l">
              <a:spcAft>
                <a:spcPts val="800"/>
              </a:spcAft>
            </a:pPr>
            <a:r>
              <a:rPr sz="2000" b="1" i="0">
                <a:solidFill>
                  <a:srgbClr val="C45C7E"/>
                </a:solidFill>
                <a:latin typeface="Calibri"/>
              </a:rPr>
              <a:t>Limite de la PWA</a:t>
            </a:r>
          </a:p>
          <a:p>
            <a:pPr algn="l">
              <a:spcAft>
                <a:spcPts val="800"/>
              </a:spcAft>
            </a:pPr>
            <a:r>
              <a:rPr sz="1600" b="0" i="0">
                <a:solidFill>
                  <a:srgbClr val="1E1A24"/>
                </a:solidFill>
                <a:latin typeface="Calibri"/>
              </a:rPr>
              <a:t>Le système peut suspendre la page : aucune API web ne le garantit.</a:t>
            </a:r>
          </a:p>
        </p:txBody>
      </p:sp>
      <p:sp>
        <p:nvSpPr>
          <p:cNvPr id="2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14</a:t>
            </a:r>
          </a:p>
        </p:txBody>
      </p:sp>
      <p:sp>
        <p:nvSpPr>
          <p:cNvPr id="2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Implémentation du prototype</a:t>
            </a:r>
          </a:p>
        </p:txBody>
      </p:sp>
      <p:sp>
        <p:nvSpPr>
          <p:cNvPr id="3" name="capture à insérer"/>
          <p:cNvSpPr/>
          <p:nvPr/>
        </p:nvSpPr>
        <p:spPr>
          <a:xfrm>
            <a:off x="548640" y="1371600"/>
            <a:ext cx="2103120" cy="402336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640080" y="3017520"/>
            <a:ext cx="1920239"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Conversation</a:t>
            </a:r>
          </a:p>
        </p:txBody>
      </p:sp>
      <p:sp>
        <p:nvSpPr>
          <p:cNvPr id="5" name="texte"/>
          <p:cNvSpPr txBox="1"/>
          <p:nvPr/>
        </p:nvSpPr>
        <p:spPr>
          <a:xfrm>
            <a:off x="548640" y="5440680"/>
            <a:ext cx="2103120" cy="365760"/>
          </a:xfrm>
          <a:prstGeom prst="rect">
            <a:avLst/>
          </a:prstGeom>
          <a:noFill/>
        </p:spPr>
        <p:txBody>
          <a:bodyPr wrap="square" anchor="t">
            <a:spAutoFit/>
          </a:bodyPr>
          <a:lstStyle/>
          <a:p>
            <a:pPr algn="ctr">
              <a:spcAft>
                <a:spcPts val="400"/>
              </a:spcAft>
            </a:pPr>
            <a:r>
              <a:rPr sz="1400" b="1" i="0">
                <a:solidFill>
                  <a:srgbClr val="3B1F52"/>
                </a:solidFill>
                <a:latin typeface="Calibri"/>
              </a:rPr>
              <a:t>Conversation</a:t>
            </a:r>
          </a:p>
        </p:txBody>
      </p:sp>
      <p:sp>
        <p:nvSpPr>
          <p:cNvPr id="6" name="capture à insérer"/>
          <p:cNvSpPr/>
          <p:nvPr/>
        </p:nvSpPr>
        <p:spPr>
          <a:xfrm>
            <a:off x="2788920" y="1371600"/>
            <a:ext cx="2103120" cy="402336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2880360" y="3017520"/>
            <a:ext cx="1920239"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Message vocal</a:t>
            </a:r>
          </a:p>
        </p:txBody>
      </p:sp>
      <p:sp>
        <p:nvSpPr>
          <p:cNvPr id="8" name="texte"/>
          <p:cNvSpPr txBox="1"/>
          <p:nvPr/>
        </p:nvSpPr>
        <p:spPr>
          <a:xfrm>
            <a:off x="2788920" y="5440680"/>
            <a:ext cx="2103120" cy="365760"/>
          </a:xfrm>
          <a:prstGeom prst="rect">
            <a:avLst/>
          </a:prstGeom>
          <a:noFill/>
        </p:spPr>
        <p:txBody>
          <a:bodyPr wrap="square" anchor="t">
            <a:spAutoFit/>
          </a:bodyPr>
          <a:lstStyle/>
          <a:p>
            <a:pPr algn="ctr">
              <a:spcAft>
                <a:spcPts val="400"/>
              </a:spcAft>
            </a:pPr>
            <a:r>
              <a:rPr sz="1400" b="1" i="0">
                <a:solidFill>
                  <a:srgbClr val="3B1F52"/>
                </a:solidFill>
                <a:latin typeface="Calibri"/>
              </a:rPr>
              <a:t>Message vocal</a:t>
            </a:r>
          </a:p>
        </p:txBody>
      </p:sp>
      <p:sp>
        <p:nvSpPr>
          <p:cNvPr id="9" name="capture à insérer"/>
          <p:cNvSpPr/>
          <p:nvPr/>
        </p:nvSpPr>
        <p:spPr>
          <a:xfrm>
            <a:off x="5029200" y="1371600"/>
            <a:ext cx="2103120" cy="402336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5120640" y="3017520"/>
            <a:ext cx="1920239"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Appel audio</a:t>
            </a:r>
          </a:p>
        </p:txBody>
      </p:sp>
      <p:sp>
        <p:nvSpPr>
          <p:cNvPr id="11" name="texte"/>
          <p:cNvSpPr txBox="1"/>
          <p:nvPr/>
        </p:nvSpPr>
        <p:spPr>
          <a:xfrm>
            <a:off x="5029200" y="5440680"/>
            <a:ext cx="2103120" cy="365760"/>
          </a:xfrm>
          <a:prstGeom prst="rect">
            <a:avLst/>
          </a:prstGeom>
          <a:noFill/>
        </p:spPr>
        <p:txBody>
          <a:bodyPr wrap="square" anchor="t">
            <a:spAutoFit/>
          </a:bodyPr>
          <a:lstStyle/>
          <a:p>
            <a:pPr algn="ctr">
              <a:spcAft>
                <a:spcPts val="400"/>
              </a:spcAft>
            </a:pPr>
            <a:r>
              <a:rPr sz="1400" b="1" i="0">
                <a:solidFill>
                  <a:srgbClr val="3B1F52"/>
                </a:solidFill>
                <a:latin typeface="Calibri"/>
              </a:rPr>
              <a:t>Appel audio</a:t>
            </a:r>
          </a:p>
        </p:txBody>
      </p:sp>
      <p:sp>
        <p:nvSpPr>
          <p:cNvPr id="12" name="capture à insérer"/>
          <p:cNvSpPr/>
          <p:nvPr/>
        </p:nvSpPr>
        <p:spPr>
          <a:xfrm>
            <a:off x="7269480" y="1371600"/>
            <a:ext cx="2103120" cy="402336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7360920" y="3017520"/>
            <a:ext cx="1920239"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Appel vidéo</a:t>
            </a:r>
          </a:p>
        </p:txBody>
      </p:sp>
      <p:sp>
        <p:nvSpPr>
          <p:cNvPr id="14" name="texte"/>
          <p:cNvSpPr txBox="1"/>
          <p:nvPr/>
        </p:nvSpPr>
        <p:spPr>
          <a:xfrm>
            <a:off x="7269480" y="5440680"/>
            <a:ext cx="2103120" cy="365760"/>
          </a:xfrm>
          <a:prstGeom prst="rect">
            <a:avLst/>
          </a:prstGeom>
          <a:noFill/>
        </p:spPr>
        <p:txBody>
          <a:bodyPr wrap="square" anchor="t">
            <a:spAutoFit/>
          </a:bodyPr>
          <a:lstStyle/>
          <a:p>
            <a:pPr algn="ctr">
              <a:spcAft>
                <a:spcPts val="400"/>
              </a:spcAft>
            </a:pPr>
            <a:r>
              <a:rPr sz="1400" b="1" i="0">
                <a:solidFill>
                  <a:srgbClr val="3B1F52"/>
                </a:solidFill>
                <a:latin typeface="Calibri"/>
              </a:rPr>
              <a:t>Appel vidéo</a:t>
            </a:r>
          </a:p>
        </p:txBody>
      </p:sp>
      <p:sp>
        <p:nvSpPr>
          <p:cNvPr id="15" name="capture à insérer"/>
          <p:cNvSpPr/>
          <p:nvPr/>
        </p:nvSpPr>
        <p:spPr>
          <a:xfrm>
            <a:off x="9509760" y="1371600"/>
            <a:ext cx="2103120" cy="4023360"/>
          </a:xfrm>
          <a:prstGeom prst="roundRect">
            <a:avLst>
              <a:gd name="adj" fmla="val 4000"/>
            </a:avLst>
          </a:prstGeom>
          <a:solidFill>
            <a:srgbClr val="FBF9FD"/>
          </a:solidFill>
          <a:ln w="12700">
            <a:solidFill>
              <a:srgbClr val="B9AE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
          <p:cNvSpPr txBox="1"/>
          <p:nvPr/>
        </p:nvSpPr>
        <p:spPr>
          <a:xfrm>
            <a:off x="9601200" y="3017520"/>
            <a:ext cx="1920239" cy="731520"/>
          </a:xfrm>
          <a:prstGeom prst="rect">
            <a:avLst/>
          </a:prstGeom>
          <a:noFill/>
        </p:spPr>
        <p:txBody>
          <a:bodyPr wrap="square" anchor="ctr">
            <a:spAutoFit/>
          </a:bodyPr>
          <a:lstStyle/>
          <a:p>
            <a:pPr algn="ctr">
              <a:spcAft>
                <a:spcPts val="400"/>
              </a:spcAft>
            </a:pPr>
            <a:r>
              <a:rPr sz="1400" b="0" i="0">
                <a:solidFill>
                  <a:srgbClr val="6B6575"/>
                </a:solidFill>
                <a:latin typeface="Calibri"/>
              </a:rPr>
              <a:t>Capture d’écran à insérer</a:t>
            </a:r>
          </a:p>
          <a:p>
            <a:pPr algn="ctr">
              <a:spcAft>
                <a:spcPts val="400"/>
              </a:spcAft>
            </a:pPr>
            <a:r>
              <a:rPr sz="1200" b="0" i="0">
                <a:solidFill>
                  <a:srgbClr val="6B6575"/>
                </a:solidFill>
                <a:latin typeface="Calibri"/>
              </a:rPr>
              <a:t>Palette d’appel</a:t>
            </a:r>
          </a:p>
        </p:txBody>
      </p:sp>
      <p:sp>
        <p:nvSpPr>
          <p:cNvPr id="17" name="texte"/>
          <p:cNvSpPr txBox="1"/>
          <p:nvPr/>
        </p:nvSpPr>
        <p:spPr>
          <a:xfrm>
            <a:off x="9509760" y="5440680"/>
            <a:ext cx="2103120" cy="365760"/>
          </a:xfrm>
          <a:prstGeom prst="rect">
            <a:avLst/>
          </a:prstGeom>
          <a:noFill/>
        </p:spPr>
        <p:txBody>
          <a:bodyPr wrap="square" anchor="t">
            <a:spAutoFit/>
          </a:bodyPr>
          <a:lstStyle/>
          <a:p>
            <a:pPr algn="ctr">
              <a:spcAft>
                <a:spcPts val="400"/>
              </a:spcAft>
            </a:pPr>
            <a:r>
              <a:rPr sz="1400" b="1" i="0">
                <a:solidFill>
                  <a:srgbClr val="3B1F52"/>
                </a:solidFill>
                <a:latin typeface="Calibri"/>
              </a:rPr>
              <a:t>Palette d’appel</a:t>
            </a:r>
          </a:p>
        </p:txBody>
      </p:sp>
      <p:sp>
        <p:nvSpPr>
          <p:cNvPr id="18" name="texte"/>
          <p:cNvSpPr txBox="1"/>
          <p:nvPr/>
        </p:nvSpPr>
        <p:spPr>
          <a:xfrm>
            <a:off x="548640" y="5806440"/>
            <a:ext cx="11094415" cy="548640"/>
          </a:xfrm>
          <a:prstGeom prst="rect">
            <a:avLst/>
          </a:prstGeom>
          <a:noFill/>
        </p:spPr>
        <p:txBody>
          <a:bodyPr wrap="square" anchor="t">
            <a:spAutoFit/>
          </a:bodyPr>
          <a:lstStyle/>
          <a:p>
            <a:pPr algn="l">
              <a:spcAft>
                <a:spcPts val="400"/>
              </a:spcAft>
            </a:pPr>
            <a:r>
              <a:rPr sz="1200" b="0" i="0">
                <a:solidFill>
                  <a:srgbClr val="6B6575"/>
                </a:solidFill>
                <a:latin typeface="Calibri"/>
              </a:rPr>
              <a:t>Captures à insérer par l’auteur : aucune image exportée n’était disponible dans le dépôt au moment de la rédaction.</a:t>
            </a:r>
          </a:p>
        </p:txBody>
      </p:sp>
      <p:sp>
        <p:nvSpPr>
          <p:cNvPr id="1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15</a:t>
            </a:r>
          </a:p>
        </p:txBody>
      </p:sp>
      <p:sp>
        <p:nvSpPr>
          <p:cNvPr id="2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Problèmes rencontrés, corrections et statut de preuve</a:t>
            </a:r>
          </a:p>
        </p:txBody>
      </p:sp>
      <p:graphicFrame>
        <p:nvGraphicFramePr>
          <p:cNvPr id="3" name="Table 2"/>
          <p:cNvGraphicFramePr>
            <a:graphicFrameLocks noGrp="1"/>
          </p:cNvGraphicFramePr>
          <p:nvPr/>
        </p:nvGraphicFramePr>
        <p:xfrm>
          <a:off x="548640" y="1371600"/>
          <a:ext cx="11091672" cy="4480559"/>
        </p:xfrm>
        <a:graphic>
          <a:graphicData uri="http://schemas.openxmlformats.org/drawingml/2006/table">
            <a:tbl>
              <a:tblPr firstRow="1" bandRow="1">
                <a:tableStyleId>{5C22544A-7EE6-4342-B048-85BDC9FD1C3A}</a:tableStyleId>
              </a:tblPr>
              <a:tblGrid>
                <a:gridCol w="2651760"/>
                <a:gridCol w="3108960"/>
                <a:gridCol w="3108960"/>
                <a:gridCol w="2221992"/>
              </a:tblGrid>
              <a:tr h="640079">
                <a:tc>
                  <a:txBody>
                    <a:bodyPr/>
                    <a:lstStyle/>
                    <a:p>
                      <a:r>
                        <a:rPr sz="1500" b="1">
                          <a:solidFill>
                            <a:srgbClr val="FFFFFF"/>
                          </a:solidFill>
                          <a:latin typeface="Calibri"/>
                        </a:rPr>
                        <a:t>Symptôme</a:t>
                      </a:r>
                    </a:p>
                  </a:txBody>
                  <a:tcPr>
                    <a:solidFill>
                      <a:srgbClr val="3B1F52"/>
                    </a:solidFill>
                  </a:tcPr>
                </a:tc>
                <a:tc>
                  <a:txBody>
                    <a:bodyPr/>
                    <a:lstStyle/>
                    <a:p>
                      <a:r>
                        <a:rPr sz="1500" b="1">
                          <a:solidFill>
                            <a:srgbClr val="FFFFFF"/>
                          </a:solidFill>
                          <a:latin typeface="Calibri"/>
                        </a:rPr>
                        <a:t>Cause</a:t>
                      </a:r>
                    </a:p>
                  </a:txBody>
                  <a:tcPr>
                    <a:solidFill>
                      <a:srgbClr val="3B1F52"/>
                    </a:solidFill>
                  </a:tcPr>
                </a:tc>
                <a:tc>
                  <a:txBody>
                    <a:bodyPr/>
                    <a:lstStyle/>
                    <a:p>
                      <a:r>
                        <a:rPr sz="1500" b="1">
                          <a:solidFill>
                            <a:srgbClr val="FFFFFF"/>
                          </a:solidFill>
                          <a:latin typeface="Calibri"/>
                        </a:rPr>
                        <a:t>Correction</a:t>
                      </a:r>
                    </a:p>
                  </a:txBody>
                  <a:tcPr>
                    <a:solidFill>
                      <a:srgbClr val="3B1F52"/>
                    </a:solidFill>
                  </a:tcPr>
                </a:tc>
                <a:tc>
                  <a:txBody>
                    <a:bodyPr/>
                    <a:lstStyle/>
                    <a:p>
                      <a:r>
                        <a:rPr sz="1500" b="1">
                          <a:solidFill>
                            <a:srgbClr val="FFFFFF"/>
                          </a:solidFill>
                          <a:latin typeface="Calibri"/>
                        </a:rPr>
                        <a:t>Statut</a:t>
                      </a:r>
                    </a:p>
                  </a:txBody>
                  <a:tcPr>
                    <a:solidFill>
                      <a:srgbClr val="3B1F52"/>
                    </a:solidFill>
                  </a:tcPr>
                </a:tc>
              </a:tr>
              <a:tr h="640079">
                <a:tc>
                  <a:txBody>
                    <a:bodyPr/>
                    <a:lstStyle/>
                    <a:p>
                      <a:r>
                        <a:rPr sz="1400" b="1">
                          <a:solidFill>
                            <a:srgbClr val="1E1A24"/>
                          </a:solidFill>
                          <a:latin typeface="Calibri"/>
                        </a:rPr>
                        <a:t>Vocaux rejetés</a:t>
                      </a:r>
                    </a:p>
                  </a:txBody>
                  <a:tcPr anchor="ctr">
                    <a:solidFill>
                      <a:srgbClr val="F3EDF8"/>
                    </a:solidFill>
                  </a:tcPr>
                </a:tc>
                <a:tc>
                  <a:txBody>
                    <a:bodyPr/>
                    <a:lstStyle/>
                    <a:p>
                      <a:r>
                        <a:rPr sz="1400" b="0">
                          <a:solidFill>
                            <a:srgbClr val="1E1A24"/>
                          </a:solidFill>
                          <a:latin typeface="Calibri"/>
                        </a:rPr>
                        <a:t>Bucket limité aux images</a:t>
                      </a:r>
                    </a:p>
                  </a:txBody>
                  <a:tcPr anchor="ctr">
                    <a:solidFill>
                      <a:srgbClr val="F3EDF8"/>
                    </a:solidFill>
                  </a:tcPr>
                </a:tc>
                <a:tc>
                  <a:txBody>
                    <a:bodyPr/>
                    <a:lstStyle/>
                    <a:p>
                      <a:r>
                        <a:rPr sz="1400" b="0">
                          <a:solidFill>
                            <a:srgbClr val="1E1A24"/>
                          </a:solidFill>
                          <a:latin typeface="Calibri"/>
                        </a:rPr>
                        <a:t>Types audio autorisés (migration 0009)</a:t>
                      </a:r>
                    </a:p>
                  </a:txBody>
                  <a:tcPr anchor="ctr">
                    <a:solidFill>
                      <a:srgbClr val="F3EDF8"/>
                    </a:solidFill>
                  </a:tcPr>
                </a:tc>
                <a:tc>
                  <a:txBody>
                    <a:bodyPr/>
                    <a:lstStyle/>
                    <a:p>
                      <a:r>
                        <a:rPr sz="1400" b="0">
                          <a:solidFill>
                            <a:srgbClr val="1E1A24"/>
                          </a:solidFill>
                          <a:latin typeface="Calibri"/>
                        </a:rPr>
                        <a:t>Vérifié par essai</a:t>
                      </a:r>
                    </a:p>
                  </a:txBody>
                  <a:tcPr anchor="ctr">
                    <a:solidFill>
                      <a:srgbClr val="F3EDF8"/>
                    </a:solidFill>
                  </a:tcPr>
                </a:tc>
              </a:tr>
              <a:tr h="640079">
                <a:tc>
                  <a:txBody>
                    <a:bodyPr/>
                    <a:lstStyle/>
                    <a:p>
                      <a:r>
                        <a:rPr sz="1400" b="1">
                          <a:solidFill>
                            <a:srgbClr val="1E1A24"/>
                          </a:solidFill>
                          <a:latin typeface="Calibri"/>
                        </a:rPr>
                        <a:t>Appel audio muet</a:t>
                      </a:r>
                    </a:p>
                  </a:txBody>
                  <a:tcPr anchor="ctr">
                    <a:solidFill>
                      <a:srgbClr val="FFFFFF"/>
                    </a:solidFill>
                  </a:tcPr>
                </a:tc>
                <a:tc>
                  <a:txBody>
                    <a:bodyPr/>
                    <a:lstStyle/>
                    <a:p>
                      <a:r>
                        <a:rPr sz="1400" b="0">
                          <a:solidFill>
                            <a:srgbClr val="1E1A24"/>
                          </a:solidFill>
                          <a:latin typeface="Calibri"/>
                        </a:rPr>
                        <a:t>Flux sans élément média</a:t>
                      </a:r>
                    </a:p>
                  </a:txBody>
                  <a:tcPr anchor="ctr">
                    <a:solidFill>
                      <a:srgbClr val="FFFFFF"/>
                    </a:solidFill>
                  </a:tcPr>
                </a:tc>
                <a:tc>
                  <a:txBody>
                    <a:bodyPr/>
                    <a:lstStyle/>
                    <a:p>
                      <a:r>
                        <a:rPr sz="1400" b="0">
                          <a:solidFill>
                            <a:srgbClr val="1E1A24"/>
                          </a:solidFill>
                          <a:latin typeface="Calibri"/>
                        </a:rPr>
                        <a:t>Élément média invisible</a:t>
                      </a:r>
                    </a:p>
                  </a:txBody>
                  <a:tcPr anchor="ctr">
                    <a:solidFill>
                      <a:srgbClr val="FFFFFF"/>
                    </a:solidFill>
                  </a:tcPr>
                </a:tc>
                <a:tc>
                  <a:txBody>
                    <a:bodyPr/>
                    <a:lstStyle/>
                    <a:p>
                      <a:r>
                        <a:rPr sz="1400" b="0">
                          <a:solidFill>
                            <a:srgbClr val="1E1A24"/>
                          </a:solidFill>
                          <a:latin typeface="Calibri"/>
                        </a:rPr>
                        <a:t>À valider sur appareils</a:t>
                      </a:r>
                    </a:p>
                  </a:txBody>
                  <a:tcPr anchor="ctr">
                    <a:solidFill>
                      <a:srgbClr val="FFF4EE"/>
                    </a:solidFill>
                  </a:tcPr>
                </a:tc>
              </a:tr>
              <a:tr h="640079">
                <a:tc>
                  <a:txBody>
                    <a:bodyPr/>
                    <a:lstStyle/>
                    <a:p>
                      <a:r>
                        <a:rPr sz="1400" b="1">
                          <a:solidFill>
                            <a:srgbClr val="1E1A24"/>
                          </a:solidFill>
                          <a:latin typeface="Calibri"/>
                        </a:rPr>
                        <a:t>Coupure en arrière-plan</a:t>
                      </a:r>
                    </a:p>
                  </a:txBody>
                  <a:tcPr anchor="ctr">
                    <a:solidFill>
                      <a:srgbClr val="F3EDF8"/>
                    </a:solidFill>
                  </a:tcPr>
                </a:tc>
                <a:tc>
                  <a:txBody>
                    <a:bodyPr/>
                    <a:lstStyle/>
                    <a:p>
                      <a:r>
                        <a:rPr sz="1400" b="0">
                          <a:solidFill>
                            <a:srgbClr val="1E1A24"/>
                          </a:solidFill>
                          <a:latin typeface="Calibri"/>
                        </a:rPr>
                        <a:t>Raccrochage sur pagehide</a:t>
                      </a:r>
                    </a:p>
                  </a:txBody>
                  <a:tcPr anchor="ctr">
                    <a:solidFill>
                      <a:srgbClr val="F3EDF8"/>
                    </a:solidFill>
                  </a:tcPr>
                </a:tc>
                <a:tc>
                  <a:txBody>
                    <a:bodyPr/>
                    <a:lstStyle/>
                    <a:p>
                      <a:r>
                        <a:rPr sz="1400" b="0">
                          <a:solidFill>
                            <a:srgbClr val="1E1A24"/>
                          </a:solidFill>
                          <a:latin typeface="Calibri"/>
                        </a:rPr>
                        <a:t>Gestionnaire retiré, Wake Lock</a:t>
                      </a:r>
                    </a:p>
                  </a:txBody>
                  <a:tcPr anchor="ctr">
                    <a:solidFill>
                      <a:srgbClr val="F3EDF8"/>
                    </a:solidFill>
                  </a:tcPr>
                </a:tc>
                <a:tc>
                  <a:txBody>
                    <a:bodyPr/>
                    <a:lstStyle/>
                    <a:p>
                      <a:r>
                        <a:rPr sz="1400" b="0">
                          <a:solidFill>
                            <a:srgbClr val="1E1A24"/>
                          </a:solidFill>
                          <a:latin typeface="Calibri"/>
                        </a:rPr>
                        <a:t>Limite iOS persistante</a:t>
                      </a:r>
                    </a:p>
                  </a:txBody>
                  <a:tcPr anchor="ctr">
                    <a:solidFill>
                      <a:srgbClr val="FFF4EE"/>
                    </a:solidFill>
                  </a:tcPr>
                </a:tc>
              </a:tr>
              <a:tr h="640079">
                <a:tc>
                  <a:txBody>
                    <a:bodyPr/>
                    <a:lstStyle/>
                    <a:p>
                      <a:r>
                        <a:rPr sz="1400" b="1">
                          <a:solidFill>
                            <a:srgbClr val="1E1A24"/>
                          </a:solidFill>
                          <a:latin typeface="Calibri"/>
                        </a:rPr>
                        <a:t>Latence d’établissement</a:t>
                      </a:r>
                    </a:p>
                  </a:txBody>
                  <a:tcPr anchor="ctr">
                    <a:solidFill>
                      <a:srgbClr val="FFFFFF"/>
                    </a:solidFill>
                  </a:tcPr>
                </a:tc>
                <a:tc>
                  <a:txBody>
                    <a:bodyPr/>
                    <a:lstStyle/>
                    <a:p>
                      <a:r>
                        <a:rPr sz="1400" b="0">
                          <a:solidFill>
                            <a:srgbClr val="1E1A24"/>
                          </a:solidFill>
                          <a:latin typeface="Calibri"/>
                        </a:rPr>
                        <a:t>ICE à la demande, attente base</a:t>
                      </a:r>
                    </a:p>
                  </a:txBody>
                  <a:tcPr anchor="ctr">
                    <a:solidFill>
                      <a:srgbClr val="FFFFFF"/>
                    </a:solidFill>
                  </a:tcPr>
                </a:tc>
                <a:tc>
                  <a:txBody>
                    <a:bodyPr/>
                    <a:lstStyle/>
                    <a:p>
                      <a:r>
                        <a:rPr sz="1400" b="0">
                          <a:solidFill>
                            <a:srgbClr val="1E1A24"/>
                          </a:solidFill>
                          <a:latin typeface="Calibri"/>
                        </a:rPr>
                        <a:t>Cache + offre diffusée</a:t>
                      </a:r>
                    </a:p>
                  </a:txBody>
                  <a:tcPr anchor="ctr">
                    <a:solidFill>
                      <a:srgbClr val="FFFFFF"/>
                    </a:solidFill>
                  </a:tcPr>
                </a:tc>
                <a:tc>
                  <a:txBody>
                    <a:bodyPr/>
                    <a:lstStyle/>
                    <a:p>
                      <a:r>
                        <a:rPr sz="1400" b="0">
                          <a:solidFill>
                            <a:srgbClr val="1E1A24"/>
                          </a:solidFill>
                          <a:latin typeface="Calibri"/>
                        </a:rPr>
                        <a:t>Non mesuré</a:t>
                      </a:r>
                    </a:p>
                  </a:txBody>
                  <a:tcPr anchor="ctr">
                    <a:solidFill>
                      <a:srgbClr val="FFF4EE"/>
                    </a:solidFill>
                  </a:tcPr>
                </a:tc>
              </a:tr>
              <a:tr h="640079">
                <a:tc>
                  <a:txBody>
                    <a:bodyPr/>
                    <a:lstStyle/>
                    <a:p>
                      <a:r>
                        <a:rPr sz="1400" b="1">
                          <a:solidFill>
                            <a:srgbClr val="1E1A24"/>
                          </a:solidFill>
                          <a:latin typeface="Calibri"/>
                        </a:rPr>
                        <a:t>Push muet en production</a:t>
                      </a:r>
                    </a:p>
                  </a:txBody>
                  <a:tcPr anchor="ctr">
                    <a:solidFill>
                      <a:srgbClr val="F3EDF8"/>
                    </a:solidFill>
                  </a:tcPr>
                </a:tc>
                <a:tc>
                  <a:txBody>
                    <a:bodyPr/>
                    <a:lstStyle/>
                    <a:p>
                      <a:r>
                        <a:rPr sz="1400" b="0">
                          <a:solidFill>
                            <a:srgbClr val="1E1A24"/>
                          </a:solidFill>
                          <a:latin typeface="Calibri"/>
                        </a:rPr>
                        <a:t>Promesse non attendue (serverless)</a:t>
                      </a:r>
                    </a:p>
                  </a:txBody>
                  <a:tcPr anchor="ctr">
                    <a:solidFill>
                      <a:srgbClr val="F3EDF8"/>
                    </a:solidFill>
                  </a:tcPr>
                </a:tc>
                <a:tc>
                  <a:txBody>
                    <a:bodyPr/>
                    <a:lstStyle/>
                    <a:p>
                      <a:r>
                        <a:rPr sz="1400" b="0">
                          <a:solidFill>
                            <a:srgbClr val="1E1A24"/>
                          </a:solidFill>
                          <a:latin typeface="Calibri"/>
                        </a:rPr>
                        <a:t>Envoi dans after()</a:t>
                      </a:r>
                    </a:p>
                  </a:txBody>
                  <a:tcPr anchor="ctr">
                    <a:solidFill>
                      <a:srgbClr val="F3EDF8"/>
                    </a:solidFill>
                  </a:tcPr>
                </a:tc>
                <a:tc>
                  <a:txBody>
                    <a:bodyPr/>
                    <a:lstStyle/>
                    <a:p>
                      <a:r>
                        <a:rPr sz="1400" b="0">
                          <a:solidFill>
                            <a:srgbClr val="1E1A24"/>
                          </a:solidFill>
                          <a:latin typeface="Calibri"/>
                        </a:rPr>
                        <a:t>À valider en production</a:t>
                      </a:r>
                    </a:p>
                  </a:txBody>
                  <a:tcPr anchor="ctr">
                    <a:solidFill>
                      <a:srgbClr val="FFF4EE"/>
                    </a:solidFill>
                  </a:tcPr>
                </a:tc>
              </a:tr>
              <a:tr h="640085">
                <a:tc>
                  <a:txBody>
                    <a:bodyPr/>
                    <a:lstStyle/>
                    <a:p>
                      <a:r>
                        <a:rPr sz="1400" b="1">
                          <a:solidFill>
                            <a:srgbClr val="1E1A24"/>
                          </a:solidFill>
                          <a:latin typeface="Calibri"/>
                        </a:rPr>
                        <a:t>Appels qui ne s’établissent plus</a:t>
                      </a:r>
                    </a:p>
                  </a:txBody>
                  <a:tcPr anchor="ctr">
                    <a:solidFill>
                      <a:srgbClr val="FFFFFF"/>
                    </a:solidFill>
                  </a:tcPr>
                </a:tc>
                <a:tc>
                  <a:txBody>
                    <a:bodyPr/>
                    <a:lstStyle/>
                    <a:p>
                      <a:r>
                        <a:rPr sz="1400" b="0">
                          <a:solidFill>
                            <a:srgbClr val="1E1A24"/>
                          </a:solidFill>
                          <a:latin typeface="Calibri"/>
                        </a:rPr>
                        <a:t>Non établie (TURN ? session audio ?)</a:t>
                      </a:r>
                    </a:p>
                  </a:txBody>
                  <a:tcPr anchor="ctr">
                    <a:solidFill>
                      <a:srgbClr val="FFFFFF"/>
                    </a:solidFill>
                  </a:tcPr>
                </a:tc>
                <a:tc>
                  <a:txBody>
                    <a:bodyPr/>
                    <a:lstStyle/>
                    <a:p>
                      <a:r>
                        <a:rPr sz="1400" b="0">
                          <a:solidFill>
                            <a:srgbClr val="1E1A24"/>
                          </a:solidFill>
                          <a:latin typeface="Calibri"/>
                        </a:rPr>
                        <a:t>Diagnostics ajoutés</a:t>
                      </a:r>
                    </a:p>
                  </a:txBody>
                  <a:tcPr anchor="ctr">
                    <a:solidFill>
                      <a:srgbClr val="FFFFFF"/>
                    </a:solidFill>
                  </a:tcPr>
                </a:tc>
                <a:tc>
                  <a:txBody>
                    <a:bodyPr/>
                    <a:lstStyle/>
                    <a:p>
                      <a:r>
                        <a:rPr sz="1400" b="0">
                          <a:solidFill>
                            <a:srgbClr val="1E1A24"/>
                          </a:solidFill>
                          <a:latin typeface="Calibri"/>
                        </a:rPr>
                        <a:t>Non confirmé résolu</a:t>
                      </a:r>
                    </a:p>
                  </a:txBody>
                  <a:tcPr anchor="ctr">
                    <a:solidFill>
                      <a:srgbClr val="FFF4EE"/>
                    </a:solidFill>
                  </a:tcPr>
                </a:tc>
              </a:tr>
            </a:tbl>
          </a:graphicData>
        </a:graphic>
      </p:graphicFrame>
      <p:sp>
        <p:nvSpPr>
          <p:cNvPr id="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16</a:t>
            </a:r>
          </a:p>
        </p:txBody>
      </p:sp>
      <p:sp>
        <p:nvSpPr>
          <p:cNvPr id="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Méthodologie expérimentale : huit scénarios</a:t>
            </a:r>
          </a:p>
        </p:txBody>
      </p:sp>
      <p:graphicFrame>
        <p:nvGraphicFramePr>
          <p:cNvPr id="3" name="Table 2"/>
          <p:cNvGraphicFramePr>
            <a:graphicFrameLocks noGrp="1"/>
          </p:cNvGraphicFramePr>
          <p:nvPr/>
        </p:nvGraphicFramePr>
        <p:xfrm>
          <a:off x="548640" y="1371600"/>
          <a:ext cx="11091671" cy="4773168"/>
        </p:xfrm>
        <a:graphic>
          <a:graphicData uri="http://schemas.openxmlformats.org/drawingml/2006/table">
            <a:tbl>
              <a:tblPr firstRow="1" bandRow="1">
                <a:tableStyleId>{5C22544A-7EE6-4342-B048-85BDC9FD1C3A}</a:tableStyleId>
              </a:tblPr>
              <a:tblGrid>
                <a:gridCol w="914400"/>
                <a:gridCol w="3017520"/>
                <a:gridCol w="5303520"/>
                <a:gridCol w="1856231"/>
              </a:tblGrid>
              <a:tr h="530352">
                <a:tc>
                  <a:txBody>
                    <a:bodyPr/>
                    <a:lstStyle/>
                    <a:p>
                      <a:r>
                        <a:rPr sz="1500" b="1">
                          <a:solidFill>
                            <a:srgbClr val="FFFFFF"/>
                          </a:solidFill>
                          <a:latin typeface="Calibri"/>
                        </a:rPr>
                        <a:t>Réf.</a:t>
                      </a:r>
                    </a:p>
                  </a:txBody>
                  <a:tcPr>
                    <a:solidFill>
                      <a:srgbClr val="3B1F52"/>
                    </a:solidFill>
                  </a:tcPr>
                </a:tc>
                <a:tc>
                  <a:txBody>
                    <a:bodyPr/>
                    <a:lstStyle/>
                    <a:p>
                      <a:r>
                        <a:rPr sz="1500" b="1">
                          <a:solidFill>
                            <a:srgbClr val="FFFFFF"/>
                          </a:solidFill>
                          <a:latin typeface="Calibri"/>
                        </a:rPr>
                        <a:t>Scénario</a:t>
                      </a:r>
                    </a:p>
                  </a:txBody>
                  <a:tcPr>
                    <a:solidFill>
                      <a:srgbClr val="3B1F52"/>
                    </a:solidFill>
                  </a:tcPr>
                </a:tc>
                <a:tc>
                  <a:txBody>
                    <a:bodyPr/>
                    <a:lstStyle/>
                    <a:p>
                      <a:r>
                        <a:rPr sz="1500" b="1">
                          <a:solidFill>
                            <a:srgbClr val="FFFFFF"/>
                          </a:solidFill>
                          <a:latin typeface="Calibri"/>
                        </a:rPr>
                        <a:t>Objectif</a:t>
                      </a:r>
                    </a:p>
                  </a:txBody>
                  <a:tcPr>
                    <a:solidFill>
                      <a:srgbClr val="3B1F52"/>
                    </a:solidFill>
                  </a:tcPr>
                </a:tc>
                <a:tc>
                  <a:txBody>
                    <a:bodyPr/>
                    <a:lstStyle/>
                    <a:p>
                      <a:r>
                        <a:rPr sz="1500" b="1">
                          <a:solidFill>
                            <a:srgbClr val="FFFFFF"/>
                          </a:solidFill>
                          <a:latin typeface="Calibri"/>
                        </a:rPr>
                        <a:t>État</a:t>
                      </a:r>
                    </a:p>
                  </a:txBody>
                  <a:tcPr>
                    <a:solidFill>
                      <a:srgbClr val="3B1F52"/>
                    </a:solidFill>
                  </a:tcPr>
                </a:tc>
              </a:tr>
              <a:tr h="530352">
                <a:tc>
                  <a:txBody>
                    <a:bodyPr/>
                    <a:lstStyle/>
                    <a:p>
                      <a:r>
                        <a:rPr sz="1400" b="1">
                          <a:solidFill>
                            <a:srgbClr val="1E1A24"/>
                          </a:solidFill>
                          <a:latin typeface="Calibri"/>
                        </a:rPr>
                        <a:t>S-1</a:t>
                      </a:r>
                    </a:p>
                  </a:txBody>
                  <a:tcPr anchor="ctr">
                    <a:solidFill>
                      <a:srgbClr val="F3EDF8"/>
                    </a:solidFill>
                  </a:tcPr>
                </a:tc>
                <a:tc>
                  <a:txBody>
                    <a:bodyPr/>
                    <a:lstStyle/>
                    <a:p>
                      <a:r>
                        <a:rPr sz="1400" b="0">
                          <a:solidFill>
                            <a:srgbClr val="1E1A24"/>
                          </a:solidFill>
                          <a:latin typeface="Calibri"/>
                        </a:rPr>
                        <a:t>Réseau stable</a:t>
                      </a:r>
                    </a:p>
                  </a:txBody>
                  <a:tcPr anchor="ctr">
                    <a:solidFill>
                      <a:srgbClr val="F3EDF8"/>
                    </a:solidFill>
                  </a:tcPr>
                </a:tc>
                <a:tc>
                  <a:txBody>
                    <a:bodyPr/>
                    <a:lstStyle/>
                    <a:p>
                      <a:r>
                        <a:rPr sz="1400" b="0">
                          <a:solidFill>
                            <a:srgbClr val="1E1A24"/>
                          </a:solidFill>
                          <a:latin typeface="Calibri"/>
                        </a:rPr>
                        <a:t>Établissement, taux de réussite, type de chemin</a:t>
                      </a:r>
                    </a:p>
                  </a:txBody>
                  <a:tcPr anchor="ctr">
                    <a:solidFill>
                      <a:srgbClr val="F3EDF8"/>
                    </a:solidFill>
                  </a:tcPr>
                </a:tc>
                <a:tc>
                  <a:txBody>
                    <a:bodyPr/>
                    <a:lstStyle/>
                    <a:p>
                      <a:r>
                        <a:rPr sz="1400" b="0">
                          <a:solidFill>
                            <a:srgbClr val="1E1A24"/>
                          </a:solidFill>
                          <a:latin typeface="Calibri"/>
                        </a:rPr>
                        <a:t>Protocolé</a:t>
                      </a:r>
                    </a:p>
                  </a:txBody>
                  <a:tcPr anchor="ctr">
                    <a:solidFill>
                      <a:srgbClr val="F3EDF8"/>
                    </a:solidFill>
                  </a:tcPr>
                </a:tc>
              </a:tr>
              <a:tr h="530352">
                <a:tc>
                  <a:txBody>
                    <a:bodyPr/>
                    <a:lstStyle/>
                    <a:p>
                      <a:r>
                        <a:rPr sz="1400" b="1">
                          <a:solidFill>
                            <a:srgbClr val="1E1A24"/>
                          </a:solidFill>
                          <a:latin typeface="Calibri"/>
                        </a:rPr>
                        <a:t>S-2</a:t>
                      </a:r>
                    </a:p>
                  </a:txBody>
                  <a:tcPr anchor="ctr">
                    <a:solidFill>
                      <a:srgbClr val="FFFFFF"/>
                    </a:solidFill>
                  </a:tcPr>
                </a:tc>
                <a:tc>
                  <a:txBody>
                    <a:bodyPr/>
                    <a:lstStyle/>
                    <a:p>
                      <a:r>
                        <a:rPr sz="1400" b="0">
                          <a:solidFill>
                            <a:srgbClr val="1E1A24"/>
                          </a:solidFill>
                          <a:latin typeface="Calibri"/>
                        </a:rPr>
                        <a:t>Latence élevée</a:t>
                      </a:r>
                    </a:p>
                  </a:txBody>
                  <a:tcPr anchor="ctr">
                    <a:solidFill>
                      <a:srgbClr val="FFFFFF"/>
                    </a:solidFill>
                  </a:tcPr>
                </a:tc>
                <a:tc>
                  <a:txBody>
                    <a:bodyPr/>
                    <a:lstStyle/>
                    <a:p>
                      <a:r>
                        <a:rPr sz="1400" b="0">
                          <a:solidFill>
                            <a:srgbClr val="1E1A24"/>
                          </a:solidFill>
                          <a:latin typeface="Calibri"/>
                        </a:rPr>
                        <a:t>Effet du délai sur l’établissement et la qualité</a:t>
                      </a:r>
                    </a:p>
                  </a:txBody>
                  <a:tcPr anchor="ctr">
                    <a:solidFill>
                      <a:srgbClr val="FFFFFF"/>
                    </a:solidFill>
                  </a:tcPr>
                </a:tc>
                <a:tc>
                  <a:txBody>
                    <a:bodyPr/>
                    <a:lstStyle/>
                    <a:p>
                      <a:r>
                        <a:rPr sz="1400" b="0">
                          <a:solidFill>
                            <a:srgbClr val="1E1A24"/>
                          </a:solidFill>
                          <a:latin typeface="Calibri"/>
                        </a:rPr>
                        <a:t>Protocolé</a:t>
                      </a:r>
                    </a:p>
                  </a:txBody>
                  <a:tcPr anchor="ctr">
                    <a:solidFill>
                      <a:srgbClr val="FFFFFF"/>
                    </a:solidFill>
                  </a:tcPr>
                </a:tc>
              </a:tr>
              <a:tr h="530352">
                <a:tc>
                  <a:txBody>
                    <a:bodyPr/>
                    <a:lstStyle/>
                    <a:p>
                      <a:r>
                        <a:rPr sz="1400" b="1">
                          <a:solidFill>
                            <a:srgbClr val="1E1A24"/>
                          </a:solidFill>
                          <a:latin typeface="Calibri"/>
                        </a:rPr>
                        <a:t>S-3</a:t>
                      </a:r>
                    </a:p>
                  </a:txBody>
                  <a:tcPr anchor="ctr">
                    <a:solidFill>
                      <a:srgbClr val="F3EDF8"/>
                    </a:solidFill>
                  </a:tcPr>
                </a:tc>
                <a:tc>
                  <a:txBody>
                    <a:bodyPr/>
                    <a:lstStyle/>
                    <a:p>
                      <a:r>
                        <a:rPr sz="1400" b="0">
                          <a:solidFill>
                            <a:srgbClr val="1E1A24"/>
                          </a:solidFill>
                          <a:latin typeface="Calibri"/>
                        </a:rPr>
                        <a:t>Perte de paquets</a:t>
                      </a:r>
                    </a:p>
                  </a:txBody>
                  <a:tcPr anchor="ctr">
                    <a:solidFill>
                      <a:srgbClr val="F3EDF8"/>
                    </a:solidFill>
                  </a:tcPr>
                </a:tc>
                <a:tc>
                  <a:txBody>
                    <a:bodyPr/>
                    <a:lstStyle/>
                    <a:p>
                      <a:r>
                        <a:rPr sz="1400" b="0">
                          <a:solidFill>
                            <a:srgbClr val="1E1A24"/>
                          </a:solidFill>
                          <a:latin typeface="Calibri"/>
                        </a:rPr>
                        <a:t>Tolérance de la voix et de la vidéo</a:t>
                      </a:r>
                    </a:p>
                  </a:txBody>
                  <a:tcPr anchor="ctr">
                    <a:solidFill>
                      <a:srgbClr val="F3EDF8"/>
                    </a:solidFill>
                  </a:tcPr>
                </a:tc>
                <a:tc>
                  <a:txBody>
                    <a:bodyPr/>
                    <a:lstStyle/>
                    <a:p>
                      <a:r>
                        <a:rPr sz="1400" b="0">
                          <a:solidFill>
                            <a:srgbClr val="1E1A24"/>
                          </a:solidFill>
                          <a:latin typeface="Calibri"/>
                        </a:rPr>
                        <a:t>Protocolé</a:t>
                      </a:r>
                    </a:p>
                  </a:txBody>
                  <a:tcPr anchor="ctr">
                    <a:solidFill>
                      <a:srgbClr val="F3EDF8"/>
                    </a:solidFill>
                  </a:tcPr>
                </a:tc>
              </a:tr>
              <a:tr h="530352">
                <a:tc>
                  <a:txBody>
                    <a:bodyPr/>
                    <a:lstStyle/>
                    <a:p>
                      <a:r>
                        <a:rPr sz="1400" b="1">
                          <a:solidFill>
                            <a:srgbClr val="1E1A24"/>
                          </a:solidFill>
                          <a:latin typeface="Calibri"/>
                        </a:rPr>
                        <a:t>S-4</a:t>
                      </a:r>
                    </a:p>
                  </a:txBody>
                  <a:tcPr anchor="ctr">
                    <a:solidFill>
                      <a:srgbClr val="FFFFFF"/>
                    </a:solidFill>
                  </a:tcPr>
                </a:tc>
                <a:tc>
                  <a:txBody>
                    <a:bodyPr/>
                    <a:lstStyle/>
                    <a:p>
                      <a:r>
                        <a:rPr sz="1400" b="0">
                          <a:solidFill>
                            <a:srgbClr val="1E1A24"/>
                          </a:solidFill>
                          <a:latin typeface="Calibri"/>
                        </a:rPr>
                        <a:t>Bande passante limitée</a:t>
                      </a:r>
                    </a:p>
                  </a:txBody>
                  <a:tcPr anchor="ctr">
                    <a:solidFill>
                      <a:srgbClr val="FFFFFF"/>
                    </a:solidFill>
                  </a:tcPr>
                </a:tc>
                <a:tc>
                  <a:txBody>
                    <a:bodyPr/>
                    <a:lstStyle/>
                    <a:p>
                      <a:r>
                        <a:rPr sz="1400" b="0">
                          <a:solidFill>
                            <a:srgbClr val="1E1A24"/>
                          </a:solidFill>
                          <a:latin typeface="Calibri"/>
                        </a:rPr>
                        <a:t>Adaptation, temps de chargement des médias</a:t>
                      </a:r>
                    </a:p>
                  </a:txBody>
                  <a:tcPr anchor="ctr">
                    <a:solidFill>
                      <a:srgbClr val="FFFFFF"/>
                    </a:solidFill>
                  </a:tcPr>
                </a:tc>
                <a:tc>
                  <a:txBody>
                    <a:bodyPr/>
                    <a:lstStyle/>
                    <a:p>
                      <a:r>
                        <a:rPr sz="1400" b="0">
                          <a:solidFill>
                            <a:srgbClr val="1E1A24"/>
                          </a:solidFill>
                          <a:latin typeface="Calibri"/>
                        </a:rPr>
                        <a:t>Protocolé</a:t>
                      </a:r>
                    </a:p>
                  </a:txBody>
                  <a:tcPr anchor="ctr">
                    <a:solidFill>
                      <a:srgbClr val="FFFFFF"/>
                    </a:solidFill>
                  </a:tcPr>
                </a:tc>
              </a:tr>
              <a:tr h="530352">
                <a:tc>
                  <a:txBody>
                    <a:bodyPr/>
                    <a:lstStyle/>
                    <a:p>
                      <a:r>
                        <a:rPr sz="1400" b="1">
                          <a:solidFill>
                            <a:srgbClr val="1E1A24"/>
                          </a:solidFill>
                          <a:latin typeface="Calibri"/>
                        </a:rPr>
                        <a:t>S-5</a:t>
                      </a:r>
                    </a:p>
                  </a:txBody>
                  <a:tcPr anchor="ctr">
                    <a:solidFill>
                      <a:srgbClr val="F3EDF8"/>
                    </a:solidFill>
                  </a:tcPr>
                </a:tc>
                <a:tc>
                  <a:txBody>
                    <a:bodyPr/>
                    <a:lstStyle/>
                    <a:p>
                      <a:r>
                        <a:rPr sz="1400" b="0">
                          <a:solidFill>
                            <a:srgbClr val="1E1A24"/>
                          </a:solidFill>
                          <a:latin typeface="Calibri"/>
                        </a:rPr>
                        <a:t>Coupure temporaire</a:t>
                      </a:r>
                    </a:p>
                  </a:txBody>
                  <a:tcPr anchor="ctr">
                    <a:solidFill>
                      <a:srgbClr val="F3EDF8"/>
                    </a:solidFill>
                  </a:tcPr>
                </a:tc>
                <a:tc>
                  <a:txBody>
                    <a:bodyPr/>
                    <a:lstStyle/>
                    <a:p>
                      <a:r>
                        <a:rPr sz="1400" b="0">
                          <a:solidFill>
                            <a:srgbClr val="1E1A24"/>
                          </a:solidFill>
                          <a:latin typeface="Calibri"/>
                        </a:rPr>
                        <a:t>Reprise de l’appel, rattrapage des messages</a:t>
                      </a:r>
                    </a:p>
                  </a:txBody>
                  <a:tcPr anchor="ctr">
                    <a:solidFill>
                      <a:srgbClr val="F3EDF8"/>
                    </a:solidFill>
                  </a:tcPr>
                </a:tc>
                <a:tc>
                  <a:txBody>
                    <a:bodyPr/>
                    <a:lstStyle/>
                    <a:p>
                      <a:r>
                        <a:rPr sz="1400" b="0">
                          <a:solidFill>
                            <a:srgbClr val="1E1A24"/>
                          </a:solidFill>
                          <a:latin typeface="Calibri"/>
                        </a:rPr>
                        <a:t>Protocolé</a:t>
                      </a:r>
                    </a:p>
                  </a:txBody>
                  <a:tcPr anchor="ctr">
                    <a:solidFill>
                      <a:srgbClr val="F3EDF8"/>
                    </a:solidFill>
                  </a:tcPr>
                </a:tc>
              </a:tr>
              <a:tr h="530352">
                <a:tc>
                  <a:txBody>
                    <a:bodyPr/>
                    <a:lstStyle/>
                    <a:p>
                      <a:r>
                        <a:rPr sz="1400" b="1">
                          <a:solidFill>
                            <a:srgbClr val="1E1A24"/>
                          </a:solidFill>
                          <a:latin typeface="Calibri"/>
                        </a:rPr>
                        <a:t>S-6</a:t>
                      </a:r>
                    </a:p>
                  </a:txBody>
                  <a:tcPr anchor="ctr">
                    <a:solidFill>
                      <a:srgbClr val="FFFFFF"/>
                    </a:solidFill>
                  </a:tcPr>
                </a:tc>
                <a:tc>
                  <a:txBody>
                    <a:bodyPr/>
                    <a:lstStyle/>
                    <a:p>
                      <a:r>
                        <a:rPr sz="1400" b="0">
                          <a:solidFill>
                            <a:srgbClr val="1E1A24"/>
                          </a:solidFill>
                          <a:latin typeface="Calibri"/>
                        </a:rPr>
                        <a:t>Changement de réseau</a:t>
                      </a:r>
                    </a:p>
                  </a:txBody>
                  <a:tcPr anchor="ctr">
                    <a:solidFill>
                      <a:srgbClr val="FFFFFF"/>
                    </a:solidFill>
                  </a:tcPr>
                </a:tc>
                <a:tc>
                  <a:txBody>
                    <a:bodyPr/>
                    <a:lstStyle/>
                    <a:p>
                      <a:r>
                        <a:rPr sz="1400" b="0">
                          <a:solidFill>
                            <a:srgbClr val="1E1A24"/>
                          </a:solidFill>
                          <a:latin typeface="Calibri"/>
                        </a:rPr>
                        <a:t>ICE restart Wi-Fi ↔ 4G</a:t>
                      </a:r>
                    </a:p>
                  </a:txBody>
                  <a:tcPr anchor="ctr">
                    <a:solidFill>
                      <a:srgbClr val="FFFFFF"/>
                    </a:solidFill>
                  </a:tcPr>
                </a:tc>
                <a:tc>
                  <a:txBody>
                    <a:bodyPr/>
                    <a:lstStyle/>
                    <a:p>
                      <a:r>
                        <a:rPr sz="1400" b="0">
                          <a:solidFill>
                            <a:srgbClr val="1E1A24"/>
                          </a:solidFill>
                          <a:latin typeface="Calibri"/>
                        </a:rPr>
                        <a:t>Protocolé</a:t>
                      </a:r>
                    </a:p>
                  </a:txBody>
                  <a:tcPr anchor="ctr">
                    <a:solidFill>
                      <a:srgbClr val="FFFFFF"/>
                    </a:solidFill>
                  </a:tcPr>
                </a:tc>
              </a:tr>
              <a:tr h="530352">
                <a:tc>
                  <a:txBody>
                    <a:bodyPr/>
                    <a:lstStyle/>
                    <a:p>
                      <a:r>
                        <a:rPr sz="1400" b="1">
                          <a:solidFill>
                            <a:srgbClr val="1E1A24"/>
                          </a:solidFill>
                          <a:latin typeface="Calibri"/>
                        </a:rPr>
                        <a:t>S-7</a:t>
                      </a:r>
                    </a:p>
                  </a:txBody>
                  <a:tcPr anchor="ctr">
                    <a:solidFill>
                      <a:srgbClr val="F3EDF8"/>
                    </a:solidFill>
                  </a:tcPr>
                </a:tc>
                <a:tc>
                  <a:txBody>
                    <a:bodyPr/>
                    <a:lstStyle/>
                    <a:p>
                      <a:r>
                        <a:rPr sz="1400" b="0">
                          <a:solidFill>
                            <a:srgbClr val="1E1A24"/>
                          </a:solidFill>
                          <a:latin typeface="Calibri"/>
                        </a:rPr>
                        <a:t>Charge croissante</a:t>
                      </a:r>
                    </a:p>
                  </a:txBody>
                  <a:tcPr anchor="ctr">
                    <a:solidFill>
                      <a:srgbClr val="F3EDF8"/>
                    </a:solidFill>
                  </a:tcPr>
                </a:tc>
                <a:tc>
                  <a:txBody>
                    <a:bodyPr/>
                    <a:lstStyle/>
                    <a:p>
                      <a:r>
                        <a:rPr sz="1400" b="0">
                          <a:solidFill>
                            <a:srgbClr val="1E1A24"/>
                          </a:solidFill>
                          <a:latin typeface="Calibri"/>
                        </a:rPr>
                        <a:t>Non pertinent pour deux utilisateurs</a:t>
                      </a:r>
                    </a:p>
                  </a:txBody>
                  <a:tcPr anchor="ctr">
                    <a:solidFill>
                      <a:srgbClr val="F3EDF8"/>
                    </a:solidFill>
                  </a:tcPr>
                </a:tc>
                <a:tc>
                  <a:txBody>
                    <a:bodyPr/>
                    <a:lstStyle/>
                    <a:p>
                      <a:r>
                        <a:rPr sz="1400" b="0">
                          <a:solidFill>
                            <a:srgbClr val="1E1A24"/>
                          </a:solidFill>
                          <a:latin typeface="Calibri"/>
                        </a:rPr>
                        <a:t>Non réalisable</a:t>
                      </a:r>
                    </a:p>
                  </a:txBody>
                  <a:tcPr anchor="ctr">
                    <a:solidFill>
                      <a:srgbClr val="F3EDF8"/>
                    </a:solidFill>
                  </a:tcPr>
                </a:tc>
              </a:tr>
              <a:tr h="530352">
                <a:tc>
                  <a:txBody>
                    <a:bodyPr/>
                    <a:lstStyle/>
                    <a:p>
                      <a:r>
                        <a:rPr sz="1400" b="1">
                          <a:solidFill>
                            <a:srgbClr val="1E1A24"/>
                          </a:solidFill>
                          <a:latin typeface="Calibri"/>
                        </a:rPr>
                        <a:t>S-8</a:t>
                      </a:r>
                    </a:p>
                  </a:txBody>
                  <a:tcPr anchor="ctr">
                    <a:solidFill>
                      <a:srgbClr val="E3F1EF"/>
                    </a:solidFill>
                  </a:tcPr>
                </a:tc>
                <a:tc>
                  <a:txBody>
                    <a:bodyPr/>
                    <a:lstStyle/>
                    <a:p>
                      <a:r>
                        <a:rPr sz="1400" b="0">
                          <a:solidFill>
                            <a:srgbClr val="1E1A24"/>
                          </a:solidFill>
                          <a:latin typeface="Calibri"/>
                        </a:rPr>
                        <a:t>Sécurité</a:t>
                      </a:r>
                    </a:p>
                  </a:txBody>
                  <a:tcPr anchor="ctr">
                    <a:solidFill>
                      <a:srgbClr val="E3F1EF"/>
                    </a:solidFill>
                  </a:tcPr>
                </a:tc>
                <a:tc>
                  <a:txBody>
                    <a:bodyPr/>
                    <a:lstStyle/>
                    <a:p>
                      <a:r>
                        <a:rPr sz="1400" b="0">
                          <a:solidFill>
                            <a:srgbClr val="1E1A24"/>
                          </a:solidFill>
                          <a:latin typeface="Calibri"/>
                        </a:rPr>
                        <a:t>Isolation SQL, cryptographie</a:t>
                      </a:r>
                    </a:p>
                  </a:txBody>
                  <a:tcPr anchor="ctr">
                    <a:solidFill>
                      <a:srgbClr val="E3F1EF"/>
                    </a:solidFill>
                  </a:tcPr>
                </a:tc>
                <a:tc>
                  <a:txBody>
                    <a:bodyPr/>
                    <a:lstStyle/>
                    <a:p>
                      <a:r>
                        <a:rPr sz="1400" b="1">
                          <a:solidFill>
                            <a:srgbClr val="1E1A24"/>
                          </a:solidFill>
                          <a:latin typeface="Calibri"/>
                        </a:rPr>
                        <a:t>MESURÉ</a:t>
                      </a:r>
                    </a:p>
                  </a:txBody>
                  <a:tcPr anchor="ctr">
                    <a:solidFill>
                      <a:srgbClr val="E3F1EF"/>
                    </a:solidFill>
                  </a:tcPr>
                </a:tc>
              </a:tr>
            </a:tbl>
          </a:graphicData>
        </a:graphic>
      </p:graphicFrame>
      <p:sp>
        <p:nvSpPr>
          <p:cNvPr id="4"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17</a:t>
            </a:r>
          </a:p>
        </p:txBody>
      </p:sp>
      <p:sp>
        <p:nvSpPr>
          <p:cNvPr id="5"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Résultats : ce qui a été réellement mesuré</a:t>
            </a:r>
          </a:p>
        </p:txBody>
      </p:sp>
      <p:sp>
        <p:nvSpPr>
          <p:cNvPr id="3" name="Rounded Rectangle 2"/>
          <p:cNvSpPr/>
          <p:nvPr/>
        </p:nvSpPr>
        <p:spPr>
          <a:xfrm>
            <a:off x="548640" y="1325880"/>
            <a:ext cx="2606040" cy="150876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640080" y="1371600"/>
            <a:ext cx="2423160" cy="685800"/>
          </a:xfrm>
          <a:prstGeom prst="rect">
            <a:avLst/>
          </a:prstGeom>
          <a:noFill/>
        </p:spPr>
        <p:txBody>
          <a:bodyPr wrap="square" anchor="ctr">
            <a:spAutoFit/>
          </a:bodyPr>
          <a:lstStyle/>
          <a:p>
            <a:pPr algn="ctr">
              <a:spcAft>
                <a:spcPts val="400"/>
              </a:spcAft>
            </a:pPr>
            <a:r>
              <a:rPr sz="3400" b="1" i="0">
                <a:solidFill>
                  <a:srgbClr val="3B1F52"/>
                </a:solidFill>
                <a:latin typeface="Cambria"/>
              </a:rPr>
              <a:t>96</a:t>
            </a:r>
          </a:p>
        </p:txBody>
      </p:sp>
      <p:sp>
        <p:nvSpPr>
          <p:cNvPr id="5" name="texte"/>
          <p:cNvSpPr txBox="1"/>
          <p:nvPr/>
        </p:nvSpPr>
        <p:spPr>
          <a:xfrm>
            <a:off x="640080" y="2057400"/>
            <a:ext cx="2423160" cy="731520"/>
          </a:xfrm>
          <a:prstGeom prst="rect">
            <a:avLst/>
          </a:prstGeom>
          <a:noFill/>
        </p:spPr>
        <p:txBody>
          <a:bodyPr wrap="square" anchor="t">
            <a:spAutoFit/>
          </a:bodyPr>
          <a:lstStyle/>
          <a:p>
            <a:pPr algn="ctr">
              <a:spcAft>
                <a:spcPts val="400"/>
              </a:spcAft>
            </a:pPr>
            <a:r>
              <a:rPr sz="1500" b="0" i="0">
                <a:solidFill>
                  <a:srgbClr val="6B6575"/>
                </a:solidFill>
                <a:latin typeface="Calibri"/>
              </a:rPr>
              <a:t>contrôles d’isolation SQL réussis, 0 échec</a:t>
            </a:r>
          </a:p>
        </p:txBody>
      </p:sp>
      <p:sp>
        <p:nvSpPr>
          <p:cNvPr id="6" name="Rounded Rectangle 5"/>
          <p:cNvSpPr/>
          <p:nvPr/>
        </p:nvSpPr>
        <p:spPr>
          <a:xfrm>
            <a:off x="3337560" y="1325880"/>
            <a:ext cx="2606040" cy="150876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3429000" y="1371600"/>
            <a:ext cx="2423160" cy="685800"/>
          </a:xfrm>
          <a:prstGeom prst="rect">
            <a:avLst/>
          </a:prstGeom>
          <a:noFill/>
        </p:spPr>
        <p:txBody>
          <a:bodyPr wrap="square" anchor="ctr">
            <a:spAutoFit/>
          </a:bodyPr>
          <a:lstStyle/>
          <a:p>
            <a:pPr algn="ctr">
              <a:spcAft>
                <a:spcPts val="400"/>
              </a:spcAft>
            </a:pPr>
            <a:r>
              <a:rPr sz="3400" b="1" i="0">
                <a:solidFill>
                  <a:srgbClr val="3B1F52"/>
                </a:solidFill>
                <a:latin typeface="Cambria"/>
              </a:rPr>
              <a:t>22</a:t>
            </a:r>
          </a:p>
        </p:txBody>
      </p:sp>
      <p:sp>
        <p:nvSpPr>
          <p:cNvPr id="8" name="texte"/>
          <p:cNvSpPr txBox="1"/>
          <p:nvPr/>
        </p:nvSpPr>
        <p:spPr>
          <a:xfrm>
            <a:off x="3429000" y="2057400"/>
            <a:ext cx="2423160" cy="731520"/>
          </a:xfrm>
          <a:prstGeom prst="rect">
            <a:avLst/>
          </a:prstGeom>
          <a:noFill/>
        </p:spPr>
        <p:txBody>
          <a:bodyPr wrap="square" anchor="t">
            <a:spAutoFit/>
          </a:bodyPr>
          <a:lstStyle/>
          <a:p>
            <a:pPr algn="ctr">
              <a:spcAft>
                <a:spcPts val="400"/>
              </a:spcAft>
            </a:pPr>
            <a:r>
              <a:rPr sz="1500" b="0" i="0">
                <a:solidFill>
                  <a:srgbClr val="6B6575"/>
                </a:solidFill>
                <a:latin typeface="Calibri"/>
              </a:rPr>
              <a:t>contrôles cryptographiques réussis</a:t>
            </a:r>
          </a:p>
        </p:txBody>
      </p:sp>
      <p:sp>
        <p:nvSpPr>
          <p:cNvPr id="9" name="Rounded Rectangle 8"/>
          <p:cNvSpPr/>
          <p:nvPr/>
        </p:nvSpPr>
        <p:spPr>
          <a:xfrm>
            <a:off x="6126479" y="1325880"/>
            <a:ext cx="2606040" cy="150876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6217919" y="1371600"/>
            <a:ext cx="2423160" cy="685800"/>
          </a:xfrm>
          <a:prstGeom prst="rect">
            <a:avLst/>
          </a:prstGeom>
          <a:noFill/>
        </p:spPr>
        <p:txBody>
          <a:bodyPr wrap="square" anchor="ctr">
            <a:spAutoFit/>
          </a:bodyPr>
          <a:lstStyle/>
          <a:p>
            <a:pPr algn="ctr">
              <a:spcAft>
                <a:spcPts val="400"/>
              </a:spcAft>
            </a:pPr>
            <a:r>
              <a:rPr sz="3400" b="1" i="0">
                <a:solidFill>
                  <a:srgbClr val="3B1F52"/>
                </a:solidFill>
                <a:latin typeface="Cambria"/>
              </a:rPr>
              <a:t>&lt; 1,2 ms</a:t>
            </a:r>
          </a:p>
        </p:txBody>
      </p:sp>
      <p:sp>
        <p:nvSpPr>
          <p:cNvPr id="11" name="texte"/>
          <p:cNvSpPr txBox="1"/>
          <p:nvPr/>
        </p:nvSpPr>
        <p:spPr>
          <a:xfrm>
            <a:off x="6217919" y="2057400"/>
            <a:ext cx="2423160" cy="731520"/>
          </a:xfrm>
          <a:prstGeom prst="rect">
            <a:avLst/>
          </a:prstGeom>
          <a:noFill/>
        </p:spPr>
        <p:txBody>
          <a:bodyPr wrap="square" anchor="t">
            <a:spAutoFit/>
          </a:bodyPr>
          <a:lstStyle/>
          <a:p>
            <a:pPr algn="ctr">
              <a:spcAft>
                <a:spcPts val="400"/>
              </a:spcAft>
            </a:pPr>
            <a:r>
              <a:rPr sz="1500" b="0" i="0">
                <a:solidFill>
                  <a:srgbClr val="6B6575"/>
                </a:solidFill>
                <a:latin typeface="Calibri"/>
              </a:rPr>
              <a:t>chiffrer 4 000 caractères (médiane)</a:t>
            </a:r>
          </a:p>
        </p:txBody>
      </p:sp>
      <p:sp>
        <p:nvSpPr>
          <p:cNvPr id="12" name="Rounded Rectangle 11"/>
          <p:cNvSpPr/>
          <p:nvPr/>
        </p:nvSpPr>
        <p:spPr>
          <a:xfrm>
            <a:off x="8915399" y="1325880"/>
            <a:ext cx="2606040" cy="150876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9006839" y="1371600"/>
            <a:ext cx="2423160" cy="685800"/>
          </a:xfrm>
          <a:prstGeom prst="rect">
            <a:avLst/>
          </a:prstGeom>
          <a:noFill/>
        </p:spPr>
        <p:txBody>
          <a:bodyPr wrap="square" anchor="ctr">
            <a:spAutoFit/>
          </a:bodyPr>
          <a:lstStyle/>
          <a:p>
            <a:pPr algn="ctr">
              <a:spcAft>
                <a:spcPts val="400"/>
              </a:spcAft>
            </a:pPr>
            <a:r>
              <a:rPr sz="3400" b="1" i="0">
                <a:solidFill>
                  <a:srgbClr val="3B1F52"/>
                </a:solidFill>
                <a:latin typeface="Cambria"/>
              </a:rPr>
              <a:t>+28 octets</a:t>
            </a:r>
          </a:p>
        </p:txBody>
      </p:sp>
      <p:sp>
        <p:nvSpPr>
          <p:cNvPr id="14" name="texte"/>
          <p:cNvSpPr txBox="1"/>
          <p:nvPr/>
        </p:nvSpPr>
        <p:spPr>
          <a:xfrm>
            <a:off x="9006839" y="2057400"/>
            <a:ext cx="2423160" cy="731520"/>
          </a:xfrm>
          <a:prstGeom prst="rect">
            <a:avLst/>
          </a:prstGeom>
          <a:noFill/>
        </p:spPr>
        <p:txBody>
          <a:bodyPr wrap="square" anchor="t">
            <a:spAutoFit/>
          </a:bodyPr>
          <a:lstStyle/>
          <a:p>
            <a:pPr algn="ctr">
              <a:spcAft>
                <a:spcPts val="400"/>
              </a:spcAft>
            </a:pPr>
            <a:r>
              <a:rPr sz="1500" b="0" i="0">
                <a:solidFill>
                  <a:srgbClr val="6B6575"/>
                </a:solidFill>
                <a:latin typeface="Calibri"/>
              </a:rPr>
              <a:t>surcoût d’un fichier chiffré</a:t>
            </a:r>
          </a:p>
        </p:txBody>
      </p:sp>
      <p:graphicFrame>
        <p:nvGraphicFramePr>
          <p:cNvPr id="15" name="Chart 14"/>
          <p:cNvGraphicFramePr>
            <a:graphicFrameLocks noGrp="1"/>
          </p:cNvGraphicFramePr>
          <p:nvPr/>
        </p:nvGraphicFramePr>
        <p:xfrm>
          <a:off x="548640" y="3017520"/>
          <a:ext cx="5486400" cy="3200400"/>
        </p:xfrm>
        <a:graphic>
          <a:graphicData uri="http://schemas.openxmlformats.org/drawingml/2006/chart">
            <c:chart xmlns:c="http://schemas.openxmlformats.org/drawingml/2006/chart" r:id="rId2"/>
          </a:graphicData>
        </a:graphic>
      </p:graphicFrame>
      <p:graphicFrame>
        <p:nvGraphicFramePr>
          <p:cNvPr id="16" name="Chart 15"/>
          <p:cNvGraphicFramePr>
            <a:graphicFrameLocks noGrp="1"/>
          </p:cNvGraphicFramePr>
          <p:nvPr/>
        </p:nvGraphicFramePr>
        <p:xfrm>
          <a:off x="6172200" y="3017520"/>
          <a:ext cx="5486400" cy="3200400"/>
        </p:xfrm>
        <a:graphic>
          <a:graphicData uri="http://schemas.openxmlformats.org/drawingml/2006/chart">
            <c:chart xmlns:c="http://schemas.openxmlformats.org/drawingml/2006/chart" r:id="rId3"/>
          </a:graphicData>
        </a:graphic>
      </p:graphicFrame>
      <p:sp>
        <p:nvSpPr>
          <p:cNvPr id="17"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18</a:t>
            </a:r>
          </a:p>
        </p:txBody>
      </p:sp>
      <p:sp>
        <p:nvSpPr>
          <p:cNvPr id="18"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Ce que les mesures apprennent, et ce qu’elles taisent</a:t>
            </a:r>
          </a:p>
        </p:txBody>
      </p:sp>
      <p:sp>
        <p:nvSpPr>
          <p:cNvPr id="3" name="carte Enseignements"/>
          <p:cNvSpPr/>
          <p:nvPr/>
        </p:nvSpPr>
        <p:spPr>
          <a:xfrm>
            <a:off x="548640" y="1371600"/>
            <a:ext cx="544068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463040"/>
            <a:ext cx="5166360" cy="548640"/>
          </a:xfrm>
          <a:prstGeom prst="rect">
            <a:avLst/>
          </a:prstGeom>
          <a:noFill/>
        </p:spPr>
        <p:txBody>
          <a:bodyPr wrap="square" anchor="t">
            <a:spAutoFit/>
          </a:bodyPr>
          <a:lstStyle/>
          <a:p>
            <a:pPr algn="l">
              <a:spcAft>
                <a:spcPts val="400"/>
              </a:spcAft>
            </a:pPr>
            <a:r>
              <a:rPr sz="2000" b="1" i="0">
                <a:solidFill>
                  <a:srgbClr val="3B1F52"/>
                </a:solidFill>
                <a:latin typeface="Calibri"/>
              </a:rPr>
              <a:t>Enseignements</a:t>
            </a:r>
          </a:p>
        </p:txBody>
      </p:sp>
      <p:sp>
        <p:nvSpPr>
          <p:cNvPr id="5" name="carte-texte"/>
          <p:cNvSpPr txBox="1"/>
          <p:nvPr/>
        </p:nvSpPr>
        <p:spPr>
          <a:xfrm>
            <a:off x="685800" y="2029967"/>
            <a:ext cx="5166360" cy="4096511"/>
          </a:xfrm>
          <a:prstGeom prst="rect">
            <a:avLst/>
          </a:prstGeom>
          <a:noFill/>
        </p:spPr>
        <p:txBody>
          <a:bodyPr wrap="square" anchor="t">
            <a:spAutoFit/>
          </a:bodyPr>
          <a:lstStyle/>
          <a:p>
            <a:pPr algn="l">
              <a:spcAft>
                <a:spcPts val="300"/>
              </a:spcAft>
            </a:pPr>
            <a:r>
              <a:rPr sz="1800" b="0" i="0">
                <a:solidFill>
                  <a:srgbClr val="1E1A24"/>
                </a:solidFill>
                <a:latin typeface="Calibri"/>
              </a:rPr>
              <a:t>Le calcul de chiffrement est faible devant le budget de 150 ms (poste de test).</a:t>
            </a:r>
          </a:p>
          <a:p>
            <a:pPr algn="l">
              <a:spcAft>
                <a:spcPts val="300"/>
              </a:spcAft>
            </a:pPr>
            <a:r>
              <a:rPr sz="1800" b="0" i="0">
                <a:solidFill>
                  <a:srgbClr val="1E1A24"/>
                </a:solidFill>
                <a:latin typeface="Calibri"/>
              </a:rPr>
              <a:t>Le vrai coût de l’E2EE est d’usage : mot de passe de chiffrement, déverrouillage d’environ 2 s, perte possible des données.</a:t>
            </a:r>
          </a:p>
          <a:p>
            <a:pPr algn="l">
              <a:spcAft>
                <a:spcPts val="300"/>
              </a:spcAft>
            </a:pPr>
            <a:r>
              <a:rPr sz="1800" b="0" i="0">
                <a:solidFill>
                  <a:srgbClr val="1E1A24"/>
                </a:solidFill>
                <a:latin typeface="Calibri"/>
              </a:rPr>
              <a:t>L’isolation est exprimée dans la base, pas seulement dans l’interface.</a:t>
            </a:r>
          </a:p>
        </p:txBody>
      </p:sp>
      <p:sp>
        <p:nvSpPr>
          <p:cNvPr id="6" name="carte Constat d’absence de"/>
          <p:cNvSpPr/>
          <p:nvPr/>
        </p:nvSpPr>
        <p:spPr>
          <a:xfrm>
            <a:off x="6199632" y="1371600"/>
            <a:ext cx="5440680" cy="4846320"/>
          </a:xfrm>
          <a:prstGeom prst="roundRect">
            <a:avLst>
              <a:gd name="adj" fmla="val 8000"/>
            </a:avLst>
          </a:prstGeom>
          <a:solidFill>
            <a:srgbClr val="FF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te-titre"/>
          <p:cNvSpPr txBox="1"/>
          <p:nvPr/>
        </p:nvSpPr>
        <p:spPr>
          <a:xfrm>
            <a:off x="6336792" y="1463040"/>
            <a:ext cx="5166360" cy="548640"/>
          </a:xfrm>
          <a:prstGeom prst="rect">
            <a:avLst/>
          </a:prstGeom>
          <a:noFill/>
        </p:spPr>
        <p:txBody>
          <a:bodyPr wrap="square" anchor="t">
            <a:spAutoFit/>
          </a:bodyPr>
          <a:lstStyle/>
          <a:p>
            <a:pPr algn="l">
              <a:spcAft>
                <a:spcPts val="400"/>
              </a:spcAft>
            </a:pPr>
            <a:r>
              <a:rPr sz="2000" b="1" i="0">
                <a:solidFill>
                  <a:srgbClr val="C45C7E"/>
                </a:solidFill>
                <a:latin typeface="Calibri"/>
              </a:rPr>
              <a:t>Constat d’absence de preuve</a:t>
            </a:r>
          </a:p>
        </p:txBody>
      </p:sp>
      <p:sp>
        <p:nvSpPr>
          <p:cNvPr id="8" name="carte-texte"/>
          <p:cNvSpPr txBox="1"/>
          <p:nvPr/>
        </p:nvSpPr>
        <p:spPr>
          <a:xfrm>
            <a:off x="6336792" y="2029967"/>
            <a:ext cx="5166360" cy="4096511"/>
          </a:xfrm>
          <a:prstGeom prst="rect">
            <a:avLst/>
          </a:prstGeom>
          <a:noFill/>
        </p:spPr>
        <p:txBody>
          <a:bodyPr wrap="square" anchor="t">
            <a:spAutoFit/>
          </a:bodyPr>
          <a:lstStyle/>
          <a:p>
            <a:pPr algn="l">
              <a:spcAft>
                <a:spcPts val="300"/>
              </a:spcAft>
            </a:pPr>
            <a:r>
              <a:rPr sz="1800" b="0" i="0">
                <a:solidFill>
                  <a:srgbClr val="1E1A24"/>
                </a:solidFill>
                <a:latin typeface="Calibri"/>
              </a:rPr>
              <a:t>Latence d’établissement, gigue, perte, temps de reprise, taux de réussite : non mesurés.</a:t>
            </a:r>
          </a:p>
          <a:p>
            <a:pPr algn="l">
              <a:spcAft>
                <a:spcPts val="300"/>
              </a:spcAft>
            </a:pPr>
            <a:r>
              <a:rPr sz="1800" b="0" i="0">
                <a:solidFill>
                  <a:srgbClr val="1E1A24"/>
                </a:solidFill>
                <a:latin typeface="Calibri"/>
              </a:rPr>
              <a:t>Aucune instrumentation dans l’application actuelle.</a:t>
            </a:r>
          </a:p>
          <a:p>
            <a:pPr algn="l">
              <a:spcAft>
                <a:spcPts val="300"/>
              </a:spcAft>
            </a:pPr>
            <a:r>
              <a:rPr sz="1800" b="0" i="0">
                <a:solidFill>
                  <a:srgbClr val="1E1A24"/>
                </a:solidFill>
                <a:latin typeface="Calibri"/>
              </a:rPr>
              <a:t>H2 partiellement testée ; H3 non testée.</a:t>
            </a:r>
          </a:p>
          <a:p>
            <a:pPr algn="l">
              <a:spcAft>
                <a:spcPts val="300"/>
              </a:spcAft>
            </a:pPr>
            <a:r>
              <a:rPr sz="1800" b="0" i="0">
                <a:solidFill>
                  <a:srgbClr val="1E1A24"/>
                </a:solidFill>
                <a:latin typeface="Calibri"/>
              </a:rPr>
              <a:t>Mesures sur un poste de bureau, pas sur téléphone.</a:t>
            </a:r>
          </a:p>
        </p:txBody>
      </p:sp>
      <p:sp>
        <p:nvSpPr>
          <p:cNvPr id="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19</a:t>
            </a:r>
          </a:p>
        </p:txBody>
      </p:sp>
      <p:sp>
        <p:nvSpPr>
          <p:cNvPr id="1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Le triangle des compromis</a:t>
            </a:r>
          </a:p>
        </p:txBody>
      </p:sp>
      <p:sp>
        <p:nvSpPr>
          <p:cNvPr id="3" name="Isosceles Triangle 2"/>
          <p:cNvSpPr/>
          <p:nvPr/>
        </p:nvSpPr>
        <p:spPr>
          <a:xfrm>
            <a:off x="1280160" y="1828800"/>
            <a:ext cx="4206240" cy="3566160"/>
          </a:xfrm>
          <a:prstGeom prst="triangle">
            <a:avLst/>
          </a:prstGeom>
          <a:solidFill>
            <a:srgbClr val="F3EDF8"/>
          </a:solidFill>
          <a:ln w="31750">
            <a:solidFill>
              <a:srgbClr val="3B1F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2011680" y="1371600"/>
            <a:ext cx="2743200" cy="457200"/>
          </a:xfrm>
          <a:prstGeom prst="rect">
            <a:avLst/>
          </a:prstGeom>
          <a:noFill/>
        </p:spPr>
        <p:txBody>
          <a:bodyPr wrap="square" anchor="t">
            <a:spAutoFit/>
          </a:bodyPr>
          <a:lstStyle/>
          <a:p>
            <a:pPr algn="ctr">
              <a:spcAft>
                <a:spcPts val="400"/>
              </a:spcAft>
            </a:pPr>
            <a:r>
              <a:rPr sz="2000" b="1" i="0">
                <a:solidFill>
                  <a:srgbClr val="3B1F52"/>
                </a:solidFill>
                <a:latin typeface="Calibri"/>
              </a:rPr>
              <a:t>SÉCURITÉ</a:t>
            </a:r>
          </a:p>
        </p:txBody>
      </p:sp>
      <p:sp>
        <p:nvSpPr>
          <p:cNvPr id="5" name="texte"/>
          <p:cNvSpPr txBox="1"/>
          <p:nvPr/>
        </p:nvSpPr>
        <p:spPr>
          <a:xfrm>
            <a:off x="365760" y="5440680"/>
            <a:ext cx="3108960" cy="731520"/>
          </a:xfrm>
          <a:prstGeom prst="rect">
            <a:avLst/>
          </a:prstGeom>
          <a:noFill/>
        </p:spPr>
        <p:txBody>
          <a:bodyPr wrap="square" anchor="t">
            <a:spAutoFit/>
          </a:bodyPr>
          <a:lstStyle/>
          <a:p>
            <a:pPr algn="ctr">
              <a:spcAft>
                <a:spcPts val="0"/>
              </a:spcAft>
            </a:pPr>
            <a:r>
              <a:rPr sz="1800" b="1" i="0">
                <a:solidFill>
                  <a:srgbClr val="3B1F52"/>
                </a:solidFill>
                <a:latin typeface="Calibri"/>
              </a:rPr>
              <a:t>PERFORMANCE</a:t>
            </a:r>
          </a:p>
          <a:p>
            <a:pPr algn="ctr">
              <a:spcAft>
                <a:spcPts val="0"/>
              </a:spcAft>
            </a:pPr>
            <a:r>
              <a:rPr sz="1400" b="0" i="0">
                <a:solidFill>
                  <a:srgbClr val="6B6575"/>
                </a:solidFill>
                <a:latin typeface="Calibri"/>
              </a:rPr>
              <a:t>latence, qualité</a:t>
            </a:r>
          </a:p>
        </p:txBody>
      </p:sp>
      <p:sp>
        <p:nvSpPr>
          <p:cNvPr id="6" name="texte"/>
          <p:cNvSpPr txBox="1"/>
          <p:nvPr/>
        </p:nvSpPr>
        <p:spPr>
          <a:xfrm>
            <a:off x="3566160" y="5440680"/>
            <a:ext cx="3108960" cy="731520"/>
          </a:xfrm>
          <a:prstGeom prst="rect">
            <a:avLst/>
          </a:prstGeom>
          <a:noFill/>
        </p:spPr>
        <p:txBody>
          <a:bodyPr wrap="square" anchor="t">
            <a:spAutoFit/>
          </a:bodyPr>
          <a:lstStyle/>
          <a:p>
            <a:pPr algn="ctr">
              <a:spcAft>
                <a:spcPts val="0"/>
              </a:spcAft>
            </a:pPr>
            <a:r>
              <a:rPr sz="1800" b="1" i="0">
                <a:solidFill>
                  <a:srgbClr val="3B1F52"/>
                </a:solidFill>
                <a:latin typeface="Calibri"/>
              </a:rPr>
              <a:t>DISPONIBILITÉ</a:t>
            </a:r>
          </a:p>
          <a:p>
            <a:pPr algn="ctr">
              <a:spcAft>
                <a:spcPts val="0"/>
              </a:spcAft>
            </a:pPr>
            <a:r>
              <a:rPr sz="1400" b="0" i="0">
                <a:solidFill>
                  <a:srgbClr val="6B6575"/>
                </a:solidFill>
                <a:latin typeface="Calibri"/>
              </a:rPr>
              <a:t>résilience</a:t>
            </a:r>
          </a:p>
        </p:txBody>
      </p:sp>
      <p:sp>
        <p:nvSpPr>
          <p:cNvPr id="7" name="texte"/>
          <p:cNvSpPr txBox="1"/>
          <p:nvPr/>
        </p:nvSpPr>
        <p:spPr>
          <a:xfrm>
            <a:off x="6858000" y="1463040"/>
            <a:ext cx="4846320" cy="4754880"/>
          </a:xfrm>
          <a:prstGeom prst="rect">
            <a:avLst/>
          </a:prstGeom>
          <a:noFill/>
        </p:spPr>
        <p:txBody>
          <a:bodyPr wrap="square" anchor="t">
            <a:spAutoFit/>
          </a:bodyPr>
          <a:lstStyle/>
          <a:p>
            <a:pPr algn="l">
              <a:spcAft>
                <a:spcPts val="1000"/>
              </a:spcAft>
            </a:pPr>
            <a:r>
              <a:rPr sz="2200" b="1" i="0">
                <a:solidFill>
                  <a:srgbClr val="3B1F52"/>
                </a:solidFill>
                <a:latin typeface="Calibri"/>
              </a:rPr>
              <a:t>Pas de « meilleure » solution</a:t>
            </a:r>
          </a:p>
          <a:p>
            <a:pPr algn="l">
              <a:spcAft>
                <a:spcPts val="1000"/>
              </a:spcAft>
            </a:pPr>
            <a:r>
              <a:rPr sz="1800" b="0" i="0">
                <a:solidFill>
                  <a:srgbClr val="1E1A24"/>
                </a:solidFill>
                <a:latin typeface="Calibri"/>
              </a:rPr>
              <a:t>E2EE : protège de l’opérateur ; ajoute la gestion de clés et un risque de perte.</a:t>
            </a:r>
          </a:p>
          <a:p>
            <a:pPr algn="l">
              <a:spcAft>
                <a:spcPts val="1000"/>
              </a:spcAft>
            </a:pPr>
            <a:r>
              <a:rPr sz="1800" b="0" i="0">
                <a:solidFill>
                  <a:srgbClr val="1E1A24"/>
                </a:solidFill>
                <a:latin typeface="Calibri"/>
              </a:rPr>
              <a:t>Reprise automatique : améliore la continuité ; ajoute des états à gérer et à tester.</a:t>
            </a:r>
          </a:p>
          <a:p>
            <a:pPr algn="l">
              <a:spcAft>
                <a:spcPts val="1000"/>
              </a:spcAft>
            </a:pPr>
            <a:r>
              <a:rPr sz="1800" b="0" i="0">
                <a:solidFill>
                  <a:srgbClr val="1E1A24"/>
                </a:solidFill>
                <a:latin typeface="Calibri"/>
              </a:rPr>
              <a:t>Métadonnées minimales : protègent ; réduisent le diagnostic, donc l’observabilité.</a:t>
            </a:r>
          </a:p>
          <a:p>
            <a:pPr algn="l">
              <a:spcAft>
                <a:spcPts val="1000"/>
              </a:spcAft>
            </a:pPr>
            <a:r>
              <a:rPr sz="1800" b="0" i="0">
                <a:solidFill>
                  <a:srgbClr val="1E1A24"/>
                </a:solidFill>
                <a:latin typeface="Calibri"/>
              </a:rPr>
              <a:t>Relais TURN : fiabilise la connexion ; ajoute un saut réseau (non mesuré).</a:t>
            </a:r>
          </a:p>
        </p:txBody>
      </p:sp>
      <p:sp>
        <p:nvSpPr>
          <p:cNvPr id="8"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20</a:t>
            </a:r>
          </a:p>
        </p:txBody>
      </p:sp>
      <p:sp>
        <p:nvSpPr>
          <p:cNvPr id="9"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Limites du prototype, en toute transparence</a:t>
            </a:r>
          </a:p>
        </p:txBody>
      </p:sp>
      <p:sp>
        <p:nvSpPr>
          <p:cNvPr id="3" name="carte Contraintes PWA"/>
          <p:cNvSpPr/>
          <p:nvPr/>
        </p:nvSpPr>
        <p:spPr>
          <a:xfrm>
            <a:off x="548640" y="1371600"/>
            <a:ext cx="356616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4630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Contraintes PWA</a:t>
            </a:r>
          </a:p>
        </p:txBody>
      </p:sp>
      <p:sp>
        <p:nvSpPr>
          <p:cNvPr id="5" name="carte-texte"/>
          <p:cNvSpPr txBox="1"/>
          <p:nvPr/>
        </p:nvSpPr>
        <p:spPr>
          <a:xfrm>
            <a:off x="685800" y="2029967"/>
            <a:ext cx="3291840" cy="4096511"/>
          </a:xfrm>
          <a:prstGeom prst="rect">
            <a:avLst/>
          </a:prstGeom>
          <a:noFill/>
        </p:spPr>
        <p:txBody>
          <a:bodyPr wrap="square" anchor="t">
            <a:spAutoFit/>
          </a:bodyPr>
          <a:lstStyle/>
          <a:p>
            <a:pPr algn="l">
              <a:spcAft>
                <a:spcPts val="300"/>
              </a:spcAft>
            </a:pPr>
            <a:r>
              <a:rPr sz="1800" b="0" i="0">
                <a:solidFill>
                  <a:srgbClr val="1E1A24"/>
                </a:solidFill>
                <a:latin typeface="Calibri"/>
              </a:rPr>
              <a:t>Pas de CallKit/PushKit</a:t>
            </a:r>
          </a:p>
          <a:p>
            <a:pPr algn="l">
              <a:spcAft>
                <a:spcPts val="300"/>
              </a:spcAft>
            </a:pPr>
            <a:r>
              <a:rPr sz="1800" b="0" i="0">
                <a:solidFill>
                  <a:srgbClr val="1E1A24"/>
                </a:solidFill>
                <a:latin typeface="Calibri"/>
              </a:rPr>
              <a:t>Arrière-plan décidé par le système</a:t>
            </a:r>
          </a:p>
          <a:p>
            <a:pPr algn="l">
              <a:spcAft>
                <a:spcPts val="300"/>
              </a:spcAft>
            </a:pPr>
            <a:r>
              <a:rPr sz="1800" b="0" i="0">
                <a:solidFill>
                  <a:srgbClr val="1E1A24"/>
                </a:solidFill>
                <a:latin typeface="Calibri"/>
              </a:rPr>
              <a:t>Audio verrouillé avant le premier geste</a:t>
            </a:r>
          </a:p>
          <a:p>
            <a:pPr algn="l">
              <a:spcAft>
                <a:spcPts val="300"/>
              </a:spcAft>
            </a:pPr>
            <a:r>
              <a:rPr sz="1800" b="0" i="0">
                <a:solidFill>
                  <a:srgbClr val="1E1A24"/>
                </a:solidFill>
                <a:latin typeface="Calibri"/>
              </a:rPr>
              <a:t>Pas de choix du haut-parleur sur Safari iOS</a:t>
            </a:r>
          </a:p>
        </p:txBody>
      </p:sp>
      <p:sp>
        <p:nvSpPr>
          <p:cNvPr id="6" name="carte Temps réel"/>
          <p:cNvSpPr/>
          <p:nvPr/>
        </p:nvSpPr>
        <p:spPr>
          <a:xfrm>
            <a:off x="4270248" y="1371600"/>
            <a:ext cx="3566160" cy="4846320"/>
          </a:xfrm>
          <a:prstGeom prst="roundRect">
            <a:avLst>
              <a:gd name="adj" fmla="val 8000"/>
            </a:avLst>
          </a:prstGeom>
          <a:solidFill>
            <a:srgbClr val="FF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te-titre"/>
          <p:cNvSpPr txBox="1"/>
          <p:nvPr/>
        </p:nvSpPr>
        <p:spPr>
          <a:xfrm>
            <a:off x="4407408" y="14630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Temps réel</a:t>
            </a:r>
          </a:p>
        </p:txBody>
      </p:sp>
      <p:sp>
        <p:nvSpPr>
          <p:cNvPr id="8" name="carte-texte"/>
          <p:cNvSpPr txBox="1"/>
          <p:nvPr/>
        </p:nvSpPr>
        <p:spPr>
          <a:xfrm>
            <a:off x="4407408" y="2029967"/>
            <a:ext cx="3291840" cy="4096511"/>
          </a:xfrm>
          <a:prstGeom prst="rect">
            <a:avLst/>
          </a:prstGeom>
          <a:noFill/>
        </p:spPr>
        <p:txBody>
          <a:bodyPr wrap="square" anchor="t">
            <a:spAutoFit/>
          </a:bodyPr>
          <a:lstStyle/>
          <a:p>
            <a:pPr algn="l">
              <a:spcAft>
                <a:spcPts val="300"/>
              </a:spcAft>
            </a:pPr>
            <a:r>
              <a:rPr sz="1800" b="0" i="0">
                <a:solidFill>
                  <a:srgbClr val="1E1A24"/>
                </a:solidFill>
                <a:latin typeface="Calibri"/>
              </a:rPr>
              <a:t>Relais TURN à configurer en production</a:t>
            </a:r>
          </a:p>
          <a:p>
            <a:pPr algn="l">
              <a:spcAft>
                <a:spcPts val="300"/>
              </a:spcAft>
            </a:pPr>
            <a:r>
              <a:rPr sz="1800" b="0" i="0">
                <a:solidFill>
                  <a:srgbClr val="1E1A24"/>
                </a:solidFill>
                <a:latin typeface="Calibri"/>
              </a:rPr>
              <a:t>Appels un-à-un uniquement</a:t>
            </a:r>
          </a:p>
          <a:p>
            <a:pPr algn="l">
              <a:spcAft>
                <a:spcPts val="300"/>
              </a:spcAft>
            </a:pPr>
            <a:r>
              <a:rPr sz="1800" b="0" i="0">
                <a:solidFill>
                  <a:srgbClr val="1E1A24"/>
                </a:solidFill>
                <a:latin typeface="Calibri"/>
              </a:rPr>
              <a:t>Aucune métrique de qualité collectée</a:t>
            </a:r>
          </a:p>
        </p:txBody>
      </p:sp>
      <p:sp>
        <p:nvSpPr>
          <p:cNvPr id="9" name="carte Méthode"/>
          <p:cNvSpPr/>
          <p:nvPr/>
        </p:nvSpPr>
        <p:spPr>
          <a:xfrm>
            <a:off x="7991856" y="1371600"/>
            <a:ext cx="356616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te-titre"/>
          <p:cNvSpPr txBox="1"/>
          <p:nvPr/>
        </p:nvSpPr>
        <p:spPr>
          <a:xfrm>
            <a:off x="8129016" y="1463040"/>
            <a:ext cx="3291840" cy="548640"/>
          </a:xfrm>
          <a:prstGeom prst="rect">
            <a:avLst/>
          </a:prstGeom>
          <a:noFill/>
        </p:spPr>
        <p:txBody>
          <a:bodyPr wrap="square" anchor="t">
            <a:spAutoFit/>
          </a:bodyPr>
          <a:lstStyle/>
          <a:p>
            <a:pPr algn="l">
              <a:spcAft>
                <a:spcPts val="400"/>
              </a:spcAft>
            </a:pPr>
            <a:r>
              <a:rPr sz="2000" b="1" i="0">
                <a:solidFill>
                  <a:srgbClr val="3B1F52"/>
                </a:solidFill>
                <a:latin typeface="Calibri"/>
              </a:rPr>
              <a:t>Méthode</a:t>
            </a:r>
          </a:p>
        </p:txBody>
      </p:sp>
      <p:sp>
        <p:nvSpPr>
          <p:cNvPr id="11" name="carte-texte"/>
          <p:cNvSpPr txBox="1"/>
          <p:nvPr/>
        </p:nvSpPr>
        <p:spPr>
          <a:xfrm>
            <a:off x="8129016" y="2029967"/>
            <a:ext cx="3291840" cy="4096511"/>
          </a:xfrm>
          <a:prstGeom prst="rect">
            <a:avLst/>
          </a:prstGeom>
          <a:noFill/>
        </p:spPr>
        <p:txBody>
          <a:bodyPr wrap="square" anchor="t">
            <a:spAutoFit/>
          </a:bodyPr>
          <a:lstStyle/>
          <a:p>
            <a:pPr algn="l">
              <a:spcAft>
                <a:spcPts val="300"/>
              </a:spcAft>
            </a:pPr>
            <a:r>
              <a:rPr sz="1800" b="0" i="0">
                <a:solidFill>
                  <a:srgbClr val="1E1A24"/>
                </a:solidFill>
                <a:latin typeface="Calibri"/>
              </a:rPr>
              <a:t>Aucune campagne sur appareils</a:t>
            </a:r>
          </a:p>
          <a:p>
            <a:pPr algn="l">
              <a:spcAft>
                <a:spcPts val="300"/>
              </a:spcAft>
            </a:pPr>
            <a:r>
              <a:rPr sz="1800" b="0" i="0">
                <a:solidFill>
                  <a:srgbClr val="1E1A24"/>
                </a:solidFill>
                <a:latin typeface="Calibri"/>
              </a:rPr>
              <a:t>Tests SQL dans PGlite, pas sur Supabase réel</a:t>
            </a:r>
          </a:p>
          <a:p>
            <a:pPr algn="l">
              <a:spcAft>
                <a:spcPts val="300"/>
              </a:spcAft>
            </a:pPr>
            <a:r>
              <a:rPr sz="1800" b="0" i="0">
                <a:solidFill>
                  <a:srgbClr val="1E1A24"/>
                </a:solidFill>
                <a:latin typeface="Calibri"/>
              </a:rPr>
              <a:t>E2EE non validé entre deux comptes</a:t>
            </a:r>
          </a:p>
          <a:p>
            <a:pPr algn="l">
              <a:spcAft>
                <a:spcPts val="300"/>
              </a:spcAft>
            </a:pPr>
            <a:r>
              <a:rPr sz="1800" b="0" i="0">
                <a:solidFill>
                  <a:srgbClr val="1E1A24"/>
                </a:solidFill>
                <a:latin typeface="Calibri"/>
              </a:rPr>
              <a:t>Bibliographie à revérifier</a:t>
            </a:r>
          </a:p>
        </p:txBody>
      </p:sp>
      <p:sp>
        <p:nvSpPr>
          <p:cNvPr id="12"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21</a:t>
            </a:r>
          </a:p>
        </p:txBody>
      </p:sp>
      <p:sp>
        <p:nvSpPr>
          <p:cNvPr id="13"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Architecture cible : une proposition, non implémentée</a:t>
            </a:r>
          </a:p>
        </p:txBody>
      </p:sp>
      <p:sp>
        <p:nvSpPr>
          <p:cNvPr id="3" name="Rounded Rectangle 2"/>
          <p:cNvSpPr/>
          <p:nvPr/>
        </p:nvSpPr>
        <p:spPr>
          <a:xfrm>
            <a:off x="548640" y="1371600"/>
            <a:ext cx="2377440" cy="868680"/>
          </a:xfrm>
          <a:prstGeom prst="roundRect">
            <a:avLst>
              <a:gd name="adj" fmla="val 10000"/>
            </a:avLst>
          </a:prstGeom>
          <a:solidFill>
            <a:srgbClr val="F4C4B2"/>
          </a:solidFill>
          <a:ln w="19050">
            <a:solidFill>
              <a:srgbClr val="C45C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548640" y="13716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PWA + application iOS native</a:t>
            </a:r>
          </a:p>
        </p:txBody>
      </p:sp>
      <p:sp>
        <p:nvSpPr>
          <p:cNvPr id="5" name="Rounded Rectangle 4"/>
          <p:cNvSpPr/>
          <p:nvPr/>
        </p:nvSpPr>
        <p:spPr>
          <a:xfrm>
            <a:off x="3108960" y="13716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e"/>
          <p:cNvSpPr txBox="1"/>
          <p:nvPr/>
        </p:nvSpPr>
        <p:spPr>
          <a:xfrm>
            <a:off x="3108960" y="13716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Passerelle API / Auth</a:t>
            </a:r>
          </a:p>
        </p:txBody>
      </p:sp>
      <p:sp>
        <p:nvSpPr>
          <p:cNvPr id="7" name="Rounded Rectangle 6"/>
          <p:cNvSpPr/>
          <p:nvPr/>
        </p:nvSpPr>
        <p:spPr>
          <a:xfrm>
            <a:off x="5669279" y="1371600"/>
            <a:ext cx="2377440" cy="868680"/>
          </a:xfrm>
          <a:prstGeom prst="roundRect">
            <a:avLst>
              <a:gd name="adj" fmla="val 10000"/>
            </a:avLst>
          </a:prstGeom>
          <a:solidFill>
            <a:srgbClr val="E3F1EF"/>
          </a:solidFill>
          <a:ln w="19050">
            <a:solidFill>
              <a:srgbClr val="2F7F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e"/>
          <p:cNvSpPr txBox="1"/>
          <p:nvPr/>
        </p:nvSpPr>
        <p:spPr>
          <a:xfrm>
            <a:off x="5669279" y="13716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Observabilité</a:t>
            </a:r>
          </a:p>
        </p:txBody>
      </p:sp>
      <p:sp>
        <p:nvSpPr>
          <p:cNvPr id="9" name="Rounded Rectangle 8"/>
          <p:cNvSpPr/>
          <p:nvPr/>
        </p:nvSpPr>
        <p:spPr>
          <a:xfrm>
            <a:off x="548640" y="27432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548640" y="27432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Service messagerie</a:t>
            </a:r>
          </a:p>
        </p:txBody>
      </p:sp>
      <p:sp>
        <p:nvSpPr>
          <p:cNvPr id="11" name="Rounded Rectangle 10"/>
          <p:cNvSpPr/>
          <p:nvPr/>
        </p:nvSpPr>
        <p:spPr>
          <a:xfrm>
            <a:off x="3108960" y="27432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e"/>
          <p:cNvSpPr txBox="1"/>
          <p:nvPr/>
        </p:nvSpPr>
        <p:spPr>
          <a:xfrm>
            <a:off x="3108960" y="27432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Service signalisation</a:t>
            </a:r>
          </a:p>
        </p:txBody>
      </p:sp>
      <p:sp>
        <p:nvSpPr>
          <p:cNvPr id="13" name="Rounded Rectangle 12"/>
          <p:cNvSpPr/>
          <p:nvPr/>
        </p:nvSpPr>
        <p:spPr>
          <a:xfrm>
            <a:off x="5669279" y="27432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e"/>
          <p:cNvSpPr txBox="1"/>
          <p:nvPr/>
        </p:nvSpPr>
        <p:spPr>
          <a:xfrm>
            <a:off x="5669279" y="27432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Service médias</a:t>
            </a:r>
          </a:p>
        </p:txBody>
      </p:sp>
      <p:sp>
        <p:nvSpPr>
          <p:cNvPr id="15" name="Rounded Rectangle 14"/>
          <p:cNvSpPr/>
          <p:nvPr/>
        </p:nvSpPr>
        <p:spPr>
          <a:xfrm>
            <a:off x="548640" y="41148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
          <p:cNvSpPr txBox="1"/>
          <p:nvPr/>
        </p:nvSpPr>
        <p:spPr>
          <a:xfrm>
            <a:off x="548640" y="41148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Base répliquée, sauvegardes</a:t>
            </a:r>
          </a:p>
        </p:txBody>
      </p:sp>
      <p:sp>
        <p:nvSpPr>
          <p:cNvPr id="17" name="Rounded Rectangle 16"/>
          <p:cNvSpPr/>
          <p:nvPr/>
        </p:nvSpPr>
        <p:spPr>
          <a:xfrm>
            <a:off x="3108960" y="4114800"/>
            <a:ext cx="2377440" cy="868680"/>
          </a:xfrm>
          <a:prstGeom prst="roundRect">
            <a:avLst>
              <a:gd name="adj" fmla="val 10000"/>
            </a:avLst>
          </a:prstGeom>
          <a:solidFill>
            <a:srgbClr val="F3EDF8"/>
          </a:solidFill>
          <a:ln w="19050">
            <a:solidFill>
              <a:srgbClr val="3B1F5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e"/>
          <p:cNvSpPr txBox="1"/>
          <p:nvPr/>
        </p:nvSpPr>
        <p:spPr>
          <a:xfrm>
            <a:off x="3108960" y="41148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Stockage objet chiffré</a:t>
            </a:r>
          </a:p>
        </p:txBody>
      </p:sp>
      <p:sp>
        <p:nvSpPr>
          <p:cNvPr id="19" name="Rounded Rectangle 18"/>
          <p:cNvSpPr/>
          <p:nvPr/>
        </p:nvSpPr>
        <p:spPr>
          <a:xfrm>
            <a:off x="5669279" y="4114800"/>
            <a:ext cx="2377440" cy="868680"/>
          </a:xfrm>
          <a:prstGeom prst="roundRect">
            <a:avLst>
              <a:gd name="adj" fmla="val 10000"/>
            </a:avLst>
          </a:prstGeom>
          <a:solidFill>
            <a:srgbClr val="E3F1EF"/>
          </a:solidFill>
          <a:ln w="19050">
            <a:solidFill>
              <a:srgbClr val="2F7F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e"/>
          <p:cNvSpPr txBox="1"/>
          <p:nvPr/>
        </p:nvSpPr>
        <p:spPr>
          <a:xfrm>
            <a:off x="5669279" y="4114800"/>
            <a:ext cx="2377440" cy="868680"/>
          </a:xfrm>
          <a:prstGeom prst="rect">
            <a:avLst/>
          </a:prstGeom>
          <a:noFill/>
        </p:spPr>
        <p:txBody>
          <a:bodyPr wrap="square" anchor="ctr">
            <a:spAutoFit/>
          </a:bodyPr>
          <a:lstStyle/>
          <a:p>
            <a:pPr algn="ctr">
              <a:spcAft>
                <a:spcPts val="400"/>
              </a:spcAft>
            </a:pPr>
            <a:r>
              <a:rPr sz="1500" b="1" i="0">
                <a:solidFill>
                  <a:srgbClr val="1E1A24"/>
                </a:solidFill>
                <a:latin typeface="Calibri"/>
              </a:rPr>
              <a:t>STUN / TURN redondants</a:t>
            </a:r>
          </a:p>
        </p:txBody>
      </p:sp>
      <p:sp>
        <p:nvSpPr>
          <p:cNvPr id="21" name="Rounded Rectangle 20"/>
          <p:cNvSpPr/>
          <p:nvPr/>
        </p:nvSpPr>
        <p:spPr>
          <a:xfrm>
            <a:off x="548640" y="5440680"/>
            <a:ext cx="7498079" cy="777240"/>
          </a:xfrm>
          <a:prstGeom prst="roundRect">
            <a:avLst>
              <a:gd name="adj" fmla="val 10000"/>
            </a:avLst>
          </a:prstGeom>
          <a:solidFill>
            <a:srgbClr val="FFF4EE"/>
          </a:solidFill>
          <a:ln w="19050">
            <a:solidFill>
              <a:srgbClr val="F4C4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e"/>
          <p:cNvSpPr txBox="1"/>
          <p:nvPr/>
        </p:nvSpPr>
        <p:spPr>
          <a:xfrm>
            <a:off x="548640" y="5440680"/>
            <a:ext cx="7498079" cy="777240"/>
          </a:xfrm>
          <a:prstGeom prst="rect">
            <a:avLst/>
          </a:prstGeom>
          <a:noFill/>
        </p:spPr>
        <p:txBody>
          <a:bodyPr wrap="square" anchor="ctr">
            <a:spAutoFit/>
          </a:bodyPr>
          <a:lstStyle/>
          <a:p>
            <a:pPr algn="ctr">
              <a:spcAft>
                <a:spcPts val="400"/>
              </a:spcAft>
            </a:pPr>
            <a:r>
              <a:rPr sz="1500" b="1" i="0">
                <a:solidFill>
                  <a:srgbClr val="1E1A24"/>
                </a:solidFill>
                <a:latin typeface="Calibri"/>
              </a:rPr>
              <a:t>Sécurité : E2EE à cliquet, rotation des clés, audit, tests d’intrusion</a:t>
            </a:r>
          </a:p>
        </p:txBody>
      </p:sp>
      <p:cxnSp>
        <p:nvCxnSpPr>
          <p:cNvPr id="23" name="Connector 22"/>
          <p:cNvCxnSpPr/>
          <p:nvPr/>
        </p:nvCxnSpPr>
        <p:spPr>
          <a:xfrm>
            <a:off x="1737360" y="22402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737360" y="36118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97679" y="22402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97679" y="36118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8000" y="22402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3611880"/>
            <a:ext cx="0" cy="50292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29" name="texte"/>
          <p:cNvSpPr txBox="1"/>
          <p:nvPr/>
        </p:nvSpPr>
        <p:spPr>
          <a:xfrm>
            <a:off x="8412480" y="1371600"/>
            <a:ext cx="3291840" cy="4846320"/>
          </a:xfrm>
          <a:prstGeom prst="rect">
            <a:avLst/>
          </a:prstGeom>
          <a:noFill/>
        </p:spPr>
        <p:txBody>
          <a:bodyPr wrap="square" anchor="t">
            <a:spAutoFit/>
          </a:bodyPr>
          <a:lstStyle/>
          <a:p>
            <a:pPr algn="l">
              <a:spcAft>
                <a:spcPts val="900"/>
              </a:spcAft>
            </a:pPr>
            <a:r>
              <a:rPr sz="2000" b="1" i="0">
                <a:solidFill>
                  <a:srgbClr val="3B1F52"/>
                </a:solidFill>
                <a:latin typeface="Calibri"/>
              </a:rPr>
              <a:t>Évolutions proposées</a:t>
            </a:r>
          </a:p>
          <a:p>
            <a:pPr algn="l">
              <a:spcAft>
                <a:spcPts val="900"/>
              </a:spcAft>
            </a:pPr>
            <a:r>
              <a:rPr sz="1700" b="0" i="0">
                <a:solidFill>
                  <a:srgbClr val="1E1A24"/>
                </a:solidFill>
                <a:latin typeface="Calibri"/>
              </a:rPr>
              <a:t>Services séparés derrière une passerelle.</a:t>
            </a:r>
          </a:p>
          <a:p>
            <a:pPr algn="l">
              <a:spcAft>
                <a:spcPts val="900"/>
              </a:spcAft>
            </a:pPr>
            <a:r>
              <a:rPr sz="1700" b="0" i="0">
                <a:solidFill>
                  <a:srgbClr val="1E1A24"/>
                </a:solidFill>
                <a:latin typeface="Calibri"/>
              </a:rPr>
              <a:t>Journaux, métriques, getStats().</a:t>
            </a:r>
          </a:p>
          <a:p>
            <a:pPr algn="l">
              <a:spcAft>
                <a:spcPts val="900"/>
              </a:spcAft>
            </a:pPr>
            <a:r>
              <a:rPr sz="1700" b="0" i="0">
                <a:solidFill>
                  <a:srgbClr val="1E1A24"/>
                </a:solidFill>
                <a:latin typeface="Calibri"/>
              </a:rPr>
              <a:t>E2EE à cliquet, audité.</a:t>
            </a:r>
          </a:p>
          <a:p>
            <a:pPr algn="l">
              <a:spcAft>
                <a:spcPts val="900"/>
              </a:spcAft>
            </a:pPr>
            <a:r>
              <a:rPr sz="1700" b="0" i="0">
                <a:solidFill>
                  <a:srgbClr val="1E1A24"/>
                </a:solidFill>
                <a:latin typeface="Calibri"/>
              </a:rPr>
              <a:t>Relais TURN multi-régions.</a:t>
            </a:r>
          </a:p>
          <a:p>
            <a:pPr algn="l">
              <a:spcAft>
                <a:spcPts val="900"/>
              </a:spcAft>
            </a:pPr>
            <a:r>
              <a:rPr sz="1700" b="0" i="0">
                <a:solidFill>
                  <a:srgbClr val="1E1A24"/>
                </a:solidFill>
                <a:latin typeface="Calibri"/>
              </a:rPr>
              <a:t>iOS natif : CallKit, PushKit.</a:t>
            </a:r>
          </a:p>
        </p:txBody>
      </p:sp>
      <p:sp>
        <p:nvSpPr>
          <p:cNvPr id="30"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22</a:t>
            </a:r>
          </a:p>
        </p:txBody>
      </p:sp>
      <p:sp>
        <p:nvSpPr>
          <p:cNvPr id="31"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Perspectives</a:t>
            </a:r>
          </a:p>
        </p:txBody>
      </p:sp>
      <p:sp>
        <p:nvSpPr>
          <p:cNvPr id="3" name="carte Prototype actuel"/>
          <p:cNvSpPr/>
          <p:nvPr/>
        </p:nvSpPr>
        <p:spPr>
          <a:xfrm>
            <a:off x="548640" y="1828800"/>
            <a:ext cx="2514600" cy="256032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920240"/>
            <a:ext cx="2240280" cy="548640"/>
          </a:xfrm>
          <a:prstGeom prst="rect">
            <a:avLst/>
          </a:prstGeom>
          <a:noFill/>
        </p:spPr>
        <p:txBody>
          <a:bodyPr wrap="square" anchor="t">
            <a:spAutoFit/>
          </a:bodyPr>
          <a:lstStyle/>
          <a:p>
            <a:pPr algn="l">
              <a:spcAft>
                <a:spcPts val="400"/>
              </a:spcAft>
            </a:pPr>
            <a:r>
              <a:rPr sz="2000" b="1" i="0">
                <a:solidFill>
                  <a:srgbClr val="2F7F7A"/>
                </a:solidFill>
                <a:latin typeface="Calibri"/>
              </a:rPr>
              <a:t>Prototype actuel</a:t>
            </a:r>
          </a:p>
        </p:txBody>
      </p:sp>
      <p:sp>
        <p:nvSpPr>
          <p:cNvPr id="5" name="carte-texte"/>
          <p:cNvSpPr txBox="1"/>
          <p:nvPr/>
        </p:nvSpPr>
        <p:spPr>
          <a:xfrm>
            <a:off x="685800" y="2487168"/>
            <a:ext cx="2240280" cy="1810512"/>
          </a:xfrm>
          <a:prstGeom prst="rect">
            <a:avLst/>
          </a:prstGeom>
          <a:noFill/>
        </p:spPr>
        <p:txBody>
          <a:bodyPr wrap="square" anchor="t">
            <a:spAutoFit/>
          </a:bodyPr>
          <a:lstStyle/>
          <a:p>
            <a:pPr algn="l">
              <a:spcAft>
                <a:spcPts val="300"/>
              </a:spcAft>
            </a:pPr>
            <a:r>
              <a:rPr sz="1800" b="0" i="0">
                <a:solidFill>
                  <a:srgbClr val="1E1A24"/>
                </a:solidFill>
                <a:latin typeface="Calibri"/>
              </a:rPr>
              <a:t>Architecture réelle documentée</a:t>
            </a:r>
          </a:p>
        </p:txBody>
      </p:sp>
      <p:cxnSp>
        <p:nvCxnSpPr>
          <p:cNvPr id="6" name="Connector 5"/>
          <p:cNvCxnSpPr/>
          <p:nvPr/>
        </p:nvCxnSpPr>
        <p:spPr>
          <a:xfrm>
            <a:off x="3063240" y="3108960"/>
            <a:ext cx="27432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7" name="carte Mesurer"/>
          <p:cNvSpPr/>
          <p:nvPr/>
        </p:nvSpPr>
        <p:spPr>
          <a:xfrm>
            <a:off x="3337560" y="1828800"/>
            <a:ext cx="2514600" cy="2560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rte-titre"/>
          <p:cNvSpPr txBox="1"/>
          <p:nvPr/>
        </p:nvSpPr>
        <p:spPr>
          <a:xfrm>
            <a:off x="3474720" y="1920240"/>
            <a:ext cx="2240280" cy="548640"/>
          </a:xfrm>
          <a:prstGeom prst="rect">
            <a:avLst/>
          </a:prstGeom>
          <a:noFill/>
        </p:spPr>
        <p:txBody>
          <a:bodyPr wrap="square" anchor="t">
            <a:spAutoFit/>
          </a:bodyPr>
          <a:lstStyle/>
          <a:p>
            <a:pPr algn="l">
              <a:spcAft>
                <a:spcPts val="400"/>
              </a:spcAft>
            </a:pPr>
            <a:r>
              <a:rPr sz="2000" b="1" i="0">
                <a:solidFill>
                  <a:srgbClr val="3B1F52"/>
                </a:solidFill>
                <a:latin typeface="Calibri"/>
              </a:rPr>
              <a:t>Mesurer</a:t>
            </a:r>
          </a:p>
        </p:txBody>
      </p:sp>
      <p:sp>
        <p:nvSpPr>
          <p:cNvPr id="9" name="carte-texte"/>
          <p:cNvSpPr txBox="1"/>
          <p:nvPr/>
        </p:nvSpPr>
        <p:spPr>
          <a:xfrm>
            <a:off x="3474720" y="2487168"/>
            <a:ext cx="2240280" cy="1810512"/>
          </a:xfrm>
          <a:prstGeom prst="rect">
            <a:avLst/>
          </a:prstGeom>
          <a:noFill/>
        </p:spPr>
        <p:txBody>
          <a:bodyPr wrap="square" anchor="t">
            <a:spAutoFit/>
          </a:bodyPr>
          <a:lstStyle/>
          <a:p>
            <a:pPr algn="l">
              <a:spcAft>
                <a:spcPts val="300"/>
              </a:spcAft>
            </a:pPr>
            <a:r>
              <a:rPr sz="1800" b="0" i="0">
                <a:solidFill>
                  <a:srgbClr val="1E1A24"/>
                </a:solidFill>
                <a:latin typeface="Calibri"/>
              </a:rPr>
              <a:t>Instrumenter, exécuter S-1 à S-6</a:t>
            </a:r>
          </a:p>
        </p:txBody>
      </p:sp>
      <p:cxnSp>
        <p:nvCxnSpPr>
          <p:cNvPr id="10" name="Connector 9"/>
          <p:cNvCxnSpPr/>
          <p:nvPr/>
        </p:nvCxnSpPr>
        <p:spPr>
          <a:xfrm>
            <a:off x="5852160" y="3108960"/>
            <a:ext cx="274319"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1" name="carte Renforcer"/>
          <p:cNvSpPr/>
          <p:nvPr/>
        </p:nvSpPr>
        <p:spPr>
          <a:xfrm>
            <a:off x="6126479" y="1828800"/>
            <a:ext cx="2514600" cy="2560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te-titre"/>
          <p:cNvSpPr txBox="1"/>
          <p:nvPr/>
        </p:nvSpPr>
        <p:spPr>
          <a:xfrm>
            <a:off x="6263640" y="1920240"/>
            <a:ext cx="2240280" cy="548640"/>
          </a:xfrm>
          <a:prstGeom prst="rect">
            <a:avLst/>
          </a:prstGeom>
          <a:noFill/>
        </p:spPr>
        <p:txBody>
          <a:bodyPr wrap="square" anchor="t">
            <a:spAutoFit/>
          </a:bodyPr>
          <a:lstStyle/>
          <a:p>
            <a:pPr algn="l">
              <a:spcAft>
                <a:spcPts val="400"/>
              </a:spcAft>
            </a:pPr>
            <a:r>
              <a:rPr sz="2000" b="1" i="0">
                <a:solidFill>
                  <a:srgbClr val="3B1F52"/>
                </a:solidFill>
                <a:latin typeface="Calibri"/>
              </a:rPr>
              <a:t>Renforcer</a:t>
            </a:r>
          </a:p>
        </p:txBody>
      </p:sp>
      <p:sp>
        <p:nvSpPr>
          <p:cNvPr id="13" name="carte-texte"/>
          <p:cNvSpPr txBox="1"/>
          <p:nvPr/>
        </p:nvSpPr>
        <p:spPr>
          <a:xfrm>
            <a:off x="6263640" y="2487168"/>
            <a:ext cx="2240280" cy="1810512"/>
          </a:xfrm>
          <a:prstGeom prst="rect">
            <a:avLst/>
          </a:prstGeom>
          <a:noFill/>
        </p:spPr>
        <p:txBody>
          <a:bodyPr wrap="square" anchor="t">
            <a:spAutoFit/>
          </a:bodyPr>
          <a:lstStyle/>
          <a:p>
            <a:pPr algn="l">
              <a:spcAft>
                <a:spcPts val="300"/>
              </a:spcAft>
            </a:pPr>
            <a:r>
              <a:rPr sz="1800" b="0" i="0">
                <a:solidFill>
                  <a:srgbClr val="1E1A24"/>
                </a:solidFill>
                <a:latin typeface="Calibri"/>
              </a:rPr>
              <a:t>E2EE à cliquet, relais redondants</a:t>
            </a:r>
          </a:p>
        </p:txBody>
      </p:sp>
      <p:cxnSp>
        <p:nvCxnSpPr>
          <p:cNvPr id="14" name="Connector 13"/>
          <p:cNvCxnSpPr/>
          <p:nvPr/>
        </p:nvCxnSpPr>
        <p:spPr>
          <a:xfrm>
            <a:off x="8641080" y="3108960"/>
            <a:ext cx="274320" cy="0"/>
          </a:xfrm>
          <a:prstGeom prst="line">
            <a:avLst/>
          </a:prstGeom>
          <a:ln w="22225">
            <a:solidFill>
              <a:srgbClr val="3B1F52"/>
            </a:solidFill>
            <a:tailEnd type="triangle"/>
          </a:ln>
        </p:spPr>
        <p:style>
          <a:lnRef idx="2">
            <a:schemeClr val="accent1"/>
          </a:lnRef>
          <a:fillRef idx="0">
            <a:schemeClr val="accent1"/>
          </a:fillRef>
          <a:effectRef idx="1">
            <a:schemeClr val="accent1"/>
          </a:effectRef>
          <a:fontRef idx="minor">
            <a:schemeClr val="tx1"/>
          </a:fontRef>
        </p:style>
      </p:cxnSp>
      <p:sp>
        <p:nvSpPr>
          <p:cNvPr id="15" name="carte Étendre"/>
          <p:cNvSpPr/>
          <p:nvPr/>
        </p:nvSpPr>
        <p:spPr>
          <a:xfrm>
            <a:off x="8915399" y="1828800"/>
            <a:ext cx="2514600" cy="2560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te-titre"/>
          <p:cNvSpPr txBox="1"/>
          <p:nvPr/>
        </p:nvSpPr>
        <p:spPr>
          <a:xfrm>
            <a:off x="9052559" y="1920240"/>
            <a:ext cx="2240280" cy="548640"/>
          </a:xfrm>
          <a:prstGeom prst="rect">
            <a:avLst/>
          </a:prstGeom>
          <a:noFill/>
        </p:spPr>
        <p:txBody>
          <a:bodyPr wrap="square" anchor="t">
            <a:spAutoFit/>
          </a:bodyPr>
          <a:lstStyle/>
          <a:p>
            <a:pPr algn="l">
              <a:spcAft>
                <a:spcPts val="400"/>
              </a:spcAft>
            </a:pPr>
            <a:r>
              <a:rPr sz="2000" b="1" i="0">
                <a:solidFill>
                  <a:srgbClr val="3B1F52"/>
                </a:solidFill>
                <a:latin typeface="Calibri"/>
              </a:rPr>
              <a:t>Étendre</a:t>
            </a:r>
          </a:p>
        </p:txBody>
      </p:sp>
      <p:sp>
        <p:nvSpPr>
          <p:cNvPr id="17" name="carte-texte"/>
          <p:cNvSpPr txBox="1"/>
          <p:nvPr/>
        </p:nvSpPr>
        <p:spPr>
          <a:xfrm>
            <a:off x="9052559" y="2487168"/>
            <a:ext cx="2240280" cy="1810512"/>
          </a:xfrm>
          <a:prstGeom prst="rect">
            <a:avLst/>
          </a:prstGeom>
          <a:noFill/>
        </p:spPr>
        <p:txBody>
          <a:bodyPr wrap="square" anchor="t">
            <a:spAutoFit/>
          </a:bodyPr>
          <a:lstStyle/>
          <a:p>
            <a:pPr algn="l">
              <a:spcAft>
                <a:spcPts val="300"/>
              </a:spcAft>
            </a:pPr>
            <a:r>
              <a:rPr sz="1800" b="0" i="0">
                <a:solidFill>
                  <a:srgbClr val="1E1A24"/>
                </a:solidFill>
                <a:latin typeface="Calibri"/>
              </a:rPr>
              <a:t>Natif iOS, groupes, charge</a:t>
            </a:r>
          </a:p>
        </p:txBody>
      </p:sp>
      <p:sp>
        <p:nvSpPr>
          <p:cNvPr id="18" name="texte"/>
          <p:cNvSpPr txBox="1"/>
          <p:nvPr/>
        </p:nvSpPr>
        <p:spPr>
          <a:xfrm>
            <a:off x="548640" y="4846320"/>
            <a:ext cx="11094415" cy="1280160"/>
          </a:xfrm>
          <a:prstGeom prst="rect">
            <a:avLst/>
          </a:prstGeom>
          <a:noFill/>
        </p:spPr>
        <p:txBody>
          <a:bodyPr wrap="square" anchor="t">
            <a:spAutoFit/>
          </a:bodyPr>
          <a:lstStyle/>
          <a:p>
            <a:pPr algn="l">
              <a:spcAft>
                <a:spcPts val="400"/>
              </a:spcAft>
            </a:pPr>
            <a:r>
              <a:rPr sz="2000" b="1" i="0">
                <a:solidFill>
                  <a:srgbClr val="C45C7E"/>
                </a:solidFill>
                <a:latin typeface="Calibri"/>
              </a:rPr>
              <a:t>Tout ce qui précède est une proposition ou une perspective, non confirmée comme implémentée.</a:t>
            </a:r>
          </a:p>
        </p:txBody>
      </p:sp>
      <p:sp>
        <p:nvSpPr>
          <p:cNvPr id="1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23</a:t>
            </a:r>
          </a:p>
        </p:txBody>
      </p:sp>
      <p:sp>
        <p:nvSpPr>
          <p:cNvPr id="2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320040"/>
            <a:ext cx="11094415" cy="822960"/>
          </a:xfrm>
          <a:prstGeom prst="rect">
            <a:avLst/>
          </a:prstGeom>
          <a:noFill/>
        </p:spPr>
        <p:txBody>
          <a:bodyPr wrap="square" anchor="ctr">
            <a:spAutoFit/>
          </a:bodyPr>
          <a:lstStyle/>
          <a:p>
            <a:pPr algn="l">
              <a:spcAft>
                <a:spcPts val="400"/>
              </a:spcAft>
            </a:pPr>
            <a:r>
              <a:rPr sz="3200" b="1" i="0">
                <a:solidFill>
                  <a:srgbClr val="3B1F52"/>
                </a:solidFill>
                <a:latin typeface="Cambria"/>
              </a:rPr>
              <a:t>Apports du projet</a:t>
            </a:r>
          </a:p>
        </p:txBody>
      </p:sp>
      <p:sp>
        <p:nvSpPr>
          <p:cNvPr id="3" name="carte Apports techniques"/>
          <p:cNvSpPr/>
          <p:nvPr/>
        </p:nvSpPr>
        <p:spPr>
          <a:xfrm>
            <a:off x="548640" y="1371600"/>
            <a:ext cx="5440680" cy="4846320"/>
          </a:xfrm>
          <a:prstGeom prst="roundRect">
            <a:avLst>
              <a:gd name="adj" fmla="val 8000"/>
            </a:avLst>
          </a:prstGeom>
          <a:solidFill>
            <a:srgbClr val="F3E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te-titre"/>
          <p:cNvSpPr txBox="1"/>
          <p:nvPr/>
        </p:nvSpPr>
        <p:spPr>
          <a:xfrm>
            <a:off x="685800" y="1463040"/>
            <a:ext cx="5166360" cy="548640"/>
          </a:xfrm>
          <a:prstGeom prst="rect">
            <a:avLst/>
          </a:prstGeom>
          <a:noFill/>
        </p:spPr>
        <p:txBody>
          <a:bodyPr wrap="square" anchor="t">
            <a:spAutoFit/>
          </a:bodyPr>
          <a:lstStyle/>
          <a:p>
            <a:pPr algn="l">
              <a:spcAft>
                <a:spcPts val="400"/>
              </a:spcAft>
            </a:pPr>
            <a:r>
              <a:rPr sz="2000" b="1" i="0">
                <a:solidFill>
                  <a:srgbClr val="3B1F52"/>
                </a:solidFill>
                <a:latin typeface="Calibri"/>
              </a:rPr>
              <a:t>Apports techniques</a:t>
            </a:r>
          </a:p>
        </p:txBody>
      </p:sp>
      <p:sp>
        <p:nvSpPr>
          <p:cNvPr id="5" name="carte-texte"/>
          <p:cNvSpPr txBox="1"/>
          <p:nvPr/>
        </p:nvSpPr>
        <p:spPr>
          <a:xfrm>
            <a:off x="685800" y="2029967"/>
            <a:ext cx="5166360" cy="4096511"/>
          </a:xfrm>
          <a:prstGeom prst="rect">
            <a:avLst/>
          </a:prstGeom>
          <a:noFill/>
        </p:spPr>
        <p:txBody>
          <a:bodyPr wrap="square" anchor="t">
            <a:spAutoFit/>
          </a:bodyPr>
          <a:lstStyle/>
          <a:p>
            <a:pPr algn="l">
              <a:spcAft>
                <a:spcPts val="300"/>
              </a:spcAft>
            </a:pPr>
            <a:r>
              <a:rPr sz="1900" b="0" i="0">
                <a:solidFill>
                  <a:srgbClr val="1E1A24"/>
                </a:solidFill>
                <a:latin typeface="Calibri"/>
              </a:rPr>
              <a:t>Séparation état d’appel / affichage</a:t>
            </a:r>
          </a:p>
          <a:p>
            <a:pPr algn="l">
              <a:spcAft>
                <a:spcPts val="300"/>
              </a:spcAft>
            </a:pPr>
            <a:r>
              <a:rPr sz="1900" b="0" i="0">
                <a:solidFill>
                  <a:srgbClr val="1E1A24"/>
                </a:solidFill>
                <a:latin typeface="Calibri"/>
              </a:rPr>
              <a:t>Signalisation double : diffusion + base</a:t>
            </a:r>
          </a:p>
          <a:p>
            <a:pPr algn="l">
              <a:spcAft>
                <a:spcPts val="300"/>
              </a:spcAft>
            </a:pPr>
            <a:r>
              <a:rPr sz="1900" b="0" i="0">
                <a:solidFill>
                  <a:srgbClr val="1E1A24"/>
                </a:solidFill>
                <a:latin typeface="Calibri"/>
              </a:rPr>
              <a:t>E2EE optionnel, refus de rétrogradation</a:t>
            </a:r>
          </a:p>
          <a:p>
            <a:pPr algn="l">
              <a:spcAft>
                <a:spcPts val="300"/>
              </a:spcAft>
            </a:pPr>
            <a:r>
              <a:rPr sz="1900" b="0" i="0">
                <a:solidFill>
                  <a:srgbClr val="1E1A24"/>
                </a:solidFill>
                <a:latin typeface="Calibri"/>
              </a:rPr>
              <a:t>Problèmes réels et corrections documentés</a:t>
            </a:r>
          </a:p>
          <a:p>
            <a:pPr algn="l">
              <a:spcAft>
                <a:spcPts val="300"/>
              </a:spcAft>
            </a:pPr>
            <a:r>
              <a:rPr sz="1900" b="0" i="0">
                <a:solidFill>
                  <a:srgbClr val="1E1A24"/>
                </a:solidFill>
                <a:latin typeface="Calibri"/>
              </a:rPr>
              <a:t>Protocole expérimental prêt à l’emploi</a:t>
            </a:r>
          </a:p>
        </p:txBody>
      </p:sp>
      <p:sp>
        <p:nvSpPr>
          <p:cNvPr id="6" name="carte Apports académiques"/>
          <p:cNvSpPr/>
          <p:nvPr/>
        </p:nvSpPr>
        <p:spPr>
          <a:xfrm>
            <a:off x="6199632" y="1371600"/>
            <a:ext cx="5440680" cy="4846320"/>
          </a:xfrm>
          <a:prstGeom prst="roundRect">
            <a:avLst>
              <a:gd name="adj" fmla="val 8000"/>
            </a:avLst>
          </a:prstGeom>
          <a:solidFill>
            <a:srgbClr val="E3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te-titre"/>
          <p:cNvSpPr txBox="1"/>
          <p:nvPr/>
        </p:nvSpPr>
        <p:spPr>
          <a:xfrm>
            <a:off x="6336792" y="1463040"/>
            <a:ext cx="5166360" cy="548640"/>
          </a:xfrm>
          <a:prstGeom prst="rect">
            <a:avLst/>
          </a:prstGeom>
          <a:noFill/>
        </p:spPr>
        <p:txBody>
          <a:bodyPr wrap="square" anchor="t">
            <a:spAutoFit/>
          </a:bodyPr>
          <a:lstStyle/>
          <a:p>
            <a:pPr algn="l">
              <a:spcAft>
                <a:spcPts val="400"/>
              </a:spcAft>
            </a:pPr>
            <a:r>
              <a:rPr sz="2000" b="1" i="0">
                <a:solidFill>
                  <a:srgbClr val="2F7F7A"/>
                </a:solidFill>
                <a:latin typeface="Calibri"/>
              </a:rPr>
              <a:t>Apports académiques</a:t>
            </a:r>
          </a:p>
        </p:txBody>
      </p:sp>
      <p:sp>
        <p:nvSpPr>
          <p:cNvPr id="8" name="carte-texte"/>
          <p:cNvSpPr txBox="1"/>
          <p:nvPr/>
        </p:nvSpPr>
        <p:spPr>
          <a:xfrm>
            <a:off x="6336792" y="2029967"/>
            <a:ext cx="5166360" cy="4096511"/>
          </a:xfrm>
          <a:prstGeom prst="rect">
            <a:avLst/>
          </a:prstGeom>
          <a:noFill/>
        </p:spPr>
        <p:txBody>
          <a:bodyPr wrap="square" anchor="t">
            <a:spAutoFit/>
          </a:bodyPr>
          <a:lstStyle/>
          <a:p>
            <a:pPr algn="l">
              <a:spcAft>
                <a:spcPts val="300"/>
              </a:spcAft>
            </a:pPr>
            <a:r>
              <a:rPr sz="1900" b="0" i="0">
                <a:solidFill>
                  <a:srgbClr val="1E1A24"/>
                </a:solidFill>
                <a:latin typeface="Calibri"/>
              </a:rPr>
              <a:t>Réseaux : NAT, ICE, TURN, résilience</a:t>
            </a:r>
          </a:p>
          <a:p>
            <a:pPr algn="l">
              <a:spcAft>
                <a:spcPts val="300"/>
              </a:spcAft>
            </a:pPr>
            <a:r>
              <a:rPr sz="1900" b="0" i="0">
                <a:solidFill>
                  <a:srgbClr val="1E1A24"/>
                </a:solidFill>
                <a:latin typeface="Calibri"/>
              </a:rPr>
              <a:t>Cybersécurité : RLS, TLS vs E2EE, métadonnées</a:t>
            </a:r>
          </a:p>
          <a:p>
            <a:pPr algn="l">
              <a:spcAft>
                <a:spcPts val="300"/>
              </a:spcAft>
            </a:pPr>
            <a:r>
              <a:rPr sz="1900" b="0" i="0">
                <a:solidFill>
                  <a:srgbClr val="1E1A24"/>
                </a:solidFill>
                <a:latin typeface="Calibri"/>
              </a:rPr>
              <a:t>Systèmes distribués : cohérence à terme</a:t>
            </a:r>
          </a:p>
          <a:p>
            <a:pPr algn="l">
              <a:spcAft>
                <a:spcPts val="300"/>
              </a:spcAft>
            </a:pPr>
            <a:r>
              <a:rPr sz="1900" b="0" i="0">
                <a:solidFill>
                  <a:srgbClr val="1E1A24"/>
                </a:solidFill>
                <a:latin typeface="Calibri"/>
              </a:rPr>
              <a:t>Cloud : services gérés et limites</a:t>
            </a:r>
          </a:p>
          <a:p>
            <a:pPr algn="l">
              <a:spcAft>
                <a:spcPts val="300"/>
              </a:spcAft>
            </a:pPr>
            <a:r>
              <a:rPr sz="1900" b="0" i="0">
                <a:solidFill>
                  <a:srgbClr val="1E1A24"/>
                </a:solidFill>
                <a:latin typeface="Calibri"/>
              </a:rPr>
              <a:t>Temps réel : WebRTC, signalisation</a:t>
            </a:r>
          </a:p>
        </p:txBody>
      </p:sp>
      <p:sp>
        <p:nvSpPr>
          <p:cNvPr id="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6B6575"/>
                </a:solidFill>
                <a:latin typeface="Calibri"/>
              </a:rPr>
              <a:t>24</a:t>
            </a:r>
          </a:p>
        </p:txBody>
      </p:sp>
      <p:sp>
        <p:nvSpPr>
          <p:cNvPr id="1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6B6575"/>
                </a:solidFill>
                <a:latin typeface="Calibri"/>
              </a:rPr>
              <a:t>Allyza · Architecture de communication temps réel · Master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4123F"/>
        </a:solidFill>
        <a:effectLst/>
      </p:bgPr>
    </p:bg>
    <p:spTree>
      <p:nvGrpSpPr>
        <p:cNvPr id="1" name=""/>
        <p:cNvGrpSpPr/>
        <p:nvPr/>
      </p:nvGrpSpPr>
      <p:grpSpPr/>
      <p:sp>
        <p:nvSpPr>
          <p:cNvPr id="2" name="texte"/>
          <p:cNvSpPr txBox="1"/>
          <p:nvPr/>
        </p:nvSpPr>
        <p:spPr>
          <a:xfrm>
            <a:off x="548640" y="457200"/>
            <a:ext cx="5486400" cy="365760"/>
          </a:xfrm>
          <a:prstGeom prst="rect">
            <a:avLst/>
          </a:prstGeom>
          <a:noFill/>
        </p:spPr>
        <p:txBody>
          <a:bodyPr wrap="square" anchor="t">
            <a:spAutoFit/>
          </a:bodyPr>
          <a:lstStyle/>
          <a:p>
            <a:pPr algn="l">
              <a:spcAft>
                <a:spcPts val="400"/>
              </a:spcAft>
            </a:pPr>
            <a:r>
              <a:rPr sz="1400" b="1" i="0">
                <a:solidFill>
                  <a:srgbClr val="F4C4B2"/>
                </a:solidFill>
                <a:latin typeface="Calibri"/>
              </a:rPr>
              <a:t>CONCLUSION</a:t>
            </a:r>
          </a:p>
        </p:txBody>
      </p:sp>
      <p:sp>
        <p:nvSpPr>
          <p:cNvPr id="3" name="Rounded Rectangle 2"/>
          <p:cNvSpPr/>
          <p:nvPr/>
        </p:nvSpPr>
        <p:spPr>
          <a:xfrm>
            <a:off x="548640" y="1097280"/>
            <a:ext cx="2103120" cy="30175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e"/>
          <p:cNvSpPr txBox="1"/>
          <p:nvPr/>
        </p:nvSpPr>
        <p:spPr>
          <a:xfrm>
            <a:off x="640080" y="1188720"/>
            <a:ext cx="1920240" cy="502920"/>
          </a:xfrm>
          <a:prstGeom prst="rect">
            <a:avLst/>
          </a:prstGeom>
          <a:noFill/>
        </p:spPr>
        <p:txBody>
          <a:bodyPr wrap="square" anchor="t">
            <a:spAutoFit/>
          </a:bodyPr>
          <a:lstStyle/>
          <a:p>
            <a:pPr algn="l">
              <a:spcAft>
                <a:spcPts val="400"/>
              </a:spcAft>
            </a:pPr>
            <a:r>
              <a:rPr sz="2200" b="1" i="0">
                <a:solidFill>
                  <a:srgbClr val="F4C4B2"/>
                </a:solidFill>
                <a:latin typeface="Cambria"/>
              </a:rPr>
              <a:t>Problème</a:t>
            </a:r>
          </a:p>
        </p:txBody>
      </p:sp>
      <p:sp>
        <p:nvSpPr>
          <p:cNvPr id="5" name="texte"/>
          <p:cNvSpPr txBox="1"/>
          <p:nvPr/>
        </p:nvSpPr>
        <p:spPr>
          <a:xfrm>
            <a:off x="640080" y="1783080"/>
            <a:ext cx="1920240" cy="2194560"/>
          </a:xfrm>
          <a:prstGeom prst="rect">
            <a:avLst/>
          </a:prstGeom>
          <a:noFill/>
        </p:spPr>
        <p:txBody>
          <a:bodyPr wrap="square" anchor="t">
            <a:spAutoFit/>
          </a:bodyPr>
          <a:lstStyle/>
          <a:p>
            <a:pPr algn="l">
              <a:spcAft>
                <a:spcPts val="400"/>
              </a:spcAft>
            </a:pPr>
            <a:r>
              <a:rPr sz="1600" b="0" i="0">
                <a:solidFill>
                  <a:srgbClr val="E9E1F0"/>
                </a:solidFill>
                <a:latin typeface="Calibri"/>
              </a:rPr>
              <a:t>Garantir confidentialité, intégrité, disponibilité, faible latence</a:t>
            </a:r>
          </a:p>
        </p:txBody>
      </p:sp>
      <p:sp>
        <p:nvSpPr>
          <p:cNvPr id="6" name="Rounded Rectangle 5"/>
          <p:cNvSpPr/>
          <p:nvPr/>
        </p:nvSpPr>
        <p:spPr>
          <a:xfrm>
            <a:off x="2788920" y="1097280"/>
            <a:ext cx="2103120" cy="30175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e"/>
          <p:cNvSpPr txBox="1"/>
          <p:nvPr/>
        </p:nvSpPr>
        <p:spPr>
          <a:xfrm>
            <a:off x="2880360" y="1188720"/>
            <a:ext cx="1920240" cy="502920"/>
          </a:xfrm>
          <a:prstGeom prst="rect">
            <a:avLst/>
          </a:prstGeom>
          <a:noFill/>
        </p:spPr>
        <p:txBody>
          <a:bodyPr wrap="square" anchor="t">
            <a:spAutoFit/>
          </a:bodyPr>
          <a:lstStyle/>
          <a:p>
            <a:pPr algn="l">
              <a:spcAft>
                <a:spcPts val="400"/>
              </a:spcAft>
            </a:pPr>
            <a:r>
              <a:rPr sz="2200" b="1" i="0">
                <a:solidFill>
                  <a:srgbClr val="F4C4B2"/>
                </a:solidFill>
                <a:latin typeface="Cambria"/>
              </a:rPr>
              <a:t>Démarche</a:t>
            </a:r>
          </a:p>
        </p:txBody>
      </p:sp>
      <p:sp>
        <p:nvSpPr>
          <p:cNvPr id="8" name="texte"/>
          <p:cNvSpPr txBox="1"/>
          <p:nvPr/>
        </p:nvSpPr>
        <p:spPr>
          <a:xfrm>
            <a:off x="2880360" y="1783080"/>
            <a:ext cx="1920240" cy="2194560"/>
          </a:xfrm>
          <a:prstGeom prst="rect">
            <a:avLst/>
          </a:prstGeom>
          <a:noFill/>
        </p:spPr>
        <p:txBody>
          <a:bodyPr wrap="square" anchor="t">
            <a:spAutoFit/>
          </a:bodyPr>
          <a:lstStyle/>
          <a:p>
            <a:pPr algn="l">
              <a:spcAft>
                <a:spcPts val="400"/>
              </a:spcAft>
            </a:pPr>
            <a:r>
              <a:rPr sz="1600" b="0" i="0">
                <a:solidFill>
                  <a:srgbClr val="E9E1F0"/>
                </a:solidFill>
                <a:latin typeface="Calibri"/>
              </a:rPr>
              <a:t>Audit du dépôt, classes A/B/C/D, tests, protocole</a:t>
            </a:r>
          </a:p>
        </p:txBody>
      </p:sp>
      <p:sp>
        <p:nvSpPr>
          <p:cNvPr id="9" name="Rounded Rectangle 8"/>
          <p:cNvSpPr/>
          <p:nvPr/>
        </p:nvSpPr>
        <p:spPr>
          <a:xfrm>
            <a:off x="5029200" y="1097280"/>
            <a:ext cx="2103120" cy="30175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e"/>
          <p:cNvSpPr txBox="1"/>
          <p:nvPr/>
        </p:nvSpPr>
        <p:spPr>
          <a:xfrm>
            <a:off x="5120640" y="1188720"/>
            <a:ext cx="1920240" cy="502920"/>
          </a:xfrm>
          <a:prstGeom prst="rect">
            <a:avLst/>
          </a:prstGeom>
          <a:noFill/>
        </p:spPr>
        <p:txBody>
          <a:bodyPr wrap="square" anchor="t">
            <a:spAutoFit/>
          </a:bodyPr>
          <a:lstStyle/>
          <a:p>
            <a:pPr algn="l">
              <a:spcAft>
                <a:spcPts val="400"/>
              </a:spcAft>
            </a:pPr>
            <a:r>
              <a:rPr sz="2200" b="1" i="0">
                <a:solidFill>
                  <a:srgbClr val="F4C4B2"/>
                </a:solidFill>
                <a:latin typeface="Cambria"/>
              </a:rPr>
              <a:t>Solution</a:t>
            </a:r>
          </a:p>
        </p:txBody>
      </p:sp>
      <p:sp>
        <p:nvSpPr>
          <p:cNvPr id="11" name="texte"/>
          <p:cNvSpPr txBox="1"/>
          <p:nvPr/>
        </p:nvSpPr>
        <p:spPr>
          <a:xfrm>
            <a:off x="5120640" y="1783080"/>
            <a:ext cx="1920240" cy="2194560"/>
          </a:xfrm>
          <a:prstGeom prst="rect">
            <a:avLst/>
          </a:prstGeom>
          <a:noFill/>
        </p:spPr>
        <p:txBody>
          <a:bodyPr wrap="square" anchor="t">
            <a:spAutoFit/>
          </a:bodyPr>
          <a:lstStyle/>
          <a:p>
            <a:pPr algn="l">
              <a:spcAft>
                <a:spcPts val="400"/>
              </a:spcAft>
            </a:pPr>
            <a:r>
              <a:rPr sz="1600" b="0" i="0">
                <a:solidFill>
                  <a:srgbClr val="E9E1F0"/>
                </a:solidFill>
                <a:latin typeface="Calibri"/>
              </a:rPr>
              <a:t>Backend géré, WebRTC, E2EE optionnel</a:t>
            </a:r>
          </a:p>
        </p:txBody>
      </p:sp>
      <p:sp>
        <p:nvSpPr>
          <p:cNvPr id="12" name="Rounded Rectangle 11"/>
          <p:cNvSpPr/>
          <p:nvPr/>
        </p:nvSpPr>
        <p:spPr>
          <a:xfrm>
            <a:off x="7269480" y="1097280"/>
            <a:ext cx="2103120" cy="30175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
          <p:cNvSpPr txBox="1"/>
          <p:nvPr/>
        </p:nvSpPr>
        <p:spPr>
          <a:xfrm>
            <a:off x="7360920" y="1188720"/>
            <a:ext cx="1920240" cy="502920"/>
          </a:xfrm>
          <a:prstGeom prst="rect">
            <a:avLst/>
          </a:prstGeom>
          <a:noFill/>
        </p:spPr>
        <p:txBody>
          <a:bodyPr wrap="square" anchor="t">
            <a:spAutoFit/>
          </a:bodyPr>
          <a:lstStyle/>
          <a:p>
            <a:pPr algn="l">
              <a:spcAft>
                <a:spcPts val="400"/>
              </a:spcAft>
            </a:pPr>
            <a:r>
              <a:rPr sz="2200" b="1" i="0">
                <a:solidFill>
                  <a:srgbClr val="F4C4B2"/>
                </a:solidFill>
                <a:latin typeface="Cambria"/>
              </a:rPr>
              <a:t>Résultats</a:t>
            </a:r>
          </a:p>
        </p:txBody>
      </p:sp>
      <p:sp>
        <p:nvSpPr>
          <p:cNvPr id="14" name="texte"/>
          <p:cNvSpPr txBox="1"/>
          <p:nvPr/>
        </p:nvSpPr>
        <p:spPr>
          <a:xfrm>
            <a:off x="7360920" y="1783080"/>
            <a:ext cx="1920240" cy="2194560"/>
          </a:xfrm>
          <a:prstGeom prst="rect">
            <a:avLst/>
          </a:prstGeom>
          <a:noFill/>
        </p:spPr>
        <p:txBody>
          <a:bodyPr wrap="square" anchor="t">
            <a:spAutoFit/>
          </a:bodyPr>
          <a:lstStyle/>
          <a:p>
            <a:pPr algn="l">
              <a:spcAft>
                <a:spcPts val="400"/>
              </a:spcAft>
            </a:pPr>
            <a:r>
              <a:rPr sz="1600" b="0" i="0">
                <a:solidFill>
                  <a:srgbClr val="E9E1F0"/>
                </a:solidFill>
                <a:latin typeface="Calibri"/>
              </a:rPr>
              <a:t>96 + 22 contrôles ; chiffrement peu coûteux en calcul</a:t>
            </a:r>
          </a:p>
        </p:txBody>
      </p:sp>
      <p:sp>
        <p:nvSpPr>
          <p:cNvPr id="15" name="Rounded Rectangle 14"/>
          <p:cNvSpPr/>
          <p:nvPr/>
        </p:nvSpPr>
        <p:spPr>
          <a:xfrm>
            <a:off x="9509760" y="1097280"/>
            <a:ext cx="2103120" cy="3017520"/>
          </a:xfrm>
          <a:prstGeom prst="roundRect">
            <a:avLst>
              <a:gd name="adj" fmla="val 8000"/>
            </a:avLst>
          </a:prstGeom>
          <a:solidFill>
            <a:srgbClr val="3B1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
          <p:cNvSpPr txBox="1"/>
          <p:nvPr/>
        </p:nvSpPr>
        <p:spPr>
          <a:xfrm>
            <a:off x="9601200" y="1188720"/>
            <a:ext cx="1920240" cy="502920"/>
          </a:xfrm>
          <a:prstGeom prst="rect">
            <a:avLst/>
          </a:prstGeom>
          <a:noFill/>
        </p:spPr>
        <p:txBody>
          <a:bodyPr wrap="square" anchor="t">
            <a:spAutoFit/>
          </a:bodyPr>
          <a:lstStyle/>
          <a:p>
            <a:pPr algn="l">
              <a:spcAft>
                <a:spcPts val="400"/>
              </a:spcAft>
            </a:pPr>
            <a:r>
              <a:rPr sz="2200" b="1" i="0">
                <a:solidFill>
                  <a:srgbClr val="F4C4B2"/>
                </a:solidFill>
                <a:latin typeface="Cambria"/>
              </a:rPr>
              <a:t>Perspectives</a:t>
            </a:r>
          </a:p>
        </p:txBody>
      </p:sp>
      <p:sp>
        <p:nvSpPr>
          <p:cNvPr id="17" name="texte"/>
          <p:cNvSpPr txBox="1"/>
          <p:nvPr/>
        </p:nvSpPr>
        <p:spPr>
          <a:xfrm>
            <a:off x="9601200" y="1783080"/>
            <a:ext cx="1920240" cy="2194560"/>
          </a:xfrm>
          <a:prstGeom prst="rect">
            <a:avLst/>
          </a:prstGeom>
          <a:noFill/>
        </p:spPr>
        <p:txBody>
          <a:bodyPr wrap="square" anchor="t">
            <a:spAutoFit/>
          </a:bodyPr>
          <a:lstStyle/>
          <a:p>
            <a:pPr algn="l">
              <a:spcAft>
                <a:spcPts val="400"/>
              </a:spcAft>
            </a:pPr>
            <a:r>
              <a:rPr sz="1600" b="0" i="0">
                <a:solidFill>
                  <a:srgbClr val="E9E1F0"/>
                </a:solidFill>
                <a:latin typeface="Calibri"/>
              </a:rPr>
              <a:t>Mesurer, renforcer, étendre</a:t>
            </a:r>
          </a:p>
        </p:txBody>
      </p:sp>
      <p:sp>
        <p:nvSpPr>
          <p:cNvPr id="18" name="texte"/>
          <p:cNvSpPr txBox="1"/>
          <p:nvPr/>
        </p:nvSpPr>
        <p:spPr>
          <a:xfrm>
            <a:off x="548640" y="4480560"/>
            <a:ext cx="11094415" cy="1737360"/>
          </a:xfrm>
          <a:prstGeom prst="rect">
            <a:avLst/>
          </a:prstGeom>
          <a:noFill/>
        </p:spPr>
        <p:txBody>
          <a:bodyPr wrap="square" anchor="t">
            <a:spAutoFit/>
          </a:bodyPr>
          <a:lstStyle/>
          <a:p>
            <a:pPr algn="l">
              <a:spcAft>
                <a:spcPts val="400"/>
              </a:spcAft>
            </a:pPr>
            <a:r>
              <a:rPr sz="2400" b="0" i="0">
                <a:solidFill>
                  <a:srgbClr val="FFFFFF"/>
                </a:solidFill>
                <a:latin typeface="Cambria"/>
              </a:rPr>
              <a:t>L’architecture proposée n’est pas démontrée comme garantissant simultanément les quatre propriétés ; elle est construisible, ses compromis sont explicites et ce qui reste à établir est mesurable par un protocole précis.</a:t>
            </a:r>
          </a:p>
        </p:txBody>
      </p:sp>
      <p:sp>
        <p:nvSpPr>
          <p:cNvPr id="19" name="numéro"/>
          <p:cNvSpPr txBox="1"/>
          <p:nvPr/>
        </p:nvSpPr>
        <p:spPr>
          <a:xfrm>
            <a:off x="10820095" y="6446520"/>
            <a:ext cx="822960" cy="274320"/>
          </a:xfrm>
          <a:prstGeom prst="rect">
            <a:avLst/>
          </a:prstGeom>
          <a:noFill/>
        </p:spPr>
        <p:txBody>
          <a:bodyPr wrap="square" anchor="t">
            <a:spAutoFit/>
          </a:bodyPr>
          <a:lstStyle/>
          <a:p>
            <a:pPr algn="r">
              <a:spcAft>
                <a:spcPts val="400"/>
              </a:spcAft>
            </a:pPr>
            <a:r>
              <a:rPr sz="1200" b="0" i="0">
                <a:solidFill>
                  <a:srgbClr val="CFC4DB"/>
                </a:solidFill>
                <a:latin typeface="Calibri"/>
              </a:rPr>
              <a:t>25</a:t>
            </a:r>
          </a:p>
        </p:txBody>
      </p:sp>
      <p:sp>
        <p:nvSpPr>
          <p:cNvPr id="20" name="pied"/>
          <p:cNvSpPr txBox="1"/>
          <p:nvPr/>
        </p:nvSpPr>
        <p:spPr>
          <a:xfrm>
            <a:off x="548640" y="6446520"/>
            <a:ext cx="7315200" cy="274320"/>
          </a:xfrm>
          <a:prstGeom prst="rect">
            <a:avLst/>
          </a:prstGeom>
          <a:noFill/>
        </p:spPr>
        <p:txBody>
          <a:bodyPr wrap="square" anchor="t">
            <a:spAutoFit/>
          </a:bodyPr>
          <a:lstStyle/>
          <a:p>
            <a:pPr algn="l">
              <a:spcAft>
                <a:spcPts val="400"/>
              </a:spcAft>
            </a:pPr>
            <a:r>
              <a:rPr sz="1200" b="0" i="0">
                <a:solidFill>
                  <a:srgbClr val="CFC4DB"/>
                </a:solidFill>
                <a:latin typeface="Calibri"/>
              </a:rPr>
              <a:t>Allyza · Architecture de communication temps réel · Master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4123F"/>
        </a:solidFill>
        <a:effectLst/>
      </p:bgPr>
    </p:bg>
    <p:spTree>
      <p:nvGrpSpPr>
        <p:cNvPr id="1" name=""/>
        <p:cNvGrpSpPr/>
        <p:nvPr/>
      </p:nvGrpSpPr>
      <p:grpSpPr/>
      <p:pic>
        <p:nvPicPr>
          <p:cNvPr id="2" name="logo Allyza" descr="lockup-dark-560.png"/>
          <p:cNvPicPr>
            <a:picLocks noChangeAspect="1"/>
          </p:cNvPicPr>
          <p:nvPr/>
        </p:nvPicPr>
        <p:blipFill>
          <a:blip r:embed="rId2"/>
          <a:stretch>
            <a:fillRect/>
          </a:stretch>
        </p:blipFill>
        <p:spPr>
          <a:xfrm>
            <a:off x="4754880" y="640080"/>
            <a:ext cx="2841171" cy="2743200"/>
          </a:xfrm>
          <a:prstGeom prst="rect">
            <a:avLst/>
          </a:prstGeom>
        </p:spPr>
      </p:pic>
      <p:sp>
        <p:nvSpPr>
          <p:cNvPr id="3" name="texte"/>
          <p:cNvSpPr txBox="1"/>
          <p:nvPr/>
        </p:nvSpPr>
        <p:spPr>
          <a:xfrm>
            <a:off x="0" y="3657600"/>
            <a:ext cx="12191695" cy="822960"/>
          </a:xfrm>
          <a:prstGeom prst="rect">
            <a:avLst/>
          </a:prstGeom>
          <a:noFill/>
        </p:spPr>
        <p:txBody>
          <a:bodyPr wrap="square" anchor="t">
            <a:spAutoFit/>
          </a:bodyPr>
          <a:lstStyle/>
          <a:p>
            <a:pPr algn="ctr">
              <a:spcAft>
                <a:spcPts val="400"/>
              </a:spcAft>
            </a:pPr>
            <a:r>
              <a:rPr sz="4000" b="1" i="0">
                <a:solidFill>
                  <a:srgbClr val="FFFFFF"/>
                </a:solidFill>
                <a:latin typeface="Cambria"/>
              </a:rPr>
              <a:t>Merci pour votre attention</a:t>
            </a:r>
          </a:p>
        </p:txBody>
      </p:sp>
      <p:sp>
        <p:nvSpPr>
          <p:cNvPr id="4" name="texte"/>
          <p:cNvSpPr txBox="1"/>
          <p:nvPr/>
        </p:nvSpPr>
        <p:spPr>
          <a:xfrm>
            <a:off x="0" y="4572000"/>
            <a:ext cx="12191695" cy="548640"/>
          </a:xfrm>
          <a:prstGeom prst="rect">
            <a:avLst/>
          </a:prstGeom>
          <a:noFill/>
        </p:spPr>
        <p:txBody>
          <a:bodyPr wrap="square" anchor="t">
            <a:spAutoFit/>
          </a:bodyPr>
          <a:lstStyle/>
          <a:p>
            <a:pPr algn="ctr">
              <a:spcAft>
                <a:spcPts val="400"/>
              </a:spcAft>
            </a:pPr>
            <a:r>
              <a:rPr sz="2200" b="0" i="0">
                <a:solidFill>
                  <a:srgbClr val="F4C4B2"/>
                </a:solidFill>
                <a:latin typeface="Calibri"/>
              </a:rPr>
              <a:t>Questions et échanges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